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ans Bold" charset="1" panose="00000000000000000000"/>
      <p:regular r:id="rId21"/>
    </p:embeddedFont>
    <p:embeddedFont>
      <p:font typeface="Inter Medium" charset="1" panose="02000503000000020004"/>
      <p:regular r:id="rId22"/>
    </p:embeddedFont>
    <p:embeddedFont>
      <p:font typeface="Inter Bold" charset="1" panose="02000503000000020004"/>
      <p:regular r:id="rId23"/>
    </p:embeddedFont>
    <p:embeddedFont>
      <p:font typeface="Inter" charset="1" panose="0200050300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798986"/>
            <a:ext cx="9445526" cy="17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Insurance Premium Payment &amp; Claims Portal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929461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Full-Stack Capstone Project Using React &amp; ASP.NET Core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48841"/>
            <a:ext cx="10091440" cy="9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Team &amp; Contributions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2916139"/>
            <a:ext cx="16313051" cy="5907584"/>
            <a:chOff x="0" y="0"/>
            <a:chExt cx="21750735" cy="78767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0781" cy="7876668"/>
            </a:xfrm>
            <a:custGeom>
              <a:avLst/>
              <a:gdLst/>
              <a:ahLst/>
              <a:cxnLst/>
              <a:rect r="r" b="b" t="t" l="l"/>
              <a:pathLst>
                <a:path h="7876668" w="21750781">
                  <a:moveTo>
                    <a:pt x="0" y="62992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662" y="0"/>
                  </a:lnTo>
                  <a:lnTo>
                    <a:pt x="21687662" y="6350"/>
                  </a:lnTo>
                  <a:lnTo>
                    <a:pt x="21687662" y="0"/>
                  </a:lnTo>
                  <a:cubicBezTo>
                    <a:pt x="21722460" y="0"/>
                    <a:pt x="21750781" y="28194"/>
                    <a:pt x="21750781" y="62992"/>
                  </a:cubicBezTo>
                  <a:lnTo>
                    <a:pt x="21744431" y="62992"/>
                  </a:lnTo>
                  <a:lnTo>
                    <a:pt x="21750781" y="62992"/>
                  </a:lnTo>
                  <a:lnTo>
                    <a:pt x="21750781" y="7813675"/>
                  </a:lnTo>
                  <a:lnTo>
                    <a:pt x="21744431" y="7813675"/>
                  </a:lnTo>
                  <a:lnTo>
                    <a:pt x="21750781" y="7813675"/>
                  </a:lnTo>
                  <a:cubicBezTo>
                    <a:pt x="21750781" y="7848473"/>
                    <a:pt x="21722460" y="7876667"/>
                    <a:pt x="21687662" y="7876667"/>
                  </a:cubicBezTo>
                  <a:lnTo>
                    <a:pt x="21687662" y="7870317"/>
                  </a:lnTo>
                  <a:lnTo>
                    <a:pt x="21687662" y="7876667"/>
                  </a:lnTo>
                  <a:lnTo>
                    <a:pt x="63119" y="7876667"/>
                  </a:lnTo>
                  <a:lnTo>
                    <a:pt x="63119" y="7870317"/>
                  </a:lnTo>
                  <a:lnTo>
                    <a:pt x="63119" y="7876667"/>
                  </a:lnTo>
                  <a:cubicBezTo>
                    <a:pt x="28321" y="7876794"/>
                    <a:pt x="0" y="7848600"/>
                    <a:pt x="0" y="7813675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7813675"/>
                  </a:lnTo>
                  <a:lnTo>
                    <a:pt x="6350" y="7813675"/>
                  </a:lnTo>
                  <a:lnTo>
                    <a:pt x="12700" y="7813675"/>
                  </a:lnTo>
                  <a:cubicBezTo>
                    <a:pt x="12700" y="7841488"/>
                    <a:pt x="35306" y="7863967"/>
                    <a:pt x="63119" y="7863967"/>
                  </a:cubicBezTo>
                  <a:lnTo>
                    <a:pt x="21687662" y="7863967"/>
                  </a:lnTo>
                  <a:cubicBezTo>
                    <a:pt x="21715476" y="7863967"/>
                    <a:pt x="21738081" y="7841361"/>
                    <a:pt x="21738081" y="7813675"/>
                  </a:cubicBezTo>
                  <a:lnTo>
                    <a:pt x="21738081" y="62992"/>
                  </a:lnTo>
                  <a:cubicBezTo>
                    <a:pt x="21738081" y="35179"/>
                    <a:pt x="21715476" y="12700"/>
                    <a:pt x="21687662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1762" y="2930426"/>
            <a:ext cx="16284476" cy="812899"/>
            <a:chOff x="0" y="0"/>
            <a:chExt cx="21712635" cy="1083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429" y="3024336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Team Member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61235" y="3024336"/>
            <a:ext cx="11641485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Responsibilities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1762" y="3743325"/>
            <a:ext cx="16284476" cy="1266527"/>
            <a:chOff x="0" y="0"/>
            <a:chExt cx="21712635" cy="16887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429" y="3837235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Krishi Y Antad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61235" y="3837235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Designed and implemented ASP.NET Core Web API with Repository-Service-Controller pattern, JWT authentication, and Entity Framework Core integration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1762" y="5009852"/>
            <a:ext cx="16284476" cy="1266527"/>
            <a:chOff x="0" y="0"/>
            <a:chExt cx="21712635" cy="1688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429" y="5103762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Adeeb Ahmed Khan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1235" y="5103762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Built React components with React Router, implemented state management, created responsive UI with form validation and API integration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1762" y="6276380"/>
            <a:ext cx="16284476" cy="1266528"/>
            <a:chOff x="0" y="0"/>
            <a:chExt cx="21712635" cy="16887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85429" y="6370290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 Ranjitha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61235" y="6370290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Designed relational database schema, wrote xUnit tests with Moq for service layer, implemented data validation and error handling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1762" y="7542908"/>
            <a:ext cx="16284476" cy="1266528"/>
            <a:chOff x="0" y="0"/>
            <a:chExt cx="21712635" cy="16887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85429" y="7636817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Lekhana 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61235" y="7636817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Containerized application with Docker, configured Docker Compose for multi-container orchestration, managed deployment pipeline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10207" y="557956"/>
            <a:ext cx="11284892" cy="8234809"/>
            <a:chOff x="0" y="0"/>
            <a:chExt cx="15046523" cy="1097974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5046579" cy="10979785"/>
            </a:xfrm>
            <a:custGeom>
              <a:avLst/>
              <a:gdLst/>
              <a:ahLst/>
              <a:cxnLst/>
              <a:rect r="r" b="b" t="t" l="l"/>
              <a:pathLst>
                <a:path h="10979785" w="15046579">
                  <a:moveTo>
                    <a:pt x="0" y="0"/>
                  </a:moveTo>
                  <a:lnTo>
                    <a:pt x="15046579" y="0"/>
                  </a:lnTo>
                  <a:lnTo>
                    <a:pt x="15046579" y="10979785"/>
                  </a:lnTo>
                  <a:lnTo>
                    <a:pt x="0" y="109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" r="0" b="-1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163575" y="1243311"/>
            <a:ext cx="5692331" cy="5640582"/>
          </a:xfrm>
          <a:custGeom>
            <a:avLst/>
            <a:gdLst/>
            <a:ahLst/>
            <a:cxnLst/>
            <a:rect r="r" b="b" t="t" l="l"/>
            <a:pathLst>
              <a:path h="5640582" w="5692331">
                <a:moveTo>
                  <a:pt x="0" y="0"/>
                </a:moveTo>
                <a:lnTo>
                  <a:pt x="5692330" y="0"/>
                </a:lnTo>
                <a:lnTo>
                  <a:pt x="5692330" y="5640583"/>
                </a:lnTo>
                <a:lnTo>
                  <a:pt x="0" y="5640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6762" y="583406"/>
            <a:ext cx="5476875" cy="70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The Challenge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762" y="1825229"/>
            <a:ext cx="3286125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6762" y="2397919"/>
            <a:ext cx="7245549" cy="111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Insurance brokers manage multiple clients across different insurance providers, but clients struggle to access their policy and claim information efficiently.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762" y="3646437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Key Pain Points: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762" y="4193976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No centralized platform for policy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762" y="4621114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Manual broker contact required for updates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6762" y="5048250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Delayed claim processing and tracking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6762" y="5475386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Poor user experience and accessibility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1961" y="1963639"/>
            <a:ext cx="4649837" cy="4302919"/>
            <a:chOff x="0" y="0"/>
            <a:chExt cx="6199783" cy="57372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99759" cy="5737225"/>
            </a:xfrm>
            <a:custGeom>
              <a:avLst/>
              <a:gdLst/>
              <a:ahLst/>
              <a:cxnLst/>
              <a:rect r="r" b="b" t="t" l="l"/>
              <a:pathLst>
                <a:path h="5737225" w="6199759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6146546" y="0"/>
                  </a:lnTo>
                  <a:cubicBezTo>
                    <a:pt x="6176010" y="0"/>
                    <a:pt x="6199759" y="23876"/>
                    <a:pt x="6199759" y="53213"/>
                  </a:cubicBezTo>
                  <a:lnTo>
                    <a:pt x="6199759" y="5684012"/>
                  </a:lnTo>
                  <a:cubicBezTo>
                    <a:pt x="6199759" y="5713476"/>
                    <a:pt x="6175883" y="5737225"/>
                    <a:pt x="6146546" y="5737225"/>
                  </a:cubicBezTo>
                  <a:lnTo>
                    <a:pt x="53213" y="5737225"/>
                  </a:lnTo>
                  <a:cubicBezTo>
                    <a:pt x="23749" y="5737225"/>
                    <a:pt x="0" y="5713349"/>
                    <a:pt x="0" y="5684012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98215" y="2229891"/>
            <a:ext cx="798760" cy="798760"/>
            <a:chOff x="0" y="0"/>
            <a:chExt cx="1065013" cy="10650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5022" cy="1065022"/>
            </a:xfrm>
            <a:custGeom>
              <a:avLst/>
              <a:gdLst/>
              <a:ahLst/>
              <a:cxnLst/>
              <a:rect r="r" b="b" t="t" l="l"/>
              <a:pathLst>
                <a:path h="1065022" w="1065022">
                  <a:moveTo>
                    <a:pt x="0" y="532511"/>
                  </a:moveTo>
                  <a:cubicBezTo>
                    <a:pt x="0" y="238379"/>
                    <a:pt x="238379" y="0"/>
                    <a:pt x="532511" y="0"/>
                  </a:cubicBezTo>
                  <a:cubicBezTo>
                    <a:pt x="826643" y="0"/>
                    <a:pt x="1065022" y="238379"/>
                    <a:pt x="1065022" y="532511"/>
                  </a:cubicBezTo>
                  <a:cubicBezTo>
                    <a:pt x="1065022" y="826643"/>
                    <a:pt x="826643" y="1065022"/>
                    <a:pt x="532511" y="1065022"/>
                  </a:cubicBezTo>
                  <a:cubicBezTo>
                    <a:pt x="238379" y="1065022"/>
                    <a:pt x="0" y="826643"/>
                    <a:pt x="0" y="532511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17885" y="2449562"/>
            <a:ext cx="359420" cy="359420"/>
          </a:xfrm>
          <a:custGeom>
            <a:avLst/>
            <a:gdLst/>
            <a:ahLst/>
            <a:cxnLst/>
            <a:rect r="r" b="b" t="t" l="l"/>
            <a:pathLst>
              <a:path h="359420" w="359420">
                <a:moveTo>
                  <a:pt x="0" y="0"/>
                </a:moveTo>
                <a:lnTo>
                  <a:pt x="359420" y="0"/>
                </a:lnTo>
                <a:lnTo>
                  <a:pt x="359420" y="359420"/>
                </a:lnTo>
                <a:lnTo>
                  <a:pt x="0" y="359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26" r="0" b="-10526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848052" y="1963639"/>
            <a:ext cx="4649986" cy="4302919"/>
            <a:chOff x="0" y="0"/>
            <a:chExt cx="6199982" cy="57372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00013" cy="5737225"/>
            </a:xfrm>
            <a:custGeom>
              <a:avLst/>
              <a:gdLst/>
              <a:ahLst/>
              <a:cxnLst/>
              <a:rect r="r" b="b" t="t" l="l"/>
              <a:pathLst>
                <a:path h="5737225" w="6200013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6146800" y="0"/>
                  </a:lnTo>
                  <a:cubicBezTo>
                    <a:pt x="6176264" y="0"/>
                    <a:pt x="6200013" y="23876"/>
                    <a:pt x="6200013" y="53213"/>
                  </a:cubicBezTo>
                  <a:lnTo>
                    <a:pt x="6200013" y="5684012"/>
                  </a:lnTo>
                  <a:cubicBezTo>
                    <a:pt x="6200013" y="5713476"/>
                    <a:pt x="6176137" y="5737225"/>
                    <a:pt x="6146800" y="5737225"/>
                  </a:cubicBezTo>
                  <a:lnTo>
                    <a:pt x="53213" y="5737225"/>
                  </a:lnTo>
                  <a:cubicBezTo>
                    <a:pt x="23749" y="5737225"/>
                    <a:pt x="0" y="5713349"/>
                    <a:pt x="0" y="5684012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114306" y="2229891"/>
            <a:ext cx="798760" cy="798760"/>
            <a:chOff x="0" y="0"/>
            <a:chExt cx="1065013" cy="10650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5022" cy="1065022"/>
            </a:xfrm>
            <a:custGeom>
              <a:avLst/>
              <a:gdLst/>
              <a:ahLst/>
              <a:cxnLst/>
              <a:rect r="r" b="b" t="t" l="l"/>
              <a:pathLst>
                <a:path h="1065022" w="1065022">
                  <a:moveTo>
                    <a:pt x="0" y="532511"/>
                  </a:moveTo>
                  <a:cubicBezTo>
                    <a:pt x="0" y="238379"/>
                    <a:pt x="238379" y="0"/>
                    <a:pt x="532511" y="0"/>
                  </a:cubicBezTo>
                  <a:cubicBezTo>
                    <a:pt x="826643" y="0"/>
                    <a:pt x="1065022" y="238379"/>
                    <a:pt x="1065022" y="532511"/>
                  </a:cubicBezTo>
                  <a:cubicBezTo>
                    <a:pt x="1065022" y="826643"/>
                    <a:pt x="826643" y="1065022"/>
                    <a:pt x="532511" y="1065022"/>
                  </a:cubicBezTo>
                  <a:cubicBezTo>
                    <a:pt x="238379" y="1065022"/>
                    <a:pt x="0" y="826643"/>
                    <a:pt x="0" y="532511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6333976" y="2449562"/>
            <a:ext cx="359420" cy="359420"/>
          </a:xfrm>
          <a:custGeom>
            <a:avLst/>
            <a:gdLst/>
            <a:ahLst/>
            <a:cxnLst/>
            <a:rect r="r" b="b" t="t" l="l"/>
            <a:pathLst>
              <a:path h="359420" w="359420">
                <a:moveTo>
                  <a:pt x="0" y="0"/>
                </a:moveTo>
                <a:lnTo>
                  <a:pt x="359420" y="0"/>
                </a:lnTo>
                <a:lnTo>
                  <a:pt x="359420" y="359420"/>
                </a:lnTo>
                <a:lnTo>
                  <a:pt x="0" y="359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31961" y="6532810"/>
            <a:ext cx="9566076" cy="3025080"/>
            <a:chOff x="0" y="0"/>
            <a:chExt cx="12754768" cy="403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54737" cy="4033393"/>
            </a:xfrm>
            <a:custGeom>
              <a:avLst/>
              <a:gdLst/>
              <a:ahLst/>
              <a:cxnLst/>
              <a:rect r="r" b="b" t="t" l="l"/>
              <a:pathLst>
                <a:path h="4033393" w="12754737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2701524" y="0"/>
                  </a:lnTo>
                  <a:cubicBezTo>
                    <a:pt x="12730988" y="0"/>
                    <a:pt x="12754737" y="23876"/>
                    <a:pt x="12754737" y="53213"/>
                  </a:cubicBezTo>
                  <a:lnTo>
                    <a:pt x="12754737" y="3980180"/>
                  </a:lnTo>
                  <a:cubicBezTo>
                    <a:pt x="12754737" y="4009644"/>
                    <a:pt x="12730861" y="4033393"/>
                    <a:pt x="12701524" y="4033393"/>
                  </a:cubicBezTo>
                  <a:lnTo>
                    <a:pt x="53213" y="4033393"/>
                  </a:lnTo>
                  <a:cubicBezTo>
                    <a:pt x="23749" y="4033393"/>
                    <a:pt x="0" y="4009517"/>
                    <a:pt x="0" y="3980180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98215" y="6799064"/>
            <a:ext cx="798760" cy="798760"/>
            <a:chOff x="0" y="0"/>
            <a:chExt cx="1065013" cy="10650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5022" cy="1065022"/>
            </a:xfrm>
            <a:custGeom>
              <a:avLst/>
              <a:gdLst/>
              <a:ahLst/>
              <a:cxnLst/>
              <a:rect r="r" b="b" t="t" l="l"/>
              <a:pathLst>
                <a:path h="1065022" w="1065022">
                  <a:moveTo>
                    <a:pt x="0" y="532511"/>
                  </a:moveTo>
                  <a:cubicBezTo>
                    <a:pt x="0" y="238379"/>
                    <a:pt x="238379" y="0"/>
                    <a:pt x="532511" y="0"/>
                  </a:cubicBezTo>
                  <a:cubicBezTo>
                    <a:pt x="826643" y="0"/>
                    <a:pt x="1065022" y="238379"/>
                    <a:pt x="1065022" y="532511"/>
                  </a:cubicBezTo>
                  <a:cubicBezTo>
                    <a:pt x="1065022" y="826643"/>
                    <a:pt x="826643" y="1065022"/>
                    <a:pt x="532511" y="1065022"/>
                  </a:cubicBezTo>
                  <a:cubicBezTo>
                    <a:pt x="238379" y="1065022"/>
                    <a:pt x="0" y="826643"/>
                    <a:pt x="0" y="532511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417885" y="7018735"/>
            <a:ext cx="359420" cy="359420"/>
          </a:xfrm>
          <a:custGeom>
            <a:avLst/>
            <a:gdLst/>
            <a:ahLst/>
            <a:cxnLst/>
            <a:rect r="r" b="b" t="t" l="l"/>
            <a:pathLst>
              <a:path h="359420" w="359420">
                <a:moveTo>
                  <a:pt x="0" y="0"/>
                </a:moveTo>
                <a:lnTo>
                  <a:pt x="359420" y="0"/>
                </a:lnTo>
                <a:lnTo>
                  <a:pt x="359420" y="359420"/>
                </a:lnTo>
                <a:lnTo>
                  <a:pt x="0" y="359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631" r="0" b="-263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89846" y="1148284"/>
            <a:ext cx="3359173" cy="4114800"/>
          </a:xfrm>
          <a:custGeom>
            <a:avLst/>
            <a:gdLst/>
            <a:ahLst/>
            <a:cxnLst/>
            <a:rect r="r" b="b" t="t" l="l"/>
            <a:pathLst>
              <a:path h="4114800" w="3359173">
                <a:moveTo>
                  <a:pt x="0" y="0"/>
                </a:moveTo>
                <a:lnTo>
                  <a:pt x="3359173" y="0"/>
                </a:lnTo>
                <a:lnTo>
                  <a:pt x="3359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1961" y="703660"/>
            <a:ext cx="6656785" cy="86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Our Solution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8215" y="3275856"/>
            <a:ext cx="3539877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Client Servicing Portal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8215" y="3775322"/>
            <a:ext cx="4117330" cy="222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modern, full-stack web application that provides clients with seamless self-service access to their insurance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14306" y="3275856"/>
            <a:ext cx="3328393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Experience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14306" y="3775322"/>
            <a:ext cx="4117479" cy="137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Secure login, real-time policy viewing, and claim submission - all in one intuitive interface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8215" y="7845029"/>
            <a:ext cx="3328393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Brokerage Efficiency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8215" y="8344495"/>
            <a:ext cx="9033570" cy="94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Reduces manual workload for brokers while empowering clients with instant access to critical information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15530"/>
            <a:ext cx="7088237" cy="9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Core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0614" y="4366171"/>
            <a:ext cx="4231156" cy="3344661"/>
            <a:chOff x="0" y="0"/>
            <a:chExt cx="1114379" cy="880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4379" cy="880898"/>
            </a:xfrm>
            <a:custGeom>
              <a:avLst/>
              <a:gdLst/>
              <a:ahLst/>
              <a:cxnLst/>
              <a:rect r="r" b="b" t="t" l="l"/>
              <a:pathLst>
                <a:path h="880898" w="1114379">
                  <a:moveTo>
                    <a:pt x="31106" y="0"/>
                  </a:moveTo>
                  <a:lnTo>
                    <a:pt x="1083273" y="0"/>
                  </a:lnTo>
                  <a:cubicBezTo>
                    <a:pt x="1091523" y="0"/>
                    <a:pt x="1099435" y="3277"/>
                    <a:pt x="1105268" y="9111"/>
                  </a:cubicBezTo>
                  <a:cubicBezTo>
                    <a:pt x="1111101" y="14944"/>
                    <a:pt x="1114379" y="22856"/>
                    <a:pt x="1114379" y="31106"/>
                  </a:cubicBezTo>
                  <a:lnTo>
                    <a:pt x="1114379" y="849793"/>
                  </a:lnTo>
                  <a:cubicBezTo>
                    <a:pt x="1114379" y="858042"/>
                    <a:pt x="1111101" y="865954"/>
                    <a:pt x="1105268" y="871788"/>
                  </a:cubicBezTo>
                  <a:cubicBezTo>
                    <a:pt x="1099435" y="877621"/>
                    <a:pt x="1091523" y="880898"/>
                    <a:pt x="1083273" y="880898"/>
                  </a:cubicBezTo>
                  <a:lnTo>
                    <a:pt x="31106" y="880898"/>
                  </a:lnTo>
                  <a:cubicBezTo>
                    <a:pt x="22856" y="880898"/>
                    <a:pt x="14944" y="877621"/>
                    <a:pt x="9111" y="871788"/>
                  </a:cubicBezTo>
                  <a:cubicBezTo>
                    <a:pt x="3277" y="865954"/>
                    <a:pt x="0" y="858042"/>
                    <a:pt x="0" y="849793"/>
                  </a:cubicBezTo>
                  <a:lnTo>
                    <a:pt x="0" y="31106"/>
                  </a:lnTo>
                  <a:cubicBezTo>
                    <a:pt x="0" y="22856"/>
                    <a:pt x="3277" y="14944"/>
                    <a:pt x="9111" y="9111"/>
                  </a:cubicBezTo>
                  <a:cubicBezTo>
                    <a:pt x="14944" y="3277"/>
                    <a:pt x="22856" y="0"/>
                    <a:pt x="3110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114379" cy="880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2238" y="4561583"/>
            <a:ext cx="3810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Authentication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541317"/>
            <a:ext cx="381000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JWT-based user registration and login with role-based access control for protected endpoints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089949" y="4366171"/>
            <a:ext cx="4231156" cy="3344661"/>
            <a:chOff x="0" y="0"/>
            <a:chExt cx="1114379" cy="880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4379" cy="880898"/>
            </a:xfrm>
            <a:custGeom>
              <a:avLst/>
              <a:gdLst/>
              <a:ahLst/>
              <a:cxnLst/>
              <a:rect r="r" b="b" t="t" l="l"/>
              <a:pathLst>
                <a:path h="880898" w="1114379">
                  <a:moveTo>
                    <a:pt x="31106" y="0"/>
                  </a:moveTo>
                  <a:lnTo>
                    <a:pt x="1083273" y="0"/>
                  </a:lnTo>
                  <a:cubicBezTo>
                    <a:pt x="1091523" y="0"/>
                    <a:pt x="1099435" y="3277"/>
                    <a:pt x="1105268" y="9111"/>
                  </a:cubicBezTo>
                  <a:cubicBezTo>
                    <a:pt x="1111101" y="14944"/>
                    <a:pt x="1114379" y="22856"/>
                    <a:pt x="1114379" y="31106"/>
                  </a:cubicBezTo>
                  <a:lnTo>
                    <a:pt x="1114379" y="849793"/>
                  </a:lnTo>
                  <a:cubicBezTo>
                    <a:pt x="1114379" y="858042"/>
                    <a:pt x="1111101" y="865954"/>
                    <a:pt x="1105268" y="871788"/>
                  </a:cubicBezTo>
                  <a:cubicBezTo>
                    <a:pt x="1099435" y="877621"/>
                    <a:pt x="1091523" y="880898"/>
                    <a:pt x="1083273" y="880898"/>
                  </a:cubicBezTo>
                  <a:lnTo>
                    <a:pt x="31106" y="880898"/>
                  </a:lnTo>
                  <a:cubicBezTo>
                    <a:pt x="22856" y="880898"/>
                    <a:pt x="14944" y="877621"/>
                    <a:pt x="9111" y="871788"/>
                  </a:cubicBezTo>
                  <a:cubicBezTo>
                    <a:pt x="3277" y="865954"/>
                    <a:pt x="0" y="858042"/>
                    <a:pt x="0" y="849793"/>
                  </a:cubicBezTo>
                  <a:lnTo>
                    <a:pt x="0" y="31106"/>
                  </a:lnTo>
                  <a:cubicBezTo>
                    <a:pt x="0" y="22856"/>
                    <a:pt x="3277" y="14944"/>
                    <a:pt x="9111" y="9111"/>
                  </a:cubicBezTo>
                  <a:cubicBezTo>
                    <a:pt x="14944" y="3277"/>
                    <a:pt x="22856" y="0"/>
                    <a:pt x="3110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14379" cy="880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156598" y="4561583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Policy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56598" y="5098405"/>
            <a:ext cx="3810149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View, add, update, and renew insurance policies with complete details including insurer, premium, and expiry dates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4458" y="4366171"/>
            <a:ext cx="4231156" cy="3344661"/>
            <a:chOff x="0" y="0"/>
            <a:chExt cx="1114379" cy="8808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4379" cy="880898"/>
            </a:xfrm>
            <a:custGeom>
              <a:avLst/>
              <a:gdLst/>
              <a:ahLst/>
              <a:cxnLst/>
              <a:rect r="r" b="b" t="t" l="l"/>
              <a:pathLst>
                <a:path h="880898" w="1114379">
                  <a:moveTo>
                    <a:pt x="31106" y="0"/>
                  </a:moveTo>
                  <a:lnTo>
                    <a:pt x="1083273" y="0"/>
                  </a:lnTo>
                  <a:cubicBezTo>
                    <a:pt x="1091523" y="0"/>
                    <a:pt x="1099435" y="3277"/>
                    <a:pt x="1105268" y="9111"/>
                  </a:cubicBezTo>
                  <a:cubicBezTo>
                    <a:pt x="1111101" y="14944"/>
                    <a:pt x="1114379" y="22856"/>
                    <a:pt x="1114379" y="31106"/>
                  </a:cubicBezTo>
                  <a:lnTo>
                    <a:pt x="1114379" y="849793"/>
                  </a:lnTo>
                  <a:cubicBezTo>
                    <a:pt x="1114379" y="858042"/>
                    <a:pt x="1111101" y="865954"/>
                    <a:pt x="1105268" y="871788"/>
                  </a:cubicBezTo>
                  <a:cubicBezTo>
                    <a:pt x="1099435" y="877621"/>
                    <a:pt x="1091523" y="880898"/>
                    <a:pt x="1083273" y="880898"/>
                  </a:cubicBezTo>
                  <a:lnTo>
                    <a:pt x="31106" y="880898"/>
                  </a:lnTo>
                  <a:cubicBezTo>
                    <a:pt x="22856" y="880898"/>
                    <a:pt x="14944" y="877621"/>
                    <a:pt x="9111" y="871788"/>
                  </a:cubicBezTo>
                  <a:cubicBezTo>
                    <a:pt x="3277" y="865954"/>
                    <a:pt x="0" y="858042"/>
                    <a:pt x="0" y="849793"/>
                  </a:cubicBezTo>
                  <a:lnTo>
                    <a:pt x="0" y="31106"/>
                  </a:lnTo>
                  <a:cubicBezTo>
                    <a:pt x="0" y="22856"/>
                    <a:pt x="3277" y="14944"/>
                    <a:pt x="9111" y="9111"/>
                  </a:cubicBezTo>
                  <a:cubicBezTo>
                    <a:pt x="14944" y="3277"/>
                    <a:pt x="22856" y="0"/>
                    <a:pt x="3110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14379" cy="880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321105" y="4561583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Claim Management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1105" y="5098405"/>
            <a:ext cx="381014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Submit new claims, track status in real-time, and manage claim history with edit and delete capabilities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85614" y="4366171"/>
            <a:ext cx="4231156" cy="3344661"/>
            <a:chOff x="0" y="0"/>
            <a:chExt cx="1114379" cy="8808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4379" cy="880898"/>
            </a:xfrm>
            <a:custGeom>
              <a:avLst/>
              <a:gdLst/>
              <a:ahLst/>
              <a:cxnLst/>
              <a:rect r="r" b="b" t="t" l="l"/>
              <a:pathLst>
                <a:path h="880898" w="1114379">
                  <a:moveTo>
                    <a:pt x="31106" y="0"/>
                  </a:moveTo>
                  <a:lnTo>
                    <a:pt x="1083273" y="0"/>
                  </a:lnTo>
                  <a:cubicBezTo>
                    <a:pt x="1091523" y="0"/>
                    <a:pt x="1099435" y="3277"/>
                    <a:pt x="1105268" y="9111"/>
                  </a:cubicBezTo>
                  <a:cubicBezTo>
                    <a:pt x="1111101" y="14944"/>
                    <a:pt x="1114379" y="22856"/>
                    <a:pt x="1114379" y="31106"/>
                  </a:cubicBezTo>
                  <a:lnTo>
                    <a:pt x="1114379" y="849793"/>
                  </a:lnTo>
                  <a:cubicBezTo>
                    <a:pt x="1114379" y="858042"/>
                    <a:pt x="1111101" y="865954"/>
                    <a:pt x="1105268" y="871788"/>
                  </a:cubicBezTo>
                  <a:cubicBezTo>
                    <a:pt x="1099435" y="877621"/>
                    <a:pt x="1091523" y="880898"/>
                    <a:pt x="1083273" y="880898"/>
                  </a:cubicBezTo>
                  <a:lnTo>
                    <a:pt x="31106" y="880898"/>
                  </a:lnTo>
                  <a:cubicBezTo>
                    <a:pt x="22856" y="880898"/>
                    <a:pt x="14944" y="877621"/>
                    <a:pt x="9111" y="871788"/>
                  </a:cubicBezTo>
                  <a:cubicBezTo>
                    <a:pt x="3277" y="865954"/>
                    <a:pt x="0" y="858042"/>
                    <a:pt x="0" y="849793"/>
                  </a:cubicBezTo>
                  <a:lnTo>
                    <a:pt x="0" y="31106"/>
                  </a:lnTo>
                  <a:cubicBezTo>
                    <a:pt x="0" y="22856"/>
                    <a:pt x="3277" y="14944"/>
                    <a:pt x="9111" y="9111"/>
                  </a:cubicBezTo>
                  <a:cubicBezTo>
                    <a:pt x="14944" y="3277"/>
                    <a:pt x="22856" y="0"/>
                    <a:pt x="3110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114379" cy="880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485614" y="4561583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Input Validation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5614" y="5098405"/>
            <a:ext cx="381014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Comprehensive client-side and server-side validation ensuring data integrity and proper error handling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39365" y="2077641"/>
            <a:ext cx="913359" cy="1125290"/>
            <a:chOff x="0" y="0"/>
            <a:chExt cx="1217812" cy="150038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17803" cy="1500378"/>
            </a:xfrm>
            <a:custGeom>
              <a:avLst/>
              <a:gdLst/>
              <a:ahLst/>
              <a:cxnLst/>
              <a:rect r="r" b="b" t="t" l="l"/>
              <a:pathLst>
                <a:path h="1500378" w="1217803">
                  <a:moveTo>
                    <a:pt x="0" y="0"/>
                  </a:moveTo>
                  <a:lnTo>
                    <a:pt x="1217803" y="0"/>
                  </a:lnTo>
                  <a:lnTo>
                    <a:pt x="1217803" y="1500378"/>
                  </a:lnTo>
                  <a:lnTo>
                    <a:pt x="0" y="150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6" t="0" r="-11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365" y="3202930"/>
            <a:ext cx="913359" cy="1125290"/>
            <a:chOff x="0" y="0"/>
            <a:chExt cx="1217812" cy="150038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17803" cy="1500378"/>
            </a:xfrm>
            <a:custGeom>
              <a:avLst/>
              <a:gdLst/>
              <a:ahLst/>
              <a:cxnLst/>
              <a:rect r="r" b="b" t="t" l="l"/>
              <a:pathLst>
                <a:path h="1500378" w="1217803">
                  <a:moveTo>
                    <a:pt x="0" y="0"/>
                  </a:moveTo>
                  <a:lnTo>
                    <a:pt x="1217803" y="0"/>
                  </a:lnTo>
                  <a:lnTo>
                    <a:pt x="1217803" y="1500378"/>
                  </a:lnTo>
                  <a:lnTo>
                    <a:pt x="0" y="150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6" t="0" r="-1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9365" y="4328220"/>
            <a:ext cx="913359" cy="1125290"/>
            <a:chOff x="0" y="0"/>
            <a:chExt cx="1217812" cy="150038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17803" cy="1500378"/>
            </a:xfrm>
            <a:custGeom>
              <a:avLst/>
              <a:gdLst/>
              <a:ahLst/>
              <a:cxnLst/>
              <a:rect r="r" b="b" t="t" l="l"/>
              <a:pathLst>
                <a:path h="1500378" w="1217803">
                  <a:moveTo>
                    <a:pt x="0" y="0"/>
                  </a:moveTo>
                  <a:lnTo>
                    <a:pt x="1217803" y="0"/>
                  </a:lnTo>
                  <a:lnTo>
                    <a:pt x="1217803" y="1500378"/>
                  </a:lnTo>
                  <a:lnTo>
                    <a:pt x="0" y="150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" t="0" r="-117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885482" y="5124822"/>
            <a:ext cx="1908451" cy="2529272"/>
          </a:xfrm>
          <a:custGeom>
            <a:avLst/>
            <a:gdLst/>
            <a:ahLst/>
            <a:cxnLst/>
            <a:rect r="r" b="b" t="t" l="l"/>
            <a:pathLst>
              <a:path h="2529272" w="1908451">
                <a:moveTo>
                  <a:pt x="0" y="0"/>
                </a:moveTo>
                <a:lnTo>
                  <a:pt x="1908450" y="0"/>
                </a:lnTo>
                <a:lnTo>
                  <a:pt x="1908450" y="2529273"/>
                </a:lnTo>
                <a:lnTo>
                  <a:pt x="0" y="25292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92159" y="4132957"/>
            <a:ext cx="2904816" cy="2535112"/>
          </a:xfrm>
          <a:custGeom>
            <a:avLst/>
            <a:gdLst/>
            <a:ahLst/>
            <a:cxnLst/>
            <a:rect r="r" b="b" t="t" l="l"/>
            <a:pathLst>
              <a:path h="2535112" w="2904816">
                <a:moveTo>
                  <a:pt x="0" y="0"/>
                </a:moveTo>
                <a:lnTo>
                  <a:pt x="2904816" y="0"/>
                </a:lnTo>
                <a:lnTo>
                  <a:pt x="2904816" y="2535113"/>
                </a:lnTo>
                <a:lnTo>
                  <a:pt x="0" y="2535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36072" y="5967209"/>
            <a:ext cx="3128562" cy="3111497"/>
          </a:xfrm>
          <a:custGeom>
            <a:avLst/>
            <a:gdLst/>
            <a:ahLst/>
            <a:cxnLst/>
            <a:rect r="r" b="b" t="t" l="l"/>
            <a:pathLst>
              <a:path h="3111497" w="3128562">
                <a:moveTo>
                  <a:pt x="0" y="0"/>
                </a:moveTo>
                <a:lnTo>
                  <a:pt x="3128562" y="0"/>
                </a:lnTo>
                <a:lnTo>
                  <a:pt x="3128562" y="3111497"/>
                </a:lnTo>
                <a:lnTo>
                  <a:pt x="0" y="31114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515162" y="6133427"/>
            <a:ext cx="2017357" cy="1892647"/>
          </a:xfrm>
          <a:custGeom>
            <a:avLst/>
            <a:gdLst/>
            <a:ahLst/>
            <a:cxnLst/>
            <a:rect r="r" b="b" t="t" l="l"/>
            <a:pathLst>
              <a:path h="1892647" w="2017357">
                <a:moveTo>
                  <a:pt x="0" y="0"/>
                </a:moveTo>
                <a:lnTo>
                  <a:pt x="2017357" y="0"/>
                </a:lnTo>
                <a:lnTo>
                  <a:pt x="2017357" y="1892647"/>
                </a:lnTo>
                <a:lnTo>
                  <a:pt x="0" y="18926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39365" y="492770"/>
            <a:ext cx="4811762" cy="5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9365" y="1520279"/>
            <a:ext cx="2941736" cy="35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ASP.NET Core Web 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5336" y="2260252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Repository Layer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5336" y="2671019"/>
            <a:ext cx="80585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Entity Framework Core with relational database schema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5336" y="3385542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 Layer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5336" y="3796307"/>
            <a:ext cx="80585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logic for policies and claims with 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5336" y="4510831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Controller Layer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5336" y="4921597"/>
            <a:ext cx="80585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RESTful endpoints with JWT authorization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9049" y="1529804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Technologies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9049" y="1940570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Authentication: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JWT token-based security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9049" y="2296566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ORM: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Entity Framework Core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49049" y="2652564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Validation: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Data annotations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49049" y="3008560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Error Handling: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Centralized middleware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49049" y="3364557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Testing: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xUnit with Moq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11802" y="2263825"/>
            <a:ext cx="10122396" cy="1375619"/>
            <a:chOff x="0" y="0"/>
            <a:chExt cx="13496528" cy="18341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511802" y="2244775"/>
            <a:ext cx="10122396" cy="76200"/>
            <a:chOff x="0" y="0"/>
            <a:chExt cx="13496528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92831" y="1983730"/>
            <a:ext cx="560337" cy="560338"/>
            <a:chOff x="0" y="0"/>
            <a:chExt cx="747117" cy="7471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11802" y="4106316"/>
            <a:ext cx="10122396" cy="1375619"/>
            <a:chOff x="0" y="0"/>
            <a:chExt cx="13496528" cy="18341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11802" y="4087266"/>
            <a:ext cx="10122396" cy="76200"/>
            <a:chOff x="0" y="0"/>
            <a:chExt cx="13496528" cy="10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292831" y="3826222"/>
            <a:ext cx="560337" cy="560337"/>
            <a:chOff x="0" y="0"/>
            <a:chExt cx="747117" cy="7471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11802" y="5948809"/>
            <a:ext cx="10122396" cy="1375619"/>
            <a:chOff x="0" y="0"/>
            <a:chExt cx="13496528" cy="18341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511802" y="5929759"/>
            <a:ext cx="10122396" cy="76200"/>
            <a:chOff x="0" y="0"/>
            <a:chExt cx="13496528" cy="10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292831" y="5668715"/>
            <a:ext cx="560337" cy="560338"/>
            <a:chOff x="0" y="0"/>
            <a:chExt cx="747117" cy="7471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511802" y="7791301"/>
            <a:ext cx="10122396" cy="1375619"/>
            <a:chOff x="0" y="0"/>
            <a:chExt cx="13496528" cy="18341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511802" y="7772251"/>
            <a:ext cx="10122396" cy="76200"/>
            <a:chOff x="0" y="0"/>
            <a:chExt cx="13496528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292831" y="7511206"/>
            <a:ext cx="560337" cy="560338"/>
            <a:chOff x="0" y="0"/>
            <a:chExt cx="747117" cy="7471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3540317" y="2515940"/>
            <a:ext cx="2104585" cy="1947698"/>
          </a:xfrm>
          <a:custGeom>
            <a:avLst/>
            <a:gdLst/>
            <a:ahLst/>
            <a:cxnLst/>
            <a:rect r="r" b="b" t="t" l="l"/>
            <a:pathLst>
              <a:path h="1947698" w="2104585">
                <a:moveTo>
                  <a:pt x="0" y="0"/>
                </a:moveTo>
                <a:lnTo>
                  <a:pt x="2104585" y="0"/>
                </a:lnTo>
                <a:lnTo>
                  <a:pt x="2104585" y="1947698"/>
                </a:lnTo>
                <a:lnTo>
                  <a:pt x="0" y="1947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006259" y="5267027"/>
            <a:ext cx="1943443" cy="1851571"/>
          </a:xfrm>
          <a:custGeom>
            <a:avLst/>
            <a:gdLst/>
            <a:ahLst/>
            <a:cxnLst/>
            <a:rect r="r" b="b" t="t" l="l"/>
            <a:pathLst>
              <a:path h="1851571" w="1943443">
                <a:moveTo>
                  <a:pt x="0" y="0"/>
                </a:moveTo>
                <a:lnTo>
                  <a:pt x="1943443" y="0"/>
                </a:lnTo>
                <a:lnTo>
                  <a:pt x="1943443" y="1851572"/>
                </a:lnTo>
                <a:lnTo>
                  <a:pt x="0" y="185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2209" y="864155"/>
            <a:ext cx="2740597" cy="1539717"/>
          </a:xfrm>
          <a:custGeom>
            <a:avLst/>
            <a:gdLst/>
            <a:ahLst/>
            <a:cxnLst/>
            <a:rect r="r" b="b" t="t" l="l"/>
            <a:pathLst>
              <a:path h="1539717" w="2740597">
                <a:moveTo>
                  <a:pt x="0" y="0"/>
                </a:moveTo>
                <a:lnTo>
                  <a:pt x="2740597" y="0"/>
                </a:lnTo>
                <a:lnTo>
                  <a:pt x="2740597" y="1539717"/>
                </a:lnTo>
                <a:lnTo>
                  <a:pt x="0" y="153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09086" y="4425267"/>
            <a:ext cx="2231231" cy="296145"/>
          </a:xfrm>
          <a:custGeom>
            <a:avLst/>
            <a:gdLst/>
            <a:ahLst/>
            <a:cxnLst/>
            <a:rect r="r" b="b" t="t" l="l"/>
            <a:pathLst>
              <a:path h="296145" w="2231231">
                <a:moveTo>
                  <a:pt x="0" y="0"/>
                </a:moveTo>
                <a:lnTo>
                  <a:pt x="2231231" y="0"/>
                </a:lnTo>
                <a:lnTo>
                  <a:pt x="2231231" y="296146"/>
                </a:lnTo>
                <a:lnTo>
                  <a:pt x="0" y="296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511802" y="1100881"/>
            <a:ext cx="5174010" cy="60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 Development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60857" y="2057103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17631" y="2721323"/>
            <a:ext cx="2704207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React Router Navigation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17631" y="3068091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Implemented seamless routing for Login, Dashboard, Policies, and Claims pages with protected routes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60857" y="3899595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717631" y="4563815"/>
            <a:ext cx="2335114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State Management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17631" y="4910584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Utilized React hooks (useState, useEffect) for efficient component state and lifecycle management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60857" y="5742086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17631" y="6406306"/>
            <a:ext cx="2335114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API Integration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17631" y="6753076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Axios for all CRUD operations with JWT tokens in headers, handling authentication and authorization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60857" y="7584579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17631" y="8248799"/>
            <a:ext cx="3013472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Form Controls &amp; Validation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717631" y="8595569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Controlled components with client-side validation for policy creation and claim submission forms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92051" y="534292"/>
            <a:ext cx="4943772" cy="6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359200" y="1557189"/>
            <a:ext cx="11569601" cy="9184184"/>
            <a:chOff x="0" y="0"/>
            <a:chExt cx="15426135" cy="122455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426182" cy="12245594"/>
            </a:xfrm>
            <a:custGeom>
              <a:avLst/>
              <a:gdLst/>
              <a:ahLst/>
              <a:cxnLst/>
              <a:rect r="r" b="b" t="t" l="l"/>
              <a:pathLst>
                <a:path h="12245594" w="15426182">
                  <a:moveTo>
                    <a:pt x="0" y="0"/>
                  </a:moveTo>
                  <a:lnTo>
                    <a:pt x="15426182" y="0"/>
                  </a:lnTo>
                  <a:lnTo>
                    <a:pt x="15426182" y="12245594"/>
                  </a:lnTo>
                  <a:lnTo>
                    <a:pt x="0" y="12245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0" r="-2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089190" y="5632662"/>
            <a:ext cx="2079152" cy="9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4535" y="2200951"/>
            <a:ext cx="3093109" cy="9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Registration / Login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34535" y="3277487"/>
            <a:ext cx="3093109" cy="7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Secure user authentication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78912" y="2391117"/>
            <a:ext cx="3093109" cy="95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Track Claim Status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8912" y="3467654"/>
            <a:ext cx="3093109" cy="38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Monitor progress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8912" y="8425730"/>
            <a:ext cx="3093109" cy="9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Update / Renew Policy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78912" y="9502267"/>
            <a:ext cx="3093109" cy="38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Edit details or renew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4535" y="8663439"/>
            <a:ext cx="3093109" cy="4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Add New Policy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34535" y="9264559"/>
            <a:ext cx="3093109" cy="38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Enroll in a plan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50178" y="5413706"/>
            <a:ext cx="3160724" cy="4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View All Policies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50178" y="6014827"/>
            <a:ext cx="3160724" cy="7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Browse existing coverage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46366" y="5620776"/>
            <a:ext cx="3160724" cy="4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Submit Claim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46366" y="6221897"/>
            <a:ext cx="3160724" cy="38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Report an incident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2051" y="10897046"/>
            <a:ext cx="1690389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Users authenticate securely, access their personalized dashboard, and seamlessly navigate between policy management and claim tracking features.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67929" y="427136"/>
            <a:ext cx="8199239" cy="5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8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Technical Architecture &amp; Containerization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7929" y="1349276"/>
            <a:ext cx="2798117" cy="31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Three-Tier Architecture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0151" y="2088951"/>
            <a:ext cx="162223" cy="756345"/>
            <a:chOff x="0" y="0"/>
            <a:chExt cx="216297" cy="1008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408" cy="1008507"/>
            </a:xfrm>
            <a:custGeom>
              <a:avLst/>
              <a:gdLst/>
              <a:ahLst/>
              <a:cxnLst/>
              <a:rect r="r" b="b" t="t" l="l"/>
              <a:pathLst>
                <a:path h="1008507" w="216408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183896" y="0"/>
                  </a:lnTo>
                  <a:cubicBezTo>
                    <a:pt x="201803" y="0"/>
                    <a:pt x="216408" y="14478"/>
                    <a:pt x="216408" y="32512"/>
                  </a:cubicBezTo>
                  <a:lnTo>
                    <a:pt x="216408" y="975995"/>
                  </a:lnTo>
                  <a:cubicBezTo>
                    <a:pt x="216408" y="993902"/>
                    <a:pt x="201930" y="1008507"/>
                    <a:pt x="183896" y="1008507"/>
                  </a:cubicBezTo>
                  <a:lnTo>
                    <a:pt x="32512" y="1008507"/>
                  </a:lnTo>
                  <a:cubicBezTo>
                    <a:pt x="14478" y="1008507"/>
                    <a:pt x="0" y="993902"/>
                    <a:pt x="0" y="97599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67929" y="1982540"/>
            <a:ext cx="486816" cy="486816"/>
            <a:chOff x="0" y="0"/>
            <a:chExt cx="649088" cy="649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9097" cy="649097"/>
            </a:xfrm>
            <a:custGeom>
              <a:avLst/>
              <a:gdLst/>
              <a:ahLst/>
              <a:cxnLst/>
              <a:rect r="r" b="b" t="t" l="l"/>
              <a:pathLst>
                <a:path h="649097" w="649097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cubicBezTo>
                    <a:pt x="503682" y="0"/>
                    <a:pt x="649097" y="145288"/>
                    <a:pt x="649097" y="324485"/>
                  </a:cubicBezTo>
                  <a:cubicBezTo>
                    <a:pt x="649097" y="503682"/>
                    <a:pt x="503809" y="649097"/>
                    <a:pt x="324485" y="649097"/>
                  </a:cubicBezTo>
                  <a:cubicBezTo>
                    <a:pt x="145161" y="649097"/>
                    <a:pt x="0" y="503809"/>
                    <a:pt x="0" y="32448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689670" y="2104281"/>
            <a:ext cx="243334" cy="243334"/>
          </a:xfrm>
          <a:custGeom>
            <a:avLst/>
            <a:gdLst/>
            <a:ahLst/>
            <a:cxnLst/>
            <a:rect r="r" b="b" t="t" l="l"/>
            <a:pathLst>
              <a:path h="243334" w="243334">
                <a:moveTo>
                  <a:pt x="0" y="0"/>
                </a:moveTo>
                <a:lnTo>
                  <a:pt x="243334" y="0"/>
                </a:lnTo>
                <a:lnTo>
                  <a:pt x="243334" y="243334"/>
                </a:lnTo>
                <a:lnTo>
                  <a:pt x="0" y="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23" t="0" r="-192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6968" y="1998315"/>
            <a:ext cx="2028676" cy="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968" y="2375893"/>
            <a:ext cx="7729091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React frontend with Nginx in Docker container (port 3000)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3485" y="3251001"/>
            <a:ext cx="162223" cy="756345"/>
            <a:chOff x="0" y="0"/>
            <a:chExt cx="216297" cy="1008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408" cy="1008507"/>
            </a:xfrm>
            <a:custGeom>
              <a:avLst/>
              <a:gdLst/>
              <a:ahLst/>
              <a:cxnLst/>
              <a:rect r="r" b="b" t="t" l="l"/>
              <a:pathLst>
                <a:path h="1008507" w="216408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183896" y="0"/>
                  </a:lnTo>
                  <a:cubicBezTo>
                    <a:pt x="201803" y="0"/>
                    <a:pt x="216408" y="14478"/>
                    <a:pt x="216408" y="32512"/>
                  </a:cubicBezTo>
                  <a:lnTo>
                    <a:pt x="216408" y="975995"/>
                  </a:lnTo>
                  <a:cubicBezTo>
                    <a:pt x="216408" y="993902"/>
                    <a:pt x="201930" y="1008507"/>
                    <a:pt x="183896" y="1008507"/>
                  </a:cubicBezTo>
                  <a:lnTo>
                    <a:pt x="32512" y="1008507"/>
                  </a:lnTo>
                  <a:cubicBezTo>
                    <a:pt x="14478" y="1008507"/>
                    <a:pt x="0" y="993902"/>
                    <a:pt x="0" y="97599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11262" y="3144590"/>
            <a:ext cx="486816" cy="486816"/>
            <a:chOff x="0" y="0"/>
            <a:chExt cx="649088" cy="6490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9097" cy="649097"/>
            </a:xfrm>
            <a:custGeom>
              <a:avLst/>
              <a:gdLst/>
              <a:ahLst/>
              <a:cxnLst/>
              <a:rect r="r" b="b" t="t" l="l"/>
              <a:pathLst>
                <a:path h="649097" w="649097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cubicBezTo>
                    <a:pt x="503682" y="0"/>
                    <a:pt x="649097" y="145288"/>
                    <a:pt x="649097" y="324485"/>
                  </a:cubicBezTo>
                  <a:cubicBezTo>
                    <a:pt x="649097" y="503682"/>
                    <a:pt x="503809" y="649097"/>
                    <a:pt x="324485" y="649097"/>
                  </a:cubicBezTo>
                  <a:cubicBezTo>
                    <a:pt x="145161" y="649097"/>
                    <a:pt x="0" y="503809"/>
                    <a:pt x="0" y="32448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33004" y="3266331"/>
            <a:ext cx="243334" cy="243334"/>
          </a:xfrm>
          <a:custGeom>
            <a:avLst/>
            <a:gdLst/>
            <a:ahLst/>
            <a:cxnLst/>
            <a:rect r="r" b="b" t="t" l="l"/>
            <a:pathLst>
              <a:path h="243334" w="243334">
                <a:moveTo>
                  <a:pt x="0" y="0"/>
                </a:moveTo>
                <a:lnTo>
                  <a:pt x="243334" y="0"/>
                </a:lnTo>
                <a:lnTo>
                  <a:pt x="243334" y="243334"/>
                </a:lnTo>
                <a:lnTo>
                  <a:pt x="0" y="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615" r="0" b="-961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60301" y="3160365"/>
            <a:ext cx="2028676" cy="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Layer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0301" y="3537942"/>
            <a:ext cx="7485758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ASP.NET Core Web API in Docker container (port 5000)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6968" y="4413051"/>
            <a:ext cx="162222" cy="756345"/>
            <a:chOff x="0" y="0"/>
            <a:chExt cx="216297" cy="10084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408" cy="1008507"/>
            </a:xfrm>
            <a:custGeom>
              <a:avLst/>
              <a:gdLst/>
              <a:ahLst/>
              <a:cxnLst/>
              <a:rect r="r" b="b" t="t" l="l"/>
              <a:pathLst>
                <a:path h="1008507" w="216408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183896" y="0"/>
                  </a:lnTo>
                  <a:cubicBezTo>
                    <a:pt x="201803" y="0"/>
                    <a:pt x="216408" y="14478"/>
                    <a:pt x="216408" y="32512"/>
                  </a:cubicBezTo>
                  <a:lnTo>
                    <a:pt x="216408" y="975995"/>
                  </a:lnTo>
                  <a:cubicBezTo>
                    <a:pt x="216408" y="993902"/>
                    <a:pt x="201930" y="1008507"/>
                    <a:pt x="183896" y="1008507"/>
                  </a:cubicBezTo>
                  <a:lnTo>
                    <a:pt x="32512" y="1008507"/>
                  </a:lnTo>
                  <a:cubicBezTo>
                    <a:pt x="14478" y="1008507"/>
                    <a:pt x="0" y="993902"/>
                    <a:pt x="0" y="97599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54745" y="4306640"/>
            <a:ext cx="486816" cy="486816"/>
            <a:chOff x="0" y="0"/>
            <a:chExt cx="649088" cy="6490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097" cy="649097"/>
            </a:xfrm>
            <a:custGeom>
              <a:avLst/>
              <a:gdLst/>
              <a:ahLst/>
              <a:cxnLst/>
              <a:rect r="r" b="b" t="t" l="l"/>
              <a:pathLst>
                <a:path h="649097" w="649097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cubicBezTo>
                    <a:pt x="503682" y="0"/>
                    <a:pt x="649097" y="145288"/>
                    <a:pt x="649097" y="324485"/>
                  </a:cubicBezTo>
                  <a:cubicBezTo>
                    <a:pt x="649097" y="503682"/>
                    <a:pt x="503809" y="649097"/>
                    <a:pt x="324485" y="649097"/>
                  </a:cubicBezTo>
                  <a:cubicBezTo>
                    <a:pt x="145161" y="649097"/>
                    <a:pt x="0" y="503809"/>
                    <a:pt x="0" y="32448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176486" y="4428381"/>
            <a:ext cx="243334" cy="243334"/>
          </a:xfrm>
          <a:custGeom>
            <a:avLst/>
            <a:gdLst/>
            <a:ahLst/>
            <a:cxnLst/>
            <a:rect r="r" b="b" t="t" l="l"/>
            <a:pathLst>
              <a:path h="243334" w="243334">
                <a:moveTo>
                  <a:pt x="0" y="0"/>
                </a:moveTo>
                <a:lnTo>
                  <a:pt x="243334" y="0"/>
                </a:lnTo>
                <a:lnTo>
                  <a:pt x="243334" y="243334"/>
                </a:lnTo>
                <a:lnTo>
                  <a:pt x="0" y="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769" t="0" r="-5769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03785" y="4322415"/>
            <a:ext cx="2028676" cy="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 Layer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03785" y="4699993"/>
            <a:ext cx="7242274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Entity Framework Core with Oracle database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51466" y="1349276"/>
            <a:ext cx="2434381" cy="31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Docker Deployment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51466" y="1777752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Backend Container: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insurance-api with environment variables for database connection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51466" y="2094160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Frontend Container: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insurance-frontend serving built React app via Nginx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51466" y="2410569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Docker Compose: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Orchestrates multi-container setup for local testing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51466" y="2726977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Networking: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Containers communicate through Docker bridge network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13047" y="630734"/>
            <a:ext cx="8690670" cy="73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Summary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047" y="2051447"/>
            <a:ext cx="5360342" cy="6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1178" y="2984450"/>
            <a:ext cx="2903935" cy="38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REST API Endpoints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3047" y="3438971"/>
            <a:ext cx="5360342" cy="80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Comprehensive CRUD operations for authentication, policies, and claims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63754" y="2051447"/>
            <a:ext cx="5360342" cy="6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91884" y="2984450"/>
            <a:ext cx="2903935" cy="38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Tables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63754" y="3438971"/>
            <a:ext cx="5360342" cy="80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Users, Policies, and Claims with proper relational mapping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14460" y="2051447"/>
            <a:ext cx="5360491" cy="6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15+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42739" y="2984450"/>
            <a:ext cx="2903935" cy="38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Unit Tests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14460" y="3438971"/>
            <a:ext cx="5360491" cy="80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xUnit tests covering service layer operations with Moq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3047" y="4626359"/>
            <a:ext cx="16661904" cy="38546"/>
            <a:chOff x="0" y="0"/>
            <a:chExt cx="22215872" cy="513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15856" cy="51435"/>
            </a:xfrm>
            <a:custGeom>
              <a:avLst/>
              <a:gdLst/>
              <a:ahLst/>
              <a:cxnLst/>
              <a:rect r="r" b="b" t="t" l="l"/>
              <a:pathLst>
                <a:path h="51435" w="22215856">
                  <a:moveTo>
                    <a:pt x="0" y="0"/>
                  </a:moveTo>
                  <a:lnTo>
                    <a:pt x="22215856" y="0"/>
                  </a:lnTo>
                  <a:lnTo>
                    <a:pt x="22215856" y="51435"/>
                  </a:lnTo>
                  <a:lnTo>
                    <a:pt x="0" y="51435"/>
                  </a:lnTo>
                  <a:close/>
                </a:path>
              </a:pathLst>
            </a:custGeom>
            <a:solidFill>
              <a:srgbClr val="464646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13047" y="5003750"/>
            <a:ext cx="3484661" cy="44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Achievements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3047" y="5939433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Built a production-ready full-stack application with modern tech stack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3047" y="6520011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Implemented secure JWT authentication and authorization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3047" y="7100590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Created intuitive UI with comprehensive form 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36894" y="5939433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Containerized application using Docker for seamless deployment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36894" y="6520011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Followed industry best practices with testing and error handling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6894" y="7100590"/>
            <a:ext cx="8047584" cy="8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Delivered a solution that empowers clients and reduces broker workload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1455" y="8575476"/>
            <a:ext cx="16313498" cy="8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This capstone project successfully demonstrates our ability to design, develop, test, and deploy enterprise-grade web applications that solve real-world business problems.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047" y="8380810"/>
            <a:ext cx="28575" cy="1265932"/>
            <a:chOff x="0" y="0"/>
            <a:chExt cx="38100" cy="16879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" cy="1687957"/>
            </a:xfrm>
            <a:custGeom>
              <a:avLst/>
              <a:gdLst/>
              <a:ahLst/>
              <a:cxnLst/>
              <a:rect r="r" b="b" t="t" l="l"/>
              <a:pathLst>
                <a:path h="1687957" w="38100">
                  <a:moveTo>
                    <a:pt x="0" y="0"/>
                  </a:moveTo>
                  <a:lnTo>
                    <a:pt x="38100" y="0"/>
                  </a:lnTo>
                  <a:lnTo>
                    <a:pt x="38100" y="1687957"/>
                  </a:lnTo>
                  <a:lnTo>
                    <a:pt x="0" y="1687957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95164" y="585044"/>
            <a:ext cx="8149679" cy="55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Stack &amp; Learning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164" y="1541561"/>
            <a:ext cx="2940100" cy="3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Technologies Leveraged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95164" y="2070646"/>
            <a:ext cx="8341370" cy="1727746"/>
            <a:chOff x="0" y="0"/>
            <a:chExt cx="11121827" cy="2303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21898" cy="2303653"/>
            </a:xfrm>
            <a:custGeom>
              <a:avLst/>
              <a:gdLst/>
              <a:ahLst/>
              <a:cxnLst/>
              <a:rect r="r" b="b" t="t" l="l"/>
              <a:pathLst>
                <a:path h="2303653" w="11121898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11087862" y="0"/>
                  </a:lnTo>
                  <a:cubicBezTo>
                    <a:pt x="11106658" y="0"/>
                    <a:pt x="11121898" y="15240"/>
                    <a:pt x="11121898" y="34036"/>
                  </a:cubicBezTo>
                  <a:lnTo>
                    <a:pt x="11121898" y="2269617"/>
                  </a:lnTo>
                  <a:cubicBezTo>
                    <a:pt x="11121898" y="2288413"/>
                    <a:pt x="11106658" y="2303653"/>
                    <a:pt x="11087862" y="2303653"/>
                  </a:cubicBezTo>
                  <a:lnTo>
                    <a:pt x="34036" y="2303653"/>
                  </a:lnTo>
                  <a:cubicBezTo>
                    <a:pt x="15240" y="2303653"/>
                    <a:pt x="0" y="2288413"/>
                    <a:pt x="0" y="22696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65125" y="2240607"/>
            <a:ext cx="510182" cy="510183"/>
            <a:chOff x="0" y="0"/>
            <a:chExt cx="680243" cy="6802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0212" cy="680212"/>
            </a:xfrm>
            <a:custGeom>
              <a:avLst/>
              <a:gdLst/>
              <a:ahLst/>
              <a:cxnLst/>
              <a:rect r="r" b="b" t="t" l="l"/>
              <a:pathLst>
                <a:path h="680212" w="680212">
                  <a:moveTo>
                    <a:pt x="0" y="340106"/>
                  </a:moveTo>
                  <a:cubicBezTo>
                    <a:pt x="0" y="152273"/>
                    <a:pt x="152273" y="0"/>
                    <a:pt x="340106" y="0"/>
                  </a:cubicBezTo>
                  <a:cubicBezTo>
                    <a:pt x="527939" y="0"/>
                    <a:pt x="680212" y="152273"/>
                    <a:pt x="680212" y="340106"/>
                  </a:cubicBezTo>
                  <a:cubicBezTo>
                    <a:pt x="680212" y="527939"/>
                    <a:pt x="527939" y="680212"/>
                    <a:pt x="340106" y="680212"/>
                  </a:cubicBezTo>
                  <a:cubicBezTo>
                    <a:pt x="152273" y="680212"/>
                    <a:pt x="0" y="527939"/>
                    <a:pt x="0" y="34010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905470" y="2380952"/>
            <a:ext cx="229492" cy="229492"/>
          </a:xfrm>
          <a:custGeom>
            <a:avLst/>
            <a:gdLst/>
            <a:ahLst/>
            <a:cxnLst/>
            <a:rect r="r" b="b" t="t" l="l"/>
            <a:pathLst>
              <a:path h="229492" w="229492">
                <a:moveTo>
                  <a:pt x="0" y="0"/>
                </a:moveTo>
                <a:lnTo>
                  <a:pt x="229492" y="0"/>
                </a:lnTo>
                <a:lnTo>
                  <a:pt x="229492" y="229493"/>
                </a:lnTo>
                <a:lnTo>
                  <a:pt x="0" y="22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" t="0" r="-199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5125" y="2920752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ASP.NET 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5125" y="3299222"/>
            <a:ext cx="8001446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Robust backend API with secure authentication and database integration.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5164" y="3968352"/>
            <a:ext cx="8341370" cy="1727746"/>
            <a:chOff x="0" y="0"/>
            <a:chExt cx="11121827" cy="23036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1898" cy="2303653"/>
            </a:xfrm>
            <a:custGeom>
              <a:avLst/>
              <a:gdLst/>
              <a:ahLst/>
              <a:cxnLst/>
              <a:rect r="r" b="b" t="t" l="l"/>
              <a:pathLst>
                <a:path h="2303653" w="11121898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11087862" y="0"/>
                  </a:lnTo>
                  <a:cubicBezTo>
                    <a:pt x="11106658" y="0"/>
                    <a:pt x="11121898" y="15240"/>
                    <a:pt x="11121898" y="34036"/>
                  </a:cubicBezTo>
                  <a:lnTo>
                    <a:pt x="11121898" y="2269617"/>
                  </a:lnTo>
                  <a:cubicBezTo>
                    <a:pt x="11121898" y="2288413"/>
                    <a:pt x="11106658" y="2303653"/>
                    <a:pt x="11087862" y="2303653"/>
                  </a:cubicBezTo>
                  <a:lnTo>
                    <a:pt x="34036" y="2303653"/>
                  </a:lnTo>
                  <a:cubicBezTo>
                    <a:pt x="15240" y="2303653"/>
                    <a:pt x="0" y="2288413"/>
                    <a:pt x="0" y="22696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65125" y="4138315"/>
            <a:ext cx="510182" cy="510183"/>
            <a:chOff x="0" y="0"/>
            <a:chExt cx="680243" cy="6802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212" cy="680212"/>
            </a:xfrm>
            <a:custGeom>
              <a:avLst/>
              <a:gdLst/>
              <a:ahLst/>
              <a:cxnLst/>
              <a:rect r="r" b="b" t="t" l="l"/>
              <a:pathLst>
                <a:path h="680212" w="680212">
                  <a:moveTo>
                    <a:pt x="0" y="340106"/>
                  </a:moveTo>
                  <a:cubicBezTo>
                    <a:pt x="0" y="152273"/>
                    <a:pt x="152273" y="0"/>
                    <a:pt x="340106" y="0"/>
                  </a:cubicBezTo>
                  <a:cubicBezTo>
                    <a:pt x="527939" y="0"/>
                    <a:pt x="680212" y="152273"/>
                    <a:pt x="680212" y="340106"/>
                  </a:cubicBezTo>
                  <a:cubicBezTo>
                    <a:pt x="680212" y="527939"/>
                    <a:pt x="527939" y="680212"/>
                    <a:pt x="340106" y="680212"/>
                  </a:cubicBezTo>
                  <a:cubicBezTo>
                    <a:pt x="152273" y="680212"/>
                    <a:pt x="0" y="527939"/>
                    <a:pt x="0" y="34010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05470" y="4278660"/>
            <a:ext cx="229492" cy="229493"/>
          </a:xfrm>
          <a:custGeom>
            <a:avLst/>
            <a:gdLst/>
            <a:ahLst/>
            <a:cxnLst/>
            <a:rect r="r" b="b" t="t" l="l"/>
            <a:pathLst>
              <a:path h="229493" w="229492">
                <a:moveTo>
                  <a:pt x="0" y="0"/>
                </a:moveTo>
                <a:lnTo>
                  <a:pt x="229492" y="0"/>
                </a:lnTo>
                <a:lnTo>
                  <a:pt x="229492" y="229492"/>
                </a:lnTo>
                <a:lnTo>
                  <a:pt x="0" y="229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65125" y="4818460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React.js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5125" y="5196929"/>
            <a:ext cx="8001446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Dynamic and responsive client-side application for intuitive user experience.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5164" y="5866060"/>
            <a:ext cx="8341370" cy="1727746"/>
            <a:chOff x="0" y="0"/>
            <a:chExt cx="11121827" cy="23036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21898" cy="2303653"/>
            </a:xfrm>
            <a:custGeom>
              <a:avLst/>
              <a:gdLst/>
              <a:ahLst/>
              <a:cxnLst/>
              <a:rect r="r" b="b" t="t" l="l"/>
              <a:pathLst>
                <a:path h="2303653" w="11121898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11087862" y="0"/>
                  </a:lnTo>
                  <a:cubicBezTo>
                    <a:pt x="11106658" y="0"/>
                    <a:pt x="11121898" y="15240"/>
                    <a:pt x="11121898" y="34036"/>
                  </a:cubicBezTo>
                  <a:lnTo>
                    <a:pt x="11121898" y="2269617"/>
                  </a:lnTo>
                  <a:cubicBezTo>
                    <a:pt x="11121898" y="2288413"/>
                    <a:pt x="11106658" y="2303653"/>
                    <a:pt x="11087862" y="2303653"/>
                  </a:cubicBezTo>
                  <a:lnTo>
                    <a:pt x="34036" y="2303653"/>
                  </a:lnTo>
                  <a:cubicBezTo>
                    <a:pt x="15240" y="2303653"/>
                    <a:pt x="0" y="2288413"/>
                    <a:pt x="0" y="22696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65125" y="6036022"/>
            <a:ext cx="510182" cy="510183"/>
            <a:chOff x="0" y="0"/>
            <a:chExt cx="680243" cy="6802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0212" cy="680212"/>
            </a:xfrm>
            <a:custGeom>
              <a:avLst/>
              <a:gdLst/>
              <a:ahLst/>
              <a:cxnLst/>
              <a:rect r="r" b="b" t="t" l="l"/>
              <a:pathLst>
                <a:path h="680212" w="680212">
                  <a:moveTo>
                    <a:pt x="0" y="340106"/>
                  </a:moveTo>
                  <a:cubicBezTo>
                    <a:pt x="0" y="152273"/>
                    <a:pt x="152273" y="0"/>
                    <a:pt x="340106" y="0"/>
                  </a:cubicBezTo>
                  <a:cubicBezTo>
                    <a:pt x="527939" y="0"/>
                    <a:pt x="680212" y="152273"/>
                    <a:pt x="680212" y="340106"/>
                  </a:cubicBezTo>
                  <a:cubicBezTo>
                    <a:pt x="680212" y="527939"/>
                    <a:pt x="527939" y="680212"/>
                    <a:pt x="340106" y="680212"/>
                  </a:cubicBezTo>
                  <a:cubicBezTo>
                    <a:pt x="152273" y="680212"/>
                    <a:pt x="0" y="527939"/>
                    <a:pt x="0" y="34010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905470" y="6176368"/>
            <a:ext cx="229492" cy="229492"/>
          </a:xfrm>
          <a:custGeom>
            <a:avLst/>
            <a:gdLst/>
            <a:ahLst/>
            <a:cxnLst/>
            <a:rect r="r" b="b" t="t" l="l"/>
            <a:pathLst>
              <a:path h="229492" w="229492">
                <a:moveTo>
                  <a:pt x="0" y="0"/>
                </a:moveTo>
                <a:lnTo>
                  <a:pt x="229492" y="0"/>
                </a:lnTo>
                <a:lnTo>
                  <a:pt x="229492" y="229492"/>
                </a:lnTo>
                <a:lnTo>
                  <a:pt x="0" y="229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000" r="0" b="-200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65125" y="6716166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Docker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5125" y="7094636"/>
            <a:ext cx="8001446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Containerization for consistent development, testing, and deployment environments.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95164" y="7763767"/>
            <a:ext cx="8341370" cy="1727746"/>
            <a:chOff x="0" y="0"/>
            <a:chExt cx="11121827" cy="23036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21898" cy="2303653"/>
            </a:xfrm>
            <a:custGeom>
              <a:avLst/>
              <a:gdLst/>
              <a:ahLst/>
              <a:cxnLst/>
              <a:rect r="r" b="b" t="t" l="l"/>
              <a:pathLst>
                <a:path h="2303653" w="11121898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11087862" y="0"/>
                  </a:lnTo>
                  <a:cubicBezTo>
                    <a:pt x="11106658" y="0"/>
                    <a:pt x="11121898" y="15240"/>
                    <a:pt x="11121898" y="34036"/>
                  </a:cubicBezTo>
                  <a:lnTo>
                    <a:pt x="11121898" y="2269617"/>
                  </a:lnTo>
                  <a:cubicBezTo>
                    <a:pt x="11121898" y="2288413"/>
                    <a:pt x="11106658" y="2303653"/>
                    <a:pt x="11087862" y="2303653"/>
                  </a:cubicBezTo>
                  <a:lnTo>
                    <a:pt x="34036" y="2303653"/>
                  </a:lnTo>
                  <a:cubicBezTo>
                    <a:pt x="15240" y="2303653"/>
                    <a:pt x="0" y="2288413"/>
                    <a:pt x="0" y="22696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65125" y="7933730"/>
            <a:ext cx="510182" cy="510183"/>
            <a:chOff x="0" y="0"/>
            <a:chExt cx="680243" cy="6802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0212" cy="680212"/>
            </a:xfrm>
            <a:custGeom>
              <a:avLst/>
              <a:gdLst/>
              <a:ahLst/>
              <a:cxnLst/>
              <a:rect r="r" b="b" t="t" l="l"/>
              <a:pathLst>
                <a:path h="680212" w="680212">
                  <a:moveTo>
                    <a:pt x="0" y="340106"/>
                  </a:moveTo>
                  <a:cubicBezTo>
                    <a:pt x="0" y="152273"/>
                    <a:pt x="152273" y="0"/>
                    <a:pt x="340106" y="0"/>
                  </a:cubicBezTo>
                  <a:cubicBezTo>
                    <a:pt x="527939" y="0"/>
                    <a:pt x="680212" y="152273"/>
                    <a:pt x="680212" y="340106"/>
                  </a:cubicBezTo>
                  <a:cubicBezTo>
                    <a:pt x="680212" y="527939"/>
                    <a:pt x="527939" y="680212"/>
                    <a:pt x="340106" y="680212"/>
                  </a:cubicBezTo>
                  <a:cubicBezTo>
                    <a:pt x="152273" y="680212"/>
                    <a:pt x="0" y="527939"/>
                    <a:pt x="0" y="34010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05470" y="8074075"/>
            <a:ext cx="229492" cy="229493"/>
          </a:xfrm>
          <a:custGeom>
            <a:avLst/>
            <a:gdLst/>
            <a:ahLst/>
            <a:cxnLst/>
            <a:rect r="r" b="b" t="t" l="l"/>
            <a:pathLst>
              <a:path h="229493" w="229492">
                <a:moveTo>
                  <a:pt x="0" y="0"/>
                </a:moveTo>
                <a:lnTo>
                  <a:pt x="229492" y="0"/>
                </a:lnTo>
                <a:lnTo>
                  <a:pt x="229492" y="229493"/>
                </a:lnTo>
                <a:lnTo>
                  <a:pt x="0" y="22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65125" y="8613874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Oracle DB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5125" y="8992344"/>
            <a:ext cx="8001446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Reliable relational database management for policy and claims data.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60991" y="1541561"/>
            <a:ext cx="2911971" cy="3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Learning Outcomes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60991" y="2070646"/>
            <a:ext cx="382637" cy="382638"/>
            <a:chOff x="0" y="0"/>
            <a:chExt cx="510183" cy="5101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9913590" y="2128986"/>
            <a:ext cx="2475905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Full-Stack Development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13590" y="2507456"/>
            <a:ext cx="7788771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Hands-on experience in integrating frontend and backend components seamlessly.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60991" y="3176736"/>
            <a:ext cx="382637" cy="382638"/>
            <a:chOff x="0" y="0"/>
            <a:chExt cx="510183" cy="5101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913590" y="3235077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API Design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13590" y="3613548"/>
            <a:ext cx="7788771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Mastered JWT authentication, role-based access, and robust data validation.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60991" y="4282827"/>
            <a:ext cx="382637" cy="382638"/>
            <a:chOff x="0" y="0"/>
            <a:chExt cx="510183" cy="5101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9913590" y="4341168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DevOps Principles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13590" y="4719637"/>
            <a:ext cx="7788771" cy="60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Understood the value of containerization and multi-container orchestration with Docker Compose.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60991" y="5660975"/>
            <a:ext cx="382637" cy="382637"/>
            <a:chOff x="0" y="0"/>
            <a:chExt cx="510183" cy="5101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9913590" y="5719316"/>
            <a:ext cx="2125861" cy="2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Agile Methodologies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13590" y="6097786"/>
            <a:ext cx="7788771" cy="3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Applied iterative development, testing, and continuous feedback for project success.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96044" y="464344"/>
            <a:ext cx="597068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Coding Standards &amp; Best Practices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6519" y="1190774"/>
            <a:ext cx="5689847" cy="1100584"/>
            <a:chOff x="0" y="0"/>
            <a:chExt cx="7586463" cy="1467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7561072" cy="1442085"/>
            </a:xfrm>
            <a:custGeom>
              <a:avLst/>
              <a:gdLst/>
              <a:ahLst/>
              <a:cxnLst/>
              <a:rect r="r" b="b" t="t" l="l"/>
              <a:pathLst>
                <a:path h="1442085" w="7561072">
                  <a:moveTo>
                    <a:pt x="0" y="121920"/>
                  </a:moveTo>
                  <a:cubicBezTo>
                    <a:pt x="0" y="54610"/>
                    <a:pt x="55372" y="0"/>
                    <a:pt x="123698" y="0"/>
                  </a:cubicBezTo>
                  <a:lnTo>
                    <a:pt x="7437374" y="0"/>
                  </a:lnTo>
                  <a:cubicBezTo>
                    <a:pt x="7505700" y="0"/>
                    <a:pt x="7561072" y="54610"/>
                    <a:pt x="7561072" y="121920"/>
                  </a:cubicBezTo>
                  <a:lnTo>
                    <a:pt x="7561072" y="1320165"/>
                  </a:lnTo>
                  <a:cubicBezTo>
                    <a:pt x="7561072" y="1387475"/>
                    <a:pt x="7505700" y="1442085"/>
                    <a:pt x="7437374" y="1442085"/>
                  </a:cubicBezTo>
                  <a:lnTo>
                    <a:pt x="123698" y="1442085"/>
                  </a:lnTo>
                  <a:cubicBezTo>
                    <a:pt x="55372" y="1442085"/>
                    <a:pt x="0" y="1387475"/>
                    <a:pt x="0" y="1320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86472" cy="1467485"/>
            </a:xfrm>
            <a:custGeom>
              <a:avLst/>
              <a:gdLst/>
              <a:ahLst/>
              <a:cxnLst/>
              <a:rect r="r" b="b" t="t" l="l"/>
              <a:pathLst>
                <a:path h="1467485" w="7586472">
                  <a:moveTo>
                    <a:pt x="0" y="134620"/>
                  </a:moveTo>
                  <a:cubicBezTo>
                    <a:pt x="0" y="60071"/>
                    <a:pt x="61214" y="0"/>
                    <a:pt x="136398" y="0"/>
                  </a:cubicBezTo>
                  <a:lnTo>
                    <a:pt x="7450074" y="0"/>
                  </a:lnTo>
                  <a:lnTo>
                    <a:pt x="7450074" y="12700"/>
                  </a:lnTo>
                  <a:lnTo>
                    <a:pt x="7450074" y="0"/>
                  </a:lnTo>
                  <a:cubicBezTo>
                    <a:pt x="7525258" y="0"/>
                    <a:pt x="7586472" y="60071"/>
                    <a:pt x="7586472" y="134620"/>
                  </a:cubicBezTo>
                  <a:lnTo>
                    <a:pt x="7573772" y="134620"/>
                  </a:lnTo>
                  <a:lnTo>
                    <a:pt x="7586472" y="134620"/>
                  </a:lnTo>
                  <a:lnTo>
                    <a:pt x="7586472" y="1332865"/>
                  </a:lnTo>
                  <a:lnTo>
                    <a:pt x="7573772" y="1332865"/>
                  </a:lnTo>
                  <a:lnTo>
                    <a:pt x="7586472" y="1332865"/>
                  </a:lnTo>
                  <a:cubicBezTo>
                    <a:pt x="7586472" y="1407414"/>
                    <a:pt x="7525258" y="1467485"/>
                    <a:pt x="7450074" y="1467485"/>
                  </a:cubicBezTo>
                  <a:lnTo>
                    <a:pt x="7450074" y="1454785"/>
                  </a:lnTo>
                  <a:lnTo>
                    <a:pt x="7450074" y="1467485"/>
                  </a:lnTo>
                  <a:lnTo>
                    <a:pt x="136398" y="1467485"/>
                  </a:lnTo>
                  <a:lnTo>
                    <a:pt x="136398" y="1454785"/>
                  </a:lnTo>
                  <a:lnTo>
                    <a:pt x="136398" y="1467485"/>
                  </a:lnTo>
                  <a:cubicBezTo>
                    <a:pt x="61214" y="1467485"/>
                    <a:pt x="0" y="1407287"/>
                    <a:pt x="0" y="133286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332865"/>
                  </a:lnTo>
                  <a:lnTo>
                    <a:pt x="12700" y="1332865"/>
                  </a:lnTo>
                  <a:lnTo>
                    <a:pt x="25400" y="1332865"/>
                  </a:lnTo>
                  <a:cubicBezTo>
                    <a:pt x="25400" y="1393063"/>
                    <a:pt x="74930" y="1442085"/>
                    <a:pt x="136398" y="1442085"/>
                  </a:cubicBezTo>
                  <a:lnTo>
                    <a:pt x="7450074" y="1442085"/>
                  </a:lnTo>
                  <a:cubicBezTo>
                    <a:pt x="7511542" y="1442085"/>
                    <a:pt x="7561072" y="1393063"/>
                    <a:pt x="7561072" y="1332865"/>
                  </a:cubicBezTo>
                  <a:lnTo>
                    <a:pt x="7561072" y="134620"/>
                  </a:lnTo>
                  <a:cubicBezTo>
                    <a:pt x="7561072" y="74422"/>
                    <a:pt x="7511542" y="25400"/>
                    <a:pt x="7450074" y="25400"/>
                  </a:cubicBezTo>
                  <a:lnTo>
                    <a:pt x="136398" y="25400"/>
                  </a:lnTo>
                  <a:lnTo>
                    <a:pt x="136398" y="12700"/>
                  </a:lnTo>
                  <a:lnTo>
                    <a:pt x="136398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76994" y="1200299"/>
            <a:ext cx="76200" cy="1081534"/>
            <a:chOff x="0" y="0"/>
            <a:chExt cx="101600" cy="14420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441958"/>
            </a:xfrm>
            <a:custGeom>
              <a:avLst/>
              <a:gdLst/>
              <a:ahLst/>
              <a:cxnLst/>
              <a:rect r="r" b="b" t="t" l="l"/>
              <a:pathLst>
                <a:path h="1441958" w="101600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1413637"/>
                  </a:lnTo>
                  <a:cubicBezTo>
                    <a:pt x="101600" y="1429258"/>
                    <a:pt x="88900" y="1441958"/>
                    <a:pt x="73279" y="1441958"/>
                  </a:cubicBezTo>
                  <a:lnTo>
                    <a:pt x="28321" y="1441958"/>
                  </a:lnTo>
                  <a:cubicBezTo>
                    <a:pt x="12700" y="1441958"/>
                    <a:pt x="0" y="1429258"/>
                    <a:pt x="0" y="141363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13929" y="1361034"/>
            <a:ext cx="1879401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Dependency Injection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3929" y="1619845"/>
            <a:ext cx="5292179" cy="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Promotes loose coupling and testability by providing dependencies to objects rather than having them create their own. Used for services and repositories.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99001" y="1190774"/>
            <a:ext cx="5689848" cy="1100584"/>
            <a:chOff x="0" y="0"/>
            <a:chExt cx="7586463" cy="14674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561072" cy="1442085"/>
            </a:xfrm>
            <a:custGeom>
              <a:avLst/>
              <a:gdLst/>
              <a:ahLst/>
              <a:cxnLst/>
              <a:rect r="r" b="b" t="t" l="l"/>
              <a:pathLst>
                <a:path h="1442085" w="7561072">
                  <a:moveTo>
                    <a:pt x="0" y="121920"/>
                  </a:moveTo>
                  <a:cubicBezTo>
                    <a:pt x="0" y="54610"/>
                    <a:pt x="55372" y="0"/>
                    <a:pt x="123698" y="0"/>
                  </a:cubicBezTo>
                  <a:lnTo>
                    <a:pt x="7437374" y="0"/>
                  </a:lnTo>
                  <a:cubicBezTo>
                    <a:pt x="7505700" y="0"/>
                    <a:pt x="7561072" y="54610"/>
                    <a:pt x="7561072" y="121920"/>
                  </a:cubicBezTo>
                  <a:lnTo>
                    <a:pt x="7561072" y="1320165"/>
                  </a:lnTo>
                  <a:cubicBezTo>
                    <a:pt x="7561072" y="1387475"/>
                    <a:pt x="7505700" y="1442085"/>
                    <a:pt x="7437374" y="1442085"/>
                  </a:cubicBezTo>
                  <a:lnTo>
                    <a:pt x="123698" y="1442085"/>
                  </a:lnTo>
                  <a:cubicBezTo>
                    <a:pt x="55372" y="1442085"/>
                    <a:pt x="0" y="1387475"/>
                    <a:pt x="0" y="1320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86472" cy="1467485"/>
            </a:xfrm>
            <a:custGeom>
              <a:avLst/>
              <a:gdLst/>
              <a:ahLst/>
              <a:cxnLst/>
              <a:rect r="r" b="b" t="t" l="l"/>
              <a:pathLst>
                <a:path h="1467485" w="7586472">
                  <a:moveTo>
                    <a:pt x="0" y="134620"/>
                  </a:moveTo>
                  <a:cubicBezTo>
                    <a:pt x="0" y="60071"/>
                    <a:pt x="61214" y="0"/>
                    <a:pt x="136398" y="0"/>
                  </a:cubicBezTo>
                  <a:lnTo>
                    <a:pt x="7450074" y="0"/>
                  </a:lnTo>
                  <a:lnTo>
                    <a:pt x="7450074" y="12700"/>
                  </a:lnTo>
                  <a:lnTo>
                    <a:pt x="7450074" y="0"/>
                  </a:lnTo>
                  <a:cubicBezTo>
                    <a:pt x="7525258" y="0"/>
                    <a:pt x="7586472" y="60071"/>
                    <a:pt x="7586472" y="134620"/>
                  </a:cubicBezTo>
                  <a:lnTo>
                    <a:pt x="7573772" y="134620"/>
                  </a:lnTo>
                  <a:lnTo>
                    <a:pt x="7586472" y="134620"/>
                  </a:lnTo>
                  <a:lnTo>
                    <a:pt x="7586472" y="1332865"/>
                  </a:lnTo>
                  <a:lnTo>
                    <a:pt x="7573772" y="1332865"/>
                  </a:lnTo>
                  <a:lnTo>
                    <a:pt x="7586472" y="1332865"/>
                  </a:lnTo>
                  <a:cubicBezTo>
                    <a:pt x="7586472" y="1407414"/>
                    <a:pt x="7525258" y="1467485"/>
                    <a:pt x="7450074" y="1467485"/>
                  </a:cubicBezTo>
                  <a:lnTo>
                    <a:pt x="7450074" y="1454785"/>
                  </a:lnTo>
                  <a:lnTo>
                    <a:pt x="7450074" y="1467485"/>
                  </a:lnTo>
                  <a:lnTo>
                    <a:pt x="136398" y="1467485"/>
                  </a:lnTo>
                  <a:lnTo>
                    <a:pt x="136398" y="1454785"/>
                  </a:lnTo>
                  <a:lnTo>
                    <a:pt x="136398" y="1467485"/>
                  </a:lnTo>
                  <a:cubicBezTo>
                    <a:pt x="61214" y="1467485"/>
                    <a:pt x="0" y="1407287"/>
                    <a:pt x="0" y="133286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332865"/>
                  </a:lnTo>
                  <a:lnTo>
                    <a:pt x="12700" y="1332865"/>
                  </a:lnTo>
                  <a:lnTo>
                    <a:pt x="25400" y="1332865"/>
                  </a:lnTo>
                  <a:cubicBezTo>
                    <a:pt x="25400" y="1393063"/>
                    <a:pt x="74930" y="1442085"/>
                    <a:pt x="136398" y="1442085"/>
                  </a:cubicBezTo>
                  <a:lnTo>
                    <a:pt x="7450074" y="1442085"/>
                  </a:lnTo>
                  <a:cubicBezTo>
                    <a:pt x="7511542" y="1442085"/>
                    <a:pt x="7561072" y="1393063"/>
                    <a:pt x="7561072" y="1332865"/>
                  </a:cubicBezTo>
                  <a:lnTo>
                    <a:pt x="7561072" y="134620"/>
                  </a:lnTo>
                  <a:cubicBezTo>
                    <a:pt x="7561072" y="74422"/>
                    <a:pt x="7511542" y="25400"/>
                    <a:pt x="7450074" y="25400"/>
                  </a:cubicBezTo>
                  <a:lnTo>
                    <a:pt x="136398" y="25400"/>
                  </a:lnTo>
                  <a:lnTo>
                    <a:pt x="136398" y="12700"/>
                  </a:lnTo>
                  <a:lnTo>
                    <a:pt x="136398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289476" y="1200299"/>
            <a:ext cx="76200" cy="1081534"/>
            <a:chOff x="0" y="0"/>
            <a:chExt cx="101600" cy="14420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" cy="1441958"/>
            </a:xfrm>
            <a:custGeom>
              <a:avLst/>
              <a:gdLst/>
              <a:ahLst/>
              <a:cxnLst/>
              <a:rect r="r" b="b" t="t" l="l"/>
              <a:pathLst>
                <a:path h="1441958" w="101600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1413637"/>
                  </a:lnTo>
                  <a:cubicBezTo>
                    <a:pt x="101600" y="1429258"/>
                    <a:pt x="88900" y="1441958"/>
                    <a:pt x="73279" y="1441958"/>
                  </a:cubicBezTo>
                  <a:lnTo>
                    <a:pt x="28321" y="1441958"/>
                  </a:lnTo>
                  <a:cubicBezTo>
                    <a:pt x="12700" y="1441958"/>
                    <a:pt x="0" y="1429258"/>
                    <a:pt x="0" y="141363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526411" y="1361034"/>
            <a:ext cx="2334816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Service-Repository Pattern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6411" y="1619845"/>
            <a:ext cx="5292179" cy="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Separates business logic (Service Layer) from data access (Repository Layer), improving maintainability and scalability.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11484" y="1190774"/>
            <a:ext cx="5689848" cy="1100584"/>
            <a:chOff x="0" y="0"/>
            <a:chExt cx="7586463" cy="1467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7561072" cy="1442085"/>
            </a:xfrm>
            <a:custGeom>
              <a:avLst/>
              <a:gdLst/>
              <a:ahLst/>
              <a:cxnLst/>
              <a:rect r="r" b="b" t="t" l="l"/>
              <a:pathLst>
                <a:path h="1442085" w="7561072">
                  <a:moveTo>
                    <a:pt x="0" y="121920"/>
                  </a:moveTo>
                  <a:cubicBezTo>
                    <a:pt x="0" y="54610"/>
                    <a:pt x="55372" y="0"/>
                    <a:pt x="123698" y="0"/>
                  </a:cubicBezTo>
                  <a:lnTo>
                    <a:pt x="7437374" y="0"/>
                  </a:lnTo>
                  <a:cubicBezTo>
                    <a:pt x="7505700" y="0"/>
                    <a:pt x="7561072" y="54610"/>
                    <a:pt x="7561072" y="121920"/>
                  </a:cubicBezTo>
                  <a:lnTo>
                    <a:pt x="7561072" y="1320165"/>
                  </a:lnTo>
                  <a:cubicBezTo>
                    <a:pt x="7561072" y="1387475"/>
                    <a:pt x="7505700" y="1442085"/>
                    <a:pt x="7437374" y="1442085"/>
                  </a:cubicBezTo>
                  <a:lnTo>
                    <a:pt x="123698" y="1442085"/>
                  </a:lnTo>
                  <a:cubicBezTo>
                    <a:pt x="55372" y="1442085"/>
                    <a:pt x="0" y="1387475"/>
                    <a:pt x="0" y="1320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86472" cy="1467485"/>
            </a:xfrm>
            <a:custGeom>
              <a:avLst/>
              <a:gdLst/>
              <a:ahLst/>
              <a:cxnLst/>
              <a:rect r="r" b="b" t="t" l="l"/>
              <a:pathLst>
                <a:path h="1467485" w="7586472">
                  <a:moveTo>
                    <a:pt x="0" y="134620"/>
                  </a:moveTo>
                  <a:cubicBezTo>
                    <a:pt x="0" y="60071"/>
                    <a:pt x="61214" y="0"/>
                    <a:pt x="136398" y="0"/>
                  </a:cubicBezTo>
                  <a:lnTo>
                    <a:pt x="7450074" y="0"/>
                  </a:lnTo>
                  <a:lnTo>
                    <a:pt x="7450074" y="12700"/>
                  </a:lnTo>
                  <a:lnTo>
                    <a:pt x="7450074" y="0"/>
                  </a:lnTo>
                  <a:cubicBezTo>
                    <a:pt x="7525258" y="0"/>
                    <a:pt x="7586472" y="60071"/>
                    <a:pt x="7586472" y="134620"/>
                  </a:cubicBezTo>
                  <a:lnTo>
                    <a:pt x="7573772" y="134620"/>
                  </a:lnTo>
                  <a:lnTo>
                    <a:pt x="7586472" y="134620"/>
                  </a:lnTo>
                  <a:lnTo>
                    <a:pt x="7586472" y="1332865"/>
                  </a:lnTo>
                  <a:lnTo>
                    <a:pt x="7573772" y="1332865"/>
                  </a:lnTo>
                  <a:lnTo>
                    <a:pt x="7586472" y="1332865"/>
                  </a:lnTo>
                  <a:cubicBezTo>
                    <a:pt x="7586472" y="1407414"/>
                    <a:pt x="7525258" y="1467485"/>
                    <a:pt x="7450074" y="1467485"/>
                  </a:cubicBezTo>
                  <a:lnTo>
                    <a:pt x="7450074" y="1454785"/>
                  </a:lnTo>
                  <a:lnTo>
                    <a:pt x="7450074" y="1467485"/>
                  </a:lnTo>
                  <a:lnTo>
                    <a:pt x="136398" y="1467485"/>
                  </a:lnTo>
                  <a:lnTo>
                    <a:pt x="136398" y="1454785"/>
                  </a:lnTo>
                  <a:lnTo>
                    <a:pt x="136398" y="1467485"/>
                  </a:lnTo>
                  <a:cubicBezTo>
                    <a:pt x="61214" y="1467485"/>
                    <a:pt x="0" y="1407287"/>
                    <a:pt x="0" y="133286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332865"/>
                  </a:lnTo>
                  <a:lnTo>
                    <a:pt x="12700" y="1332865"/>
                  </a:lnTo>
                  <a:lnTo>
                    <a:pt x="25400" y="1332865"/>
                  </a:lnTo>
                  <a:cubicBezTo>
                    <a:pt x="25400" y="1393063"/>
                    <a:pt x="74930" y="1442085"/>
                    <a:pt x="136398" y="1442085"/>
                  </a:cubicBezTo>
                  <a:lnTo>
                    <a:pt x="7450074" y="1442085"/>
                  </a:lnTo>
                  <a:cubicBezTo>
                    <a:pt x="7511542" y="1442085"/>
                    <a:pt x="7561072" y="1393063"/>
                    <a:pt x="7561072" y="1332865"/>
                  </a:cubicBezTo>
                  <a:lnTo>
                    <a:pt x="7561072" y="134620"/>
                  </a:lnTo>
                  <a:cubicBezTo>
                    <a:pt x="7561072" y="74422"/>
                    <a:pt x="7511542" y="25400"/>
                    <a:pt x="7450074" y="25400"/>
                  </a:cubicBezTo>
                  <a:lnTo>
                    <a:pt x="136398" y="25400"/>
                  </a:lnTo>
                  <a:lnTo>
                    <a:pt x="136398" y="12700"/>
                  </a:lnTo>
                  <a:lnTo>
                    <a:pt x="136398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101959" y="1200299"/>
            <a:ext cx="76200" cy="1081534"/>
            <a:chOff x="0" y="0"/>
            <a:chExt cx="101600" cy="14420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1441958"/>
            </a:xfrm>
            <a:custGeom>
              <a:avLst/>
              <a:gdLst/>
              <a:ahLst/>
              <a:cxnLst/>
              <a:rect r="r" b="b" t="t" l="l"/>
              <a:pathLst>
                <a:path h="1441958" w="101600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1413637"/>
                  </a:lnTo>
                  <a:cubicBezTo>
                    <a:pt x="101600" y="1429258"/>
                    <a:pt x="88900" y="1441958"/>
                    <a:pt x="73279" y="1441958"/>
                  </a:cubicBezTo>
                  <a:lnTo>
                    <a:pt x="28321" y="1441958"/>
                  </a:lnTo>
                  <a:cubicBezTo>
                    <a:pt x="12700" y="1441958"/>
                    <a:pt x="0" y="1429258"/>
                    <a:pt x="0" y="141363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338894" y="1361034"/>
            <a:ext cx="2496145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 Transfer Objects (DTOs)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8894" y="1619845"/>
            <a:ext cx="5292179" cy="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Used to transfer data between layers, exposing only necessary information and protecting internal models from direct exposure.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96044" y="2441228"/>
            <a:ext cx="10774264" cy="7371755"/>
            <a:chOff x="0" y="0"/>
            <a:chExt cx="14365685" cy="982900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4365732" cy="9829038"/>
            </a:xfrm>
            <a:custGeom>
              <a:avLst/>
              <a:gdLst/>
              <a:ahLst/>
              <a:cxnLst/>
              <a:rect r="r" b="b" t="t" l="l"/>
              <a:pathLst>
                <a:path h="9829038" w="14365732">
                  <a:moveTo>
                    <a:pt x="0" y="0"/>
                  </a:moveTo>
                  <a:lnTo>
                    <a:pt x="14365732" y="0"/>
                  </a:lnTo>
                  <a:lnTo>
                    <a:pt x="14365732" y="9829038"/>
                  </a:lnTo>
                  <a:lnTo>
                    <a:pt x="0" y="982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" r="0" b="-1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9162" y="1300906"/>
            <a:ext cx="9354740" cy="85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Unit Testing with XUnit &amp; Moq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9162" y="2806601"/>
            <a:ext cx="3760589" cy="41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 Logic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9162" y="3403252"/>
            <a:ext cx="4475560" cy="266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We use </a:t>
            </a:r>
            <a:r>
              <a:rPr lang="en-US" sz="2062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xUnit</a:t>
            </a: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rigorously test the business logic in our service layer. </a:t>
            </a:r>
            <a:r>
              <a:rPr lang="en-US" sz="2062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Moq</a:t>
            </a: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creates mock objects for repository dependencies, ensuring isolation and focusing tests solely on service functionality.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44804" y="2806601"/>
            <a:ext cx="3933527" cy="41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API Endpoint Verification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44804" y="3403252"/>
            <a:ext cx="4475560" cy="30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xUnit</a:t>
            </a: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is also used for controllers to verify API endpoint behavior. We mock the service layer to ensure controllers handle requests, data, and authorization correctly, returning appropriate HTTP responses.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9162" y="6991350"/>
            <a:ext cx="9591675" cy="1956644"/>
            <a:chOff x="0" y="0"/>
            <a:chExt cx="12788900" cy="26088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89027" cy="2608961"/>
            </a:xfrm>
            <a:custGeom>
              <a:avLst/>
              <a:gdLst/>
              <a:ahLst/>
              <a:cxnLst/>
              <a:rect r="r" b="b" t="t" l="l"/>
              <a:pathLst>
                <a:path h="2608961" w="12789027">
                  <a:moveTo>
                    <a:pt x="0" y="52578"/>
                  </a:moveTo>
                  <a:cubicBezTo>
                    <a:pt x="0" y="23495"/>
                    <a:pt x="23495" y="0"/>
                    <a:pt x="52578" y="0"/>
                  </a:cubicBezTo>
                  <a:lnTo>
                    <a:pt x="12736449" y="0"/>
                  </a:lnTo>
                  <a:cubicBezTo>
                    <a:pt x="12765405" y="0"/>
                    <a:pt x="12789027" y="23495"/>
                    <a:pt x="12789027" y="52578"/>
                  </a:cubicBezTo>
                  <a:lnTo>
                    <a:pt x="12789027" y="2556383"/>
                  </a:lnTo>
                  <a:cubicBezTo>
                    <a:pt x="12789027" y="2585339"/>
                    <a:pt x="12765532" y="2608961"/>
                    <a:pt x="12736449" y="2608961"/>
                  </a:cubicBezTo>
                  <a:lnTo>
                    <a:pt x="52578" y="2608961"/>
                  </a:lnTo>
                  <a:cubicBezTo>
                    <a:pt x="23622" y="2608961"/>
                    <a:pt x="0" y="2585466"/>
                    <a:pt x="0" y="2556383"/>
                  </a:cubicBezTo>
                  <a:close/>
                </a:path>
              </a:pathLst>
            </a:custGeom>
            <a:solidFill>
              <a:srgbClr val="BEF3E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81695" y="7394525"/>
            <a:ext cx="328166" cy="262533"/>
            <a:chOff x="0" y="0"/>
            <a:chExt cx="437555" cy="35004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37515" cy="350012"/>
            </a:xfrm>
            <a:custGeom>
              <a:avLst/>
              <a:gdLst/>
              <a:ahLst/>
              <a:cxnLst/>
              <a:rect r="r" b="b" t="t" l="l"/>
              <a:pathLst>
                <a:path h="350012" w="437515">
                  <a:moveTo>
                    <a:pt x="0" y="0"/>
                  </a:moveTo>
                  <a:lnTo>
                    <a:pt x="437515" y="0"/>
                  </a:lnTo>
                  <a:lnTo>
                    <a:pt x="437515" y="350012"/>
                  </a:lnTo>
                  <a:lnTo>
                    <a:pt x="0" y="350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-9" b="-147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2394" y="7233791"/>
            <a:ext cx="8475910" cy="134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Comprehensive unit tests ensure code reliability, simplify debugging, and facilitate future enhancements by providing a safety net against regressions.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43681" y="496192"/>
            <a:ext cx="4598640" cy="58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User Flow Sequence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3681" y="1381571"/>
            <a:ext cx="17000636" cy="65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system is designed with a clear, logical flow, guiding users from authentication through essential policy and claims management functions. This sequence ensures a seamless and intuitive experience, minimizing complexity.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76364" y="2243584"/>
            <a:ext cx="13135272" cy="9052024"/>
            <a:chOff x="0" y="0"/>
            <a:chExt cx="17513697" cy="1206936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7513681" cy="12069318"/>
            </a:xfrm>
            <a:custGeom>
              <a:avLst/>
              <a:gdLst/>
              <a:ahLst/>
              <a:cxnLst/>
              <a:rect r="r" b="b" t="t" l="l"/>
              <a:pathLst>
                <a:path h="12069318" w="17513681">
                  <a:moveTo>
                    <a:pt x="0" y="0"/>
                  </a:moveTo>
                  <a:lnTo>
                    <a:pt x="17513681" y="0"/>
                  </a:lnTo>
                  <a:lnTo>
                    <a:pt x="17513681" y="12069318"/>
                  </a:lnTo>
                  <a:lnTo>
                    <a:pt x="0" y="12069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" t="0" r="-1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905344" y="7876076"/>
            <a:ext cx="3589515" cy="47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Authenticate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4438319" y="5570105"/>
            <a:ext cx="850030" cy="850030"/>
          </a:xfrm>
          <a:custGeom>
            <a:avLst/>
            <a:gdLst/>
            <a:ahLst/>
            <a:cxnLst/>
            <a:rect r="r" b="b" t="t" l="l"/>
            <a:pathLst>
              <a:path h="850030" w="850030">
                <a:moveTo>
                  <a:pt x="0" y="0"/>
                </a:moveTo>
                <a:lnTo>
                  <a:pt x="850030" y="0"/>
                </a:lnTo>
                <a:lnTo>
                  <a:pt x="850030" y="850030"/>
                </a:lnTo>
                <a:lnTo>
                  <a:pt x="0" y="850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3333" r="0" b="-1333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64122" y="4074850"/>
            <a:ext cx="3706129" cy="47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125209" y="6088358"/>
            <a:ext cx="850030" cy="850030"/>
          </a:xfrm>
          <a:custGeom>
            <a:avLst/>
            <a:gdLst/>
            <a:ahLst/>
            <a:cxnLst/>
            <a:rect r="r" b="b" t="t" l="l"/>
            <a:pathLst>
              <a:path h="850030" w="850030">
                <a:moveTo>
                  <a:pt x="0" y="0"/>
                </a:moveTo>
                <a:lnTo>
                  <a:pt x="850030" y="0"/>
                </a:lnTo>
                <a:lnTo>
                  <a:pt x="850030" y="850029"/>
                </a:lnTo>
                <a:lnTo>
                  <a:pt x="0" y="850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444" t="0" r="-444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452052" y="8989349"/>
            <a:ext cx="3589515" cy="95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Policy Management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812366" y="6606610"/>
            <a:ext cx="850030" cy="850030"/>
          </a:xfrm>
          <a:custGeom>
            <a:avLst/>
            <a:gdLst/>
            <a:ahLst/>
            <a:cxnLst/>
            <a:rect r="r" b="b" t="t" l="l"/>
            <a:pathLst>
              <a:path h="850030" w="850030">
                <a:moveTo>
                  <a:pt x="0" y="0"/>
                </a:moveTo>
                <a:lnTo>
                  <a:pt x="850030" y="0"/>
                </a:lnTo>
                <a:lnTo>
                  <a:pt x="850030" y="850030"/>
                </a:lnTo>
                <a:lnTo>
                  <a:pt x="0" y="850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666" r="0" b="-1166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38336" y="5075494"/>
            <a:ext cx="3589515" cy="47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Claim Management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672184" y="7163114"/>
            <a:ext cx="850030" cy="850030"/>
          </a:xfrm>
          <a:custGeom>
            <a:avLst/>
            <a:gdLst/>
            <a:ahLst/>
            <a:cxnLst/>
            <a:rect r="r" b="b" t="t" l="l"/>
            <a:pathLst>
              <a:path h="850030" w="850030">
                <a:moveTo>
                  <a:pt x="0" y="0"/>
                </a:moveTo>
                <a:lnTo>
                  <a:pt x="850030" y="0"/>
                </a:lnTo>
                <a:lnTo>
                  <a:pt x="850030" y="850030"/>
                </a:lnTo>
                <a:lnTo>
                  <a:pt x="0" y="8500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33" t="0" r="-833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43681" y="11435804"/>
            <a:ext cx="17000636" cy="36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Each step is integrated with robust security measures and real-time data access, providing users with immediate control over their insurance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DAG6Y1KrWBY</dc:identifier>
  <dcterms:modified xsi:type="dcterms:W3CDTF">2011-08-01T06:04:30Z</dcterms:modified>
  <cp:revision>1</cp:revision>
</cp:coreProperties>
</file>