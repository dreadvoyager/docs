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
  </p:notesMasterIdLst>
  <p:sldIdLst>
    <p:sldId id="256" r:id="rId2"/>
    <p:sldId id="257" r:id="rId3"/>
    <p:sldId id="258" r:id="rId4"/>
    <p:sldId id="259" r:id="rId5"/>
    <p:sldId id="268" r:id="rId6"/>
    <p:sldId id="261" r:id="rId7"/>
    <p:sldId id="262" r:id="rId8"/>
    <p:sldId id="263" r:id="rId9"/>
    <p:sldId id="264" r:id="rId10"/>
    <p:sldId id="265" r:id="rId11"/>
    <p:sldId id="267" r:id="rId12"/>
  </p:sldIdLst>
  <p:sldSz cx="18288000" cy="10287000"/>
  <p:notesSz cx="6858000" cy="9144000"/>
  <p:embeddedFontLst>
    <p:embeddedFont>
      <p:font typeface="Arimo" panose="020B0604020202020204" pitchFamily="34" charset="0"/>
      <p:regular r:id="rId14"/>
    </p:embeddedFont>
    <p:embeddedFont>
      <p:font typeface="Consolas" panose="020B0609020204030204" pitchFamily="49" charset="0"/>
      <p:regular r:id="rId15"/>
      <p:bold r:id="rId16"/>
      <p:italic r:id="rId17"/>
      <p:boldItalic r:id="rId18"/>
    </p:embeddedFont>
    <p:embeddedFont>
      <p:font typeface="Source Serif Pro" panose="02040603050405020204" pitchFamily="18" charset="0"/>
      <p:regular r:id="rId19"/>
      <p:bold r:id="rId20"/>
      <p:italic r:id="rId21"/>
      <p:boldItalic r:id="rId22"/>
    </p:embeddedFont>
    <p:embeddedFont>
      <p:font typeface="Source Serif Pro Bold" panose="02040803050405020204" pitchFamily="18" charset="77"/>
      <p:regular r:id="rId23"/>
      <p:bold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autoAdjust="0"/>
    <p:restoredTop sz="94643" autoAdjust="0"/>
  </p:normalViewPr>
  <p:slideViewPr>
    <p:cSldViewPr>
      <p:cViewPr varScale="1">
        <p:scale>
          <a:sx n="76" d="100"/>
          <a:sy n="76" d="100"/>
        </p:scale>
        <p:origin x="712" y="21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09.11.2025</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D3D6D-CA4B-49C2-8A66-FC1274EBFA32}"/>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77009A3-992D-4BC5-DA97-3D1307211A7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E6326E9-C52D-EBC1-EAD5-8DD90A629C6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074F52A-CD3C-82C2-77F1-E57878D49D88}"/>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E63B26C-F98A-556E-3552-25CE7D301D8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a:extLst>
              <a:ext uri="{FF2B5EF4-FFF2-40B4-BE49-F238E27FC236}">
                <a16:creationId xmlns:a16="http://schemas.microsoft.com/office/drawing/2014/main" id="{CAA4C304-4D84-4CB3-4614-8A7F153B8CE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D34DCA4-FB9E-5156-B452-172FF68FA2B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927151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11/9/25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grpSp>
        <p:nvGrpSpPr>
          <p:cNvPr id="6" name="Group 6"/>
          <p:cNvGrpSpPr>
            <a:grpSpLocks noChangeAspect="1"/>
          </p:cNvGrpSpPr>
          <p:nvPr/>
        </p:nvGrpSpPr>
        <p:grpSpPr>
          <a:xfrm>
            <a:off x="0" y="0"/>
            <a:ext cx="4572000" cy="10287000"/>
            <a:chOff x="0" y="0"/>
            <a:chExt cx="6096000" cy="13716000"/>
          </a:xfrm>
        </p:grpSpPr>
        <p:sp>
          <p:nvSpPr>
            <p:cNvPr id="7" name="Freeform 7" descr="preencoded.png"/>
            <p:cNvSpPr/>
            <p:nvPr/>
          </p:nvSpPr>
          <p:spPr>
            <a:xfrm>
              <a:off x="0" y="0"/>
              <a:ext cx="6096000" cy="13716000"/>
            </a:xfrm>
            <a:custGeom>
              <a:avLst/>
              <a:gdLst/>
              <a:ahLst/>
              <a:cxnLst/>
              <a:rect l="l" t="t" r="r" b="b"/>
              <a:pathLst>
                <a:path w="6096000" h="13716000">
                  <a:moveTo>
                    <a:pt x="0" y="0"/>
                  </a:moveTo>
                  <a:lnTo>
                    <a:pt x="6096000" y="0"/>
                  </a:lnTo>
                  <a:lnTo>
                    <a:pt x="6096000" y="13716000"/>
                  </a:lnTo>
                  <a:lnTo>
                    <a:pt x="0" y="13716000"/>
                  </a:lnTo>
                  <a:lnTo>
                    <a:pt x="0" y="0"/>
                  </a:lnTo>
                  <a:close/>
                </a:path>
              </a:pathLst>
            </a:custGeom>
            <a:blipFill>
              <a:blip r:embed="rId3"/>
              <a:stretch>
                <a:fillRect/>
              </a:stretch>
            </a:blipFill>
          </p:spPr>
          <p:txBody>
            <a:bodyPr/>
            <a:lstStyle/>
            <a:p>
              <a:endParaRPr lang="en-US"/>
            </a:p>
          </p:txBody>
        </p:sp>
      </p:grpSp>
      <p:sp>
        <p:nvSpPr>
          <p:cNvPr id="8" name="TextBox 8"/>
          <p:cNvSpPr txBox="1"/>
          <p:nvPr/>
        </p:nvSpPr>
        <p:spPr>
          <a:xfrm>
            <a:off x="5564238" y="1671935"/>
            <a:ext cx="11731526" cy="3648968"/>
          </a:xfrm>
          <a:prstGeom prst="rect">
            <a:avLst/>
          </a:prstGeom>
        </p:spPr>
        <p:txBody>
          <a:bodyPr lIns="0" tIns="0" rIns="0" bIns="0" rtlCol="0" anchor="t">
            <a:spAutoFit/>
          </a:bodyPr>
          <a:lstStyle/>
          <a:p>
            <a:pPr algn="l">
              <a:lnSpc>
                <a:spcPts val="13937"/>
              </a:lnSpc>
            </a:pPr>
            <a:r>
              <a:rPr lang="en-US" sz="11124" dirty="0">
                <a:solidFill>
                  <a:srgbClr val="201B18"/>
                </a:solidFill>
                <a:latin typeface="Arimo"/>
                <a:ea typeface="Arimo"/>
                <a:cs typeface="Arimo"/>
                <a:sym typeface="Arimo"/>
              </a:rPr>
              <a:t>API: Application Programming </a:t>
            </a:r>
          </a:p>
        </p:txBody>
      </p:sp>
      <p:sp>
        <p:nvSpPr>
          <p:cNvPr id="9" name="TextBox 9"/>
          <p:cNvSpPr txBox="1"/>
          <p:nvPr/>
        </p:nvSpPr>
        <p:spPr>
          <a:xfrm>
            <a:off x="5564238" y="5641330"/>
            <a:ext cx="11731526" cy="1876871"/>
          </a:xfrm>
          <a:prstGeom prst="rect">
            <a:avLst/>
          </a:prstGeom>
        </p:spPr>
        <p:txBody>
          <a:bodyPr lIns="0" tIns="0" rIns="0" bIns="0" rtlCol="0" anchor="t">
            <a:spAutoFit/>
          </a:bodyPr>
          <a:lstStyle/>
          <a:p>
            <a:pPr algn="l">
              <a:lnSpc>
                <a:spcPts val="13937"/>
              </a:lnSpc>
            </a:pPr>
            <a:r>
              <a:rPr lang="en-US" sz="11124">
                <a:solidFill>
                  <a:srgbClr val="201B18"/>
                </a:solidFill>
                <a:latin typeface="Arimo"/>
                <a:ea typeface="Arimo"/>
                <a:cs typeface="Arimo"/>
                <a:sym typeface="Arimo"/>
              </a:rPr>
              <a:t>Interface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992238" y="3045024"/>
            <a:ext cx="7088237" cy="943124"/>
          </a:xfrm>
          <a:prstGeom prst="rect">
            <a:avLst/>
          </a:prstGeom>
        </p:spPr>
        <p:txBody>
          <a:bodyPr lIns="0" tIns="0" rIns="0" bIns="0" rtlCol="0" anchor="t">
            <a:spAutoFit/>
          </a:bodyPr>
          <a:lstStyle/>
          <a:p>
            <a:pPr algn="l">
              <a:lnSpc>
                <a:spcPts val="6937"/>
              </a:lnSpc>
            </a:pPr>
            <a:r>
              <a:rPr lang="en-US" sz="5562">
                <a:solidFill>
                  <a:srgbClr val="201B18"/>
                </a:solidFill>
                <a:latin typeface="Arimo"/>
                <a:ea typeface="Arimo"/>
                <a:cs typeface="Arimo"/>
                <a:sym typeface="Arimo"/>
              </a:rPr>
              <a:t>What is an API?</a:t>
            </a:r>
          </a:p>
        </p:txBody>
      </p:sp>
      <p:sp>
        <p:nvSpPr>
          <p:cNvPr id="7" name="TextBox 7"/>
          <p:cNvSpPr txBox="1"/>
          <p:nvPr/>
        </p:nvSpPr>
        <p:spPr>
          <a:xfrm>
            <a:off x="992238" y="4327624"/>
            <a:ext cx="16303526" cy="992981"/>
          </a:xfrm>
          <a:prstGeom prst="rect">
            <a:avLst/>
          </a:prstGeom>
        </p:spPr>
        <p:txBody>
          <a:bodyPr lIns="0" tIns="0" rIns="0" bIns="0" rtlCol="0" anchor="t">
            <a:spAutoFit/>
          </a:bodyPr>
          <a:lstStyle/>
          <a:p>
            <a:pPr algn="l">
              <a:lnSpc>
                <a:spcPts val="3562"/>
              </a:lnSpc>
            </a:pPr>
            <a:r>
              <a:rPr lang="en-US" sz="2187" b="1">
                <a:solidFill>
                  <a:srgbClr val="504C49"/>
                </a:solidFill>
                <a:latin typeface="Source Serif Pro Bold"/>
                <a:ea typeface="Source Serif Pro Bold"/>
                <a:cs typeface="Source Serif Pro Bold"/>
                <a:sym typeface="Source Serif Pro Bold"/>
              </a:rPr>
              <a:t>API</a:t>
            </a:r>
            <a:r>
              <a:rPr lang="en-US" sz="2187">
                <a:solidFill>
                  <a:srgbClr val="504C49"/>
                </a:solidFill>
                <a:latin typeface="Source Serif Pro"/>
                <a:ea typeface="Source Serif Pro"/>
                <a:cs typeface="Source Serif Pro"/>
                <a:sym typeface="Source Serif Pro"/>
              </a:rPr>
              <a:t> stands for </a:t>
            </a:r>
            <a:r>
              <a:rPr lang="en-US" sz="2187" b="1">
                <a:solidFill>
                  <a:srgbClr val="504C49"/>
                </a:solidFill>
                <a:latin typeface="Source Serif Pro Bold"/>
                <a:ea typeface="Source Serif Pro Bold"/>
                <a:cs typeface="Source Serif Pro Bold"/>
                <a:sym typeface="Source Serif Pro Bold"/>
              </a:rPr>
              <a:t>Application Programming Interface</a:t>
            </a:r>
            <a:r>
              <a:rPr lang="en-US" sz="2187">
                <a:solidFill>
                  <a:srgbClr val="504C49"/>
                </a:solidFill>
                <a:latin typeface="Source Serif Pro"/>
                <a:ea typeface="Source Serif Pro"/>
                <a:cs typeface="Source Serif Pro"/>
                <a:sym typeface="Source Serif Pro"/>
              </a:rPr>
              <a:t>, it acts ass a bridge that enables two applications to communicate and exchange data seamlessly.</a:t>
            </a:r>
          </a:p>
        </p:txBody>
      </p:sp>
      <p:sp>
        <p:nvSpPr>
          <p:cNvPr id="8" name="TextBox 8"/>
          <p:cNvSpPr txBox="1"/>
          <p:nvPr/>
        </p:nvSpPr>
        <p:spPr>
          <a:xfrm>
            <a:off x="1417439" y="5872757"/>
            <a:ext cx="15878324" cy="992981"/>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Think of an API like a waiter in a restaurant: you place your order (request), the waiter communicates with the kitchen (server), processes your request, and returns your meal (response).</a:t>
            </a:r>
          </a:p>
        </p:txBody>
      </p:sp>
      <p:grpSp>
        <p:nvGrpSpPr>
          <p:cNvPr id="9" name="Group 9"/>
          <p:cNvGrpSpPr/>
          <p:nvPr/>
        </p:nvGrpSpPr>
        <p:grpSpPr>
          <a:xfrm>
            <a:off x="992238" y="5639544"/>
            <a:ext cx="38100" cy="1545134"/>
            <a:chOff x="0" y="0"/>
            <a:chExt cx="50800" cy="2060178"/>
          </a:xfrm>
        </p:grpSpPr>
        <p:sp>
          <p:nvSpPr>
            <p:cNvPr id="10" name="Freeform 10"/>
            <p:cNvSpPr/>
            <p:nvPr/>
          </p:nvSpPr>
          <p:spPr>
            <a:xfrm>
              <a:off x="0" y="0"/>
              <a:ext cx="50800" cy="2060194"/>
            </a:xfrm>
            <a:custGeom>
              <a:avLst/>
              <a:gdLst/>
              <a:ahLst/>
              <a:cxnLst/>
              <a:rect l="l" t="t" r="r" b="b"/>
              <a:pathLst>
                <a:path w="50800" h="2060194">
                  <a:moveTo>
                    <a:pt x="0" y="0"/>
                  </a:moveTo>
                  <a:lnTo>
                    <a:pt x="50800" y="0"/>
                  </a:lnTo>
                  <a:lnTo>
                    <a:pt x="50800" y="2060194"/>
                  </a:lnTo>
                  <a:lnTo>
                    <a:pt x="0" y="2060194"/>
                  </a:lnTo>
                  <a:close/>
                </a:path>
              </a:pathLst>
            </a:custGeom>
            <a:solidFill>
              <a:srgbClr val="3E2513"/>
            </a:solidFill>
          </p:spPr>
          <p:txBody>
            <a:bodyPr/>
            <a:lstStyle/>
            <a:p>
              <a:endParaRPr lang="en-US"/>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992238" y="2411165"/>
            <a:ext cx="8135391" cy="943124"/>
          </a:xfrm>
          <a:prstGeom prst="rect">
            <a:avLst/>
          </a:prstGeom>
        </p:spPr>
        <p:txBody>
          <a:bodyPr lIns="0" tIns="0" rIns="0" bIns="0" rtlCol="0" anchor="t">
            <a:spAutoFit/>
          </a:bodyPr>
          <a:lstStyle/>
          <a:p>
            <a:pPr algn="l">
              <a:lnSpc>
                <a:spcPts val="6937"/>
              </a:lnSpc>
            </a:pPr>
            <a:r>
              <a:rPr lang="en-US" sz="5562">
                <a:solidFill>
                  <a:srgbClr val="201B18"/>
                </a:solidFill>
                <a:latin typeface="Arimo"/>
                <a:ea typeface="Arimo"/>
                <a:cs typeface="Arimo"/>
                <a:sym typeface="Arimo"/>
              </a:rPr>
              <a:t>Why APIs Are Essential</a:t>
            </a:r>
          </a:p>
        </p:txBody>
      </p:sp>
      <p:grpSp>
        <p:nvGrpSpPr>
          <p:cNvPr id="7" name="Group 7"/>
          <p:cNvGrpSpPr/>
          <p:nvPr/>
        </p:nvGrpSpPr>
        <p:grpSpPr>
          <a:xfrm>
            <a:off x="992238" y="3779490"/>
            <a:ext cx="5245447" cy="2994571"/>
            <a:chOff x="0" y="0"/>
            <a:chExt cx="6993930" cy="3992762"/>
          </a:xfrm>
        </p:grpSpPr>
        <p:sp>
          <p:nvSpPr>
            <p:cNvPr id="8" name="Freeform 8"/>
            <p:cNvSpPr/>
            <p:nvPr/>
          </p:nvSpPr>
          <p:spPr>
            <a:xfrm>
              <a:off x="0" y="0"/>
              <a:ext cx="6993890" cy="3992753"/>
            </a:xfrm>
            <a:custGeom>
              <a:avLst/>
              <a:gdLst/>
              <a:ahLst/>
              <a:cxnLst/>
              <a:rect l="l" t="t" r="r" b="b"/>
              <a:pathLst>
                <a:path w="6993890" h="3992753">
                  <a:moveTo>
                    <a:pt x="0" y="56642"/>
                  </a:moveTo>
                  <a:cubicBezTo>
                    <a:pt x="0" y="25400"/>
                    <a:pt x="25400" y="0"/>
                    <a:pt x="56642" y="0"/>
                  </a:cubicBezTo>
                  <a:lnTo>
                    <a:pt x="6937248" y="0"/>
                  </a:lnTo>
                  <a:cubicBezTo>
                    <a:pt x="6968617" y="0"/>
                    <a:pt x="6993890" y="25400"/>
                    <a:pt x="6993890" y="56642"/>
                  </a:cubicBezTo>
                  <a:lnTo>
                    <a:pt x="6993890" y="3936111"/>
                  </a:lnTo>
                  <a:cubicBezTo>
                    <a:pt x="6993890" y="3967480"/>
                    <a:pt x="6968490" y="3992753"/>
                    <a:pt x="6937248" y="3992753"/>
                  </a:cubicBezTo>
                  <a:lnTo>
                    <a:pt x="56642" y="3992753"/>
                  </a:lnTo>
                  <a:cubicBezTo>
                    <a:pt x="25273" y="3992753"/>
                    <a:pt x="0" y="3967353"/>
                    <a:pt x="0" y="3936111"/>
                  </a:cubicBezTo>
                  <a:close/>
                </a:path>
              </a:pathLst>
            </a:custGeom>
            <a:solidFill>
              <a:srgbClr val="F9F7F7"/>
            </a:solidFill>
          </p:spPr>
          <p:txBody>
            <a:bodyPr/>
            <a:lstStyle/>
            <a:p>
              <a:endParaRPr lang="en-US"/>
            </a:p>
          </p:txBody>
        </p:sp>
      </p:grpSp>
      <p:sp>
        <p:nvSpPr>
          <p:cNvPr id="9" name="TextBox 9"/>
          <p:cNvSpPr txBox="1"/>
          <p:nvPr/>
        </p:nvSpPr>
        <p:spPr>
          <a:xfrm>
            <a:off x="1275755" y="4024907"/>
            <a:ext cx="3544044" cy="481012"/>
          </a:xfrm>
          <a:prstGeom prst="rect">
            <a:avLst/>
          </a:prstGeom>
        </p:spPr>
        <p:txBody>
          <a:bodyPr lIns="0" tIns="0" rIns="0" bIns="0" rtlCol="0" anchor="t">
            <a:spAutoFit/>
          </a:bodyPr>
          <a:lstStyle/>
          <a:p>
            <a:pPr algn="l">
              <a:lnSpc>
                <a:spcPts val="3437"/>
              </a:lnSpc>
            </a:pPr>
            <a:r>
              <a:rPr lang="en-US" sz="2750">
                <a:solidFill>
                  <a:srgbClr val="504C49"/>
                </a:solidFill>
                <a:latin typeface="Arimo"/>
                <a:ea typeface="Arimo"/>
                <a:cs typeface="Arimo"/>
                <a:sym typeface="Arimo"/>
              </a:rPr>
              <a:t>System Integration</a:t>
            </a:r>
          </a:p>
        </p:txBody>
      </p:sp>
      <p:sp>
        <p:nvSpPr>
          <p:cNvPr id="10" name="TextBox 10"/>
          <p:cNvSpPr txBox="1"/>
          <p:nvPr/>
        </p:nvSpPr>
        <p:spPr>
          <a:xfrm>
            <a:off x="1275755" y="4590306"/>
            <a:ext cx="4678412" cy="1900237"/>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Connect different applications and services to work together seamlessly without manual intervention.</a:t>
            </a:r>
          </a:p>
        </p:txBody>
      </p:sp>
      <p:grpSp>
        <p:nvGrpSpPr>
          <p:cNvPr id="11" name="Group 11"/>
          <p:cNvGrpSpPr/>
          <p:nvPr/>
        </p:nvGrpSpPr>
        <p:grpSpPr>
          <a:xfrm>
            <a:off x="6521202" y="3779490"/>
            <a:ext cx="5245447" cy="2994571"/>
            <a:chOff x="0" y="0"/>
            <a:chExt cx="6993930" cy="3992762"/>
          </a:xfrm>
        </p:grpSpPr>
        <p:sp>
          <p:nvSpPr>
            <p:cNvPr id="12" name="Freeform 12"/>
            <p:cNvSpPr/>
            <p:nvPr/>
          </p:nvSpPr>
          <p:spPr>
            <a:xfrm>
              <a:off x="0" y="0"/>
              <a:ext cx="6993890" cy="3992753"/>
            </a:xfrm>
            <a:custGeom>
              <a:avLst/>
              <a:gdLst/>
              <a:ahLst/>
              <a:cxnLst/>
              <a:rect l="l" t="t" r="r" b="b"/>
              <a:pathLst>
                <a:path w="6993890" h="3992753">
                  <a:moveTo>
                    <a:pt x="0" y="56642"/>
                  </a:moveTo>
                  <a:cubicBezTo>
                    <a:pt x="0" y="25400"/>
                    <a:pt x="25400" y="0"/>
                    <a:pt x="56642" y="0"/>
                  </a:cubicBezTo>
                  <a:lnTo>
                    <a:pt x="6937248" y="0"/>
                  </a:lnTo>
                  <a:cubicBezTo>
                    <a:pt x="6968617" y="0"/>
                    <a:pt x="6993890" y="25400"/>
                    <a:pt x="6993890" y="56642"/>
                  </a:cubicBezTo>
                  <a:lnTo>
                    <a:pt x="6993890" y="3936111"/>
                  </a:lnTo>
                  <a:cubicBezTo>
                    <a:pt x="6993890" y="3967480"/>
                    <a:pt x="6968490" y="3992753"/>
                    <a:pt x="6937248" y="3992753"/>
                  </a:cubicBezTo>
                  <a:lnTo>
                    <a:pt x="56642" y="3992753"/>
                  </a:lnTo>
                  <a:cubicBezTo>
                    <a:pt x="25273" y="3992753"/>
                    <a:pt x="0" y="3967353"/>
                    <a:pt x="0" y="3936111"/>
                  </a:cubicBezTo>
                  <a:close/>
                </a:path>
              </a:pathLst>
            </a:custGeom>
            <a:solidFill>
              <a:srgbClr val="F9F7F7"/>
            </a:solidFill>
          </p:spPr>
          <p:txBody>
            <a:bodyPr/>
            <a:lstStyle/>
            <a:p>
              <a:endParaRPr lang="en-US"/>
            </a:p>
          </p:txBody>
        </p:sp>
      </p:grpSp>
      <p:sp>
        <p:nvSpPr>
          <p:cNvPr id="13" name="TextBox 13"/>
          <p:cNvSpPr txBox="1"/>
          <p:nvPr/>
        </p:nvSpPr>
        <p:spPr>
          <a:xfrm>
            <a:off x="6804720" y="4024907"/>
            <a:ext cx="3544044" cy="481012"/>
          </a:xfrm>
          <a:prstGeom prst="rect">
            <a:avLst/>
          </a:prstGeom>
        </p:spPr>
        <p:txBody>
          <a:bodyPr lIns="0" tIns="0" rIns="0" bIns="0" rtlCol="0" anchor="t">
            <a:spAutoFit/>
          </a:bodyPr>
          <a:lstStyle/>
          <a:p>
            <a:pPr algn="l">
              <a:lnSpc>
                <a:spcPts val="3437"/>
              </a:lnSpc>
            </a:pPr>
            <a:r>
              <a:rPr lang="en-US" sz="2750">
                <a:solidFill>
                  <a:srgbClr val="504C49"/>
                </a:solidFill>
                <a:latin typeface="Arimo"/>
                <a:ea typeface="Arimo"/>
                <a:cs typeface="Arimo"/>
                <a:sym typeface="Arimo"/>
              </a:rPr>
              <a:t>Code Reusability</a:t>
            </a:r>
          </a:p>
        </p:txBody>
      </p:sp>
      <p:sp>
        <p:nvSpPr>
          <p:cNvPr id="14" name="TextBox 14"/>
          <p:cNvSpPr txBox="1"/>
          <p:nvPr/>
        </p:nvSpPr>
        <p:spPr>
          <a:xfrm>
            <a:off x="6804720" y="4590306"/>
            <a:ext cx="4678412" cy="1446610"/>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Leverage existing functionality and services instead of rebuilding everything from scratch.</a:t>
            </a:r>
          </a:p>
        </p:txBody>
      </p:sp>
      <p:grpSp>
        <p:nvGrpSpPr>
          <p:cNvPr id="15" name="Group 15"/>
          <p:cNvGrpSpPr/>
          <p:nvPr/>
        </p:nvGrpSpPr>
        <p:grpSpPr>
          <a:xfrm>
            <a:off x="12050166" y="3779490"/>
            <a:ext cx="5245447" cy="2994571"/>
            <a:chOff x="0" y="0"/>
            <a:chExt cx="6993930" cy="3992762"/>
          </a:xfrm>
        </p:grpSpPr>
        <p:sp>
          <p:nvSpPr>
            <p:cNvPr id="16" name="Freeform 16"/>
            <p:cNvSpPr/>
            <p:nvPr/>
          </p:nvSpPr>
          <p:spPr>
            <a:xfrm>
              <a:off x="0" y="0"/>
              <a:ext cx="6993890" cy="3992753"/>
            </a:xfrm>
            <a:custGeom>
              <a:avLst/>
              <a:gdLst/>
              <a:ahLst/>
              <a:cxnLst/>
              <a:rect l="l" t="t" r="r" b="b"/>
              <a:pathLst>
                <a:path w="6993890" h="3992753">
                  <a:moveTo>
                    <a:pt x="0" y="56642"/>
                  </a:moveTo>
                  <a:cubicBezTo>
                    <a:pt x="0" y="25400"/>
                    <a:pt x="25400" y="0"/>
                    <a:pt x="56642" y="0"/>
                  </a:cubicBezTo>
                  <a:lnTo>
                    <a:pt x="6937248" y="0"/>
                  </a:lnTo>
                  <a:cubicBezTo>
                    <a:pt x="6968617" y="0"/>
                    <a:pt x="6993890" y="25400"/>
                    <a:pt x="6993890" y="56642"/>
                  </a:cubicBezTo>
                  <a:lnTo>
                    <a:pt x="6993890" y="3936111"/>
                  </a:lnTo>
                  <a:cubicBezTo>
                    <a:pt x="6993890" y="3967480"/>
                    <a:pt x="6968490" y="3992753"/>
                    <a:pt x="6937248" y="3992753"/>
                  </a:cubicBezTo>
                  <a:lnTo>
                    <a:pt x="56642" y="3992753"/>
                  </a:lnTo>
                  <a:cubicBezTo>
                    <a:pt x="25273" y="3992753"/>
                    <a:pt x="0" y="3967353"/>
                    <a:pt x="0" y="3936111"/>
                  </a:cubicBezTo>
                  <a:close/>
                </a:path>
              </a:pathLst>
            </a:custGeom>
            <a:solidFill>
              <a:srgbClr val="F9F7F7"/>
            </a:solidFill>
          </p:spPr>
          <p:txBody>
            <a:bodyPr/>
            <a:lstStyle/>
            <a:p>
              <a:endParaRPr lang="en-US"/>
            </a:p>
          </p:txBody>
        </p:sp>
      </p:grpSp>
      <p:sp>
        <p:nvSpPr>
          <p:cNvPr id="17" name="TextBox 17"/>
          <p:cNvSpPr txBox="1"/>
          <p:nvPr/>
        </p:nvSpPr>
        <p:spPr>
          <a:xfrm>
            <a:off x="12333685" y="4024907"/>
            <a:ext cx="3841551" cy="481012"/>
          </a:xfrm>
          <a:prstGeom prst="rect">
            <a:avLst/>
          </a:prstGeom>
        </p:spPr>
        <p:txBody>
          <a:bodyPr lIns="0" tIns="0" rIns="0" bIns="0" rtlCol="0" anchor="t">
            <a:spAutoFit/>
          </a:bodyPr>
          <a:lstStyle/>
          <a:p>
            <a:pPr algn="l">
              <a:lnSpc>
                <a:spcPts val="3437"/>
              </a:lnSpc>
            </a:pPr>
            <a:r>
              <a:rPr lang="en-US" sz="2750">
                <a:solidFill>
                  <a:srgbClr val="504C49"/>
                </a:solidFill>
                <a:latin typeface="Arimo"/>
                <a:ea typeface="Arimo"/>
                <a:cs typeface="Arimo"/>
                <a:sym typeface="Arimo"/>
              </a:rPr>
              <a:t>Secure Data Exchange</a:t>
            </a:r>
          </a:p>
        </p:txBody>
      </p:sp>
      <p:sp>
        <p:nvSpPr>
          <p:cNvPr id="18" name="TextBox 18"/>
          <p:cNvSpPr txBox="1"/>
          <p:nvPr/>
        </p:nvSpPr>
        <p:spPr>
          <a:xfrm>
            <a:off x="12333685" y="4590306"/>
            <a:ext cx="4678413" cy="1900237"/>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Control access and permissions while protecting sensitive information through authentication.</a:t>
            </a:r>
          </a:p>
        </p:txBody>
      </p:sp>
      <p:sp>
        <p:nvSpPr>
          <p:cNvPr id="19" name="TextBox 19"/>
          <p:cNvSpPr txBox="1"/>
          <p:nvPr/>
        </p:nvSpPr>
        <p:spPr>
          <a:xfrm>
            <a:off x="992238" y="7026325"/>
            <a:ext cx="16303526" cy="792361"/>
          </a:xfrm>
          <a:prstGeom prst="rect">
            <a:avLst/>
          </a:prstGeom>
        </p:spPr>
        <p:txBody>
          <a:bodyPr lIns="0" tIns="0" rIns="0" bIns="0" rtlCol="0" anchor="t">
            <a:spAutoFit/>
          </a:bodyPr>
          <a:lstStyle/>
          <a:p>
            <a:pPr algn="l">
              <a:lnSpc>
                <a:spcPts val="2812"/>
              </a:lnSpc>
            </a:pPr>
            <a:r>
              <a:rPr lang="en-US" sz="1750" b="1">
                <a:solidFill>
                  <a:srgbClr val="504C49"/>
                </a:solidFill>
                <a:latin typeface="Source Serif Pro Bold"/>
                <a:ea typeface="Source Serif Pro Bold"/>
                <a:cs typeface="Source Serif Pro Bold"/>
                <a:sym typeface="Source Serif Pro Bold"/>
              </a:rPr>
              <a:t>Real-world examples:</a:t>
            </a:r>
            <a:r>
              <a:rPr lang="en-US" sz="1750">
                <a:solidFill>
                  <a:srgbClr val="504C49"/>
                </a:solidFill>
                <a:latin typeface="Source Serif Pro"/>
                <a:ea typeface="Source Serif Pro"/>
                <a:cs typeface="Source Serif Pro"/>
                <a:sym typeface="Source Serif Pro"/>
              </a:rPr>
              <a:t> Zomato integrates Google Maps API for location services, Spotify uses music streaming APIs, and "Login with Google" relies on authentication APIs.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72390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525661" y="243016"/>
            <a:ext cx="7708552" cy="497830"/>
          </a:xfrm>
          <a:prstGeom prst="rect">
            <a:avLst/>
          </a:prstGeom>
        </p:spPr>
        <p:txBody>
          <a:bodyPr lIns="0" tIns="0" rIns="0" bIns="0" rtlCol="0" anchor="t">
            <a:spAutoFit/>
          </a:bodyPr>
          <a:lstStyle/>
          <a:p>
            <a:pPr algn="l">
              <a:lnSpc>
                <a:spcPts val="3687"/>
              </a:lnSpc>
            </a:pPr>
            <a:r>
              <a:rPr lang="en-US" sz="2937" dirty="0">
                <a:solidFill>
                  <a:srgbClr val="201B18"/>
                </a:solidFill>
                <a:latin typeface="Arimo"/>
                <a:ea typeface="Arimo"/>
                <a:cs typeface="Arimo"/>
                <a:sym typeface="Arimo"/>
              </a:rPr>
              <a:t>How APIs Work: Request-Response Model</a:t>
            </a:r>
          </a:p>
        </p:txBody>
      </p:sp>
      <p:sp>
        <p:nvSpPr>
          <p:cNvPr id="7" name="TextBox 7"/>
          <p:cNvSpPr txBox="1"/>
          <p:nvPr/>
        </p:nvSpPr>
        <p:spPr>
          <a:xfrm>
            <a:off x="525661" y="1134964"/>
            <a:ext cx="17236679" cy="287834"/>
          </a:xfrm>
          <a:prstGeom prst="rect">
            <a:avLst/>
          </a:prstGeom>
        </p:spPr>
        <p:txBody>
          <a:bodyPr lIns="0" tIns="0" rIns="0" bIns="0" rtlCol="0" anchor="t">
            <a:spAutoFit/>
          </a:bodyPr>
          <a:lstStyle/>
          <a:p>
            <a:pPr algn="l">
              <a:lnSpc>
                <a:spcPts val="1874"/>
              </a:lnSpc>
            </a:pPr>
            <a:r>
              <a:rPr lang="en-US" sz="1124">
                <a:solidFill>
                  <a:srgbClr val="504C49"/>
                </a:solidFill>
                <a:latin typeface="Source Serif Pro"/>
                <a:ea typeface="Source Serif Pro"/>
                <a:cs typeface="Source Serif Pro"/>
                <a:sym typeface="Source Serif Pro"/>
              </a:rPr>
              <a:t>APIs follow a predictable flow where the client makes a request, the server processes it, and returns a response.</a:t>
            </a:r>
          </a:p>
        </p:txBody>
      </p:sp>
      <p:grpSp>
        <p:nvGrpSpPr>
          <p:cNvPr id="8" name="Group 8"/>
          <p:cNvGrpSpPr>
            <a:grpSpLocks noChangeAspect="1"/>
          </p:cNvGrpSpPr>
          <p:nvPr/>
        </p:nvGrpSpPr>
        <p:grpSpPr>
          <a:xfrm>
            <a:off x="1562721" y="1718073"/>
            <a:ext cx="15162559" cy="8147367"/>
            <a:chOff x="0" y="0"/>
            <a:chExt cx="22849682" cy="12277923"/>
          </a:xfrm>
        </p:grpSpPr>
        <p:sp>
          <p:nvSpPr>
            <p:cNvPr id="9" name="Freeform 9" descr="preencoded.png"/>
            <p:cNvSpPr/>
            <p:nvPr/>
          </p:nvSpPr>
          <p:spPr>
            <a:xfrm>
              <a:off x="0" y="0"/>
              <a:ext cx="22849712" cy="12277979"/>
            </a:xfrm>
            <a:custGeom>
              <a:avLst/>
              <a:gdLst/>
              <a:ahLst/>
              <a:cxnLst/>
              <a:rect l="l" t="t" r="r" b="b"/>
              <a:pathLst>
                <a:path w="22849712" h="12277979">
                  <a:moveTo>
                    <a:pt x="0" y="0"/>
                  </a:moveTo>
                  <a:lnTo>
                    <a:pt x="22849712" y="0"/>
                  </a:lnTo>
                  <a:lnTo>
                    <a:pt x="22849712" y="12277979"/>
                  </a:lnTo>
                  <a:lnTo>
                    <a:pt x="0" y="12277979"/>
                  </a:lnTo>
                  <a:lnTo>
                    <a:pt x="0" y="0"/>
                  </a:lnTo>
                  <a:close/>
                </a:path>
              </a:pathLst>
            </a:custGeom>
            <a:blipFill>
              <a:blip r:embed="rId3"/>
              <a:stretch>
                <a:fillRect t="-17" b="-16"/>
              </a:stretch>
            </a:blipFill>
          </p:spPr>
          <p:txBody>
            <a:bodyPr/>
            <a:lstStyle/>
            <a:p>
              <a:endParaRPr lang="en-US" dirty="0"/>
            </a:p>
          </p:txBody>
        </p:sp>
      </p:grpSp>
      <p:sp>
        <p:nvSpPr>
          <p:cNvPr id="10" name="TextBox 10"/>
          <p:cNvSpPr txBox="1"/>
          <p:nvPr/>
        </p:nvSpPr>
        <p:spPr>
          <a:xfrm>
            <a:off x="1206464" y="2595526"/>
            <a:ext cx="3878210" cy="503826"/>
          </a:xfrm>
          <a:prstGeom prst="rect">
            <a:avLst/>
          </a:prstGeom>
        </p:spPr>
        <p:txBody>
          <a:bodyPr lIns="0" tIns="0" rIns="0" bIns="0" rtlCol="0" anchor="t">
            <a:spAutoFit/>
          </a:bodyPr>
          <a:lstStyle/>
          <a:p>
            <a:pPr algn="r">
              <a:lnSpc>
                <a:spcPts val="2062"/>
              </a:lnSpc>
            </a:pPr>
            <a:r>
              <a:rPr lang="en-US" sz="1687">
                <a:solidFill>
                  <a:srgbClr val="504C49"/>
                </a:solidFill>
                <a:latin typeface="Arimo"/>
                <a:ea typeface="Arimo"/>
                <a:cs typeface="Arimo"/>
                <a:sym typeface="Arimo"/>
              </a:rPr>
              <a:t>Client Request</a:t>
            </a:r>
          </a:p>
        </p:txBody>
      </p:sp>
      <p:sp>
        <p:nvSpPr>
          <p:cNvPr id="11" name="TextBox 11"/>
          <p:cNvSpPr txBox="1"/>
          <p:nvPr/>
        </p:nvSpPr>
        <p:spPr>
          <a:xfrm>
            <a:off x="982389" y="3237244"/>
            <a:ext cx="4102284" cy="775641"/>
          </a:xfrm>
          <a:prstGeom prst="rect">
            <a:avLst/>
          </a:prstGeom>
        </p:spPr>
        <p:txBody>
          <a:bodyPr lIns="0" tIns="0" rIns="0" bIns="0" rtlCol="0" anchor="t">
            <a:spAutoFit/>
          </a:bodyPr>
          <a:lstStyle/>
          <a:p>
            <a:pPr algn="r">
              <a:lnSpc>
                <a:spcPts val="1687"/>
              </a:lnSpc>
            </a:pPr>
            <a:r>
              <a:rPr lang="en-US" sz="1312">
                <a:solidFill>
                  <a:srgbClr val="504C49"/>
                </a:solidFill>
                <a:latin typeface="Source Serif Pro"/>
                <a:ea typeface="Source Serif Pro"/>
                <a:cs typeface="Source Serif Pro"/>
                <a:sym typeface="Source Serif Pro"/>
              </a:rPr>
              <a:t>Initiates HTTP request to the API gateway.</a:t>
            </a:r>
          </a:p>
        </p:txBody>
      </p:sp>
      <p:sp>
        <p:nvSpPr>
          <p:cNvPr id="12" name="TextBox 12"/>
          <p:cNvSpPr txBox="1"/>
          <p:nvPr/>
        </p:nvSpPr>
        <p:spPr>
          <a:xfrm>
            <a:off x="13203057" y="3711589"/>
            <a:ext cx="3878210" cy="503826"/>
          </a:xfrm>
          <a:prstGeom prst="rect">
            <a:avLst/>
          </a:prstGeom>
        </p:spPr>
        <p:txBody>
          <a:bodyPr lIns="0" tIns="0" rIns="0" bIns="0" rtlCol="0" anchor="t">
            <a:spAutoFit/>
          </a:bodyPr>
          <a:lstStyle/>
          <a:p>
            <a:pPr algn="l">
              <a:lnSpc>
                <a:spcPts val="2062"/>
              </a:lnSpc>
            </a:pPr>
            <a:r>
              <a:rPr lang="en-US" sz="1687">
                <a:solidFill>
                  <a:srgbClr val="504C49"/>
                </a:solidFill>
                <a:latin typeface="Arimo"/>
                <a:ea typeface="Arimo"/>
                <a:cs typeface="Arimo"/>
                <a:sym typeface="Arimo"/>
              </a:rPr>
              <a:t>API Gateway</a:t>
            </a:r>
          </a:p>
        </p:txBody>
      </p:sp>
      <p:sp>
        <p:nvSpPr>
          <p:cNvPr id="13" name="TextBox 13"/>
          <p:cNvSpPr txBox="1"/>
          <p:nvPr/>
        </p:nvSpPr>
        <p:spPr>
          <a:xfrm>
            <a:off x="13203057" y="4353306"/>
            <a:ext cx="4102284" cy="1163462"/>
          </a:xfrm>
          <a:prstGeom prst="rect">
            <a:avLst/>
          </a:prstGeom>
        </p:spPr>
        <p:txBody>
          <a:bodyPr lIns="0" tIns="0" rIns="0" bIns="0" rtlCol="0" anchor="t">
            <a:spAutoFit/>
          </a:bodyPr>
          <a:lstStyle/>
          <a:p>
            <a:pPr algn="l">
              <a:lnSpc>
                <a:spcPts val="1687"/>
              </a:lnSpc>
            </a:pPr>
            <a:r>
              <a:rPr lang="en-US" sz="1312">
                <a:solidFill>
                  <a:srgbClr val="504C49"/>
                </a:solidFill>
                <a:latin typeface="Source Serif Pro"/>
                <a:ea typeface="Source Serif Pro"/>
                <a:cs typeface="Source Serif Pro"/>
                <a:sym typeface="Source Serif Pro"/>
              </a:rPr>
              <a:t>Validates, routes, and forwards the request to server.</a:t>
            </a:r>
          </a:p>
        </p:txBody>
      </p:sp>
      <p:sp>
        <p:nvSpPr>
          <p:cNvPr id="14" name="TextBox 14"/>
          <p:cNvSpPr txBox="1"/>
          <p:nvPr/>
        </p:nvSpPr>
        <p:spPr>
          <a:xfrm>
            <a:off x="1206464" y="5056035"/>
            <a:ext cx="3878210" cy="503826"/>
          </a:xfrm>
          <a:prstGeom prst="rect">
            <a:avLst/>
          </a:prstGeom>
        </p:spPr>
        <p:txBody>
          <a:bodyPr lIns="0" tIns="0" rIns="0" bIns="0" rtlCol="0" anchor="t">
            <a:spAutoFit/>
          </a:bodyPr>
          <a:lstStyle/>
          <a:p>
            <a:pPr algn="r">
              <a:lnSpc>
                <a:spcPts val="2062"/>
              </a:lnSpc>
            </a:pPr>
            <a:r>
              <a:rPr lang="en-US" sz="1687">
                <a:solidFill>
                  <a:srgbClr val="504C49"/>
                </a:solidFill>
                <a:latin typeface="Arimo"/>
                <a:ea typeface="Arimo"/>
                <a:cs typeface="Arimo"/>
                <a:sym typeface="Arimo"/>
              </a:rPr>
              <a:t>Server Processing</a:t>
            </a:r>
          </a:p>
        </p:txBody>
      </p:sp>
      <p:sp>
        <p:nvSpPr>
          <p:cNvPr id="15" name="TextBox 15"/>
          <p:cNvSpPr txBox="1"/>
          <p:nvPr/>
        </p:nvSpPr>
        <p:spPr>
          <a:xfrm>
            <a:off x="982389" y="5697752"/>
            <a:ext cx="4102284" cy="1163464"/>
          </a:xfrm>
          <a:prstGeom prst="rect">
            <a:avLst/>
          </a:prstGeom>
        </p:spPr>
        <p:txBody>
          <a:bodyPr lIns="0" tIns="0" rIns="0" bIns="0" rtlCol="0" anchor="t">
            <a:spAutoFit/>
          </a:bodyPr>
          <a:lstStyle/>
          <a:p>
            <a:pPr algn="r">
              <a:lnSpc>
                <a:spcPts val="1687"/>
              </a:lnSpc>
            </a:pPr>
            <a:r>
              <a:rPr lang="en-US" sz="1312">
                <a:solidFill>
                  <a:srgbClr val="504C49"/>
                </a:solidFill>
                <a:latin typeface="Source Serif Pro"/>
                <a:ea typeface="Source Serif Pro"/>
                <a:cs typeface="Source Serif Pro"/>
                <a:sym typeface="Source Serif Pro"/>
              </a:rPr>
              <a:t>Handles logic, calls services, and queries the database.</a:t>
            </a:r>
          </a:p>
        </p:txBody>
      </p:sp>
      <p:sp>
        <p:nvSpPr>
          <p:cNvPr id="16" name="TextBox 16"/>
          <p:cNvSpPr txBox="1"/>
          <p:nvPr/>
        </p:nvSpPr>
        <p:spPr>
          <a:xfrm>
            <a:off x="13203057" y="6250909"/>
            <a:ext cx="3878210" cy="503826"/>
          </a:xfrm>
          <a:prstGeom prst="rect">
            <a:avLst/>
          </a:prstGeom>
        </p:spPr>
        <p:txBody>
          <a:bodyPr lIns="0" tIns="0" rIns="0" bIns="0" rtlCol="0" anchor="t">
            <a:spAutoFit/>
          </a:bodyPr>
          <a:lstStyle/>
          <a:p>
            <a:pPr algn="l">
              <a:lnSpc>
                <a:spcPts val="2062"/>
              </a:lnSpc>
            </a:pPr>
            <a:r>
              <a:rPr lang="en-US" sz="1687">
                <a:solidFill>
                  <a:srgbClr val="504C49"/>
                </a:solidFill>
                <a:latin typeface="Arimo"/>
                <a:ea typeface="Arimo"/>
                <a:cs typeface="Arimo"/>
                <a:sym typeface="Arimo"/>
              </a:rPr>
              <a:t>Database</a:t>
            </a:r>
          </a:p>
        </p:txBody>
      </p:sp>
      <p:sp>
        <p:nvSpPr>
          <p:cNvPr id="17" name="TextBox 17"/>
          <p:cNvSpPr txBox="1"/>
          <p:nvPr/>
        </p:nvSpPr>
        <p:spPr>
          <a:xfrm>
            <a:off x="13203057" y="6892627"/>
            <a:ext cx="4102284" cy="775642"/>
          </a:xfrm>
          <a:prstGeom prst="rect">
            <a:avLst/>
          </a:prstGeom>
        </p:spPr>
        <p:txBody>
          <a:bodyPr lIns="0" tIns="0" rIns="0" bIns="0" rtlCol="0" anchor="t">
            <a:spAutoFit/>
          </a:bodyPr>
          <a:lstStyle/>
          <a:p>
            <a:pPr algn="l">
              <a:lnSpc>
                <a:spcPts val="1687"/>
              </a:lnSpc>
            </a:pPr>
            <a:r>
              <a:rPr lang="en-US" sz="1312">
                <a:solidFill>
                  <a:srgbClr val="504C49"/>
                </a:solidFill>
                <a:latin typeface="Source Serif Pro"/>
                <a:ea typeface="Source Serif Pro"/>
                <a:cs typeface="Source Serif Pro"/>
                <a:sym typeface="Source Serif Pro"/>
              </a:rPr>
              <a:t>Retrieves or stores data and returns results to server.</a:t>
            </a:r>
          </a:p>
        </p:txBody>
      </p:sp>
      <p:sp>
        <p:nvSpPr>
          <p:cNvPr id="18" name="TextBox 18"/>
          <p:cNvSpPr txBox="1"/>
          <p:nvPr/>
        </p:nvSpPr>
        <p:spPr>
          <a:xfrm>
            <a:off x="1206464" y="7467725"/>
            <a:ext cx="3878210" cy="503826"/>
          </a:xfrm>
          <a:prstGeom prst="rect">
            <a:avLst/>
          </a:prstGeom>
        </p:spPr>
        <p:txBody>
          <a:bodyPr lIns="0" tIns="0" rIns="0" bIns="0" rtlCol="0" anchor="t">
            <a:spAutoFit/>
          </a:bodyPr>
          <a:lstStyle/>
          <a:p>
            <a:pPr algn="r">
              <a:lnSpc>
                <a:spcPts val="2062"/>
              </a:lnSpc>
            </a:pPr>
            <a:r>
              <a:rPr lang="en-US" sz="1687">
                <a:solidFill>
                  <a:srgbClr val="504C49"/>
                </a:solidFill>
                <a:latin typeface="Arimo"/>
                <a:ea typeface="Arimo"/>
                <a:cs typeface="Arimo"/>
                <a:sym typeface="Arimo"/>
              </a:rPr>
              <a:t>Response Flow</a:t>
            </a:r>
          </a:p>
        </p:txBody>
      </p:sp>
      <p:sp>
        <p:nvSpPr>
          <p:cNvPr id="19" name="TextBox 19"/>
          <p:cNvSpPr txBox="1"/>
          <p:nvPr/>
        </p:nvSpPr>
        <p:spPr>
          <a:xfrm>
            <a:off x="982389" y="8109444"/>
            <a:ext cx="4102284" cy="775641"/>
          </a:xfrm>
          <a:prstGeom prst="rect">
            <a:avLst/>
          </a:prstGeom>
        </p:spPr>
        <p:txBody>
          <a:bodyPr lIns="0" tIns="0" rIns="0" bIns="0" rtlCol="0" anchor="t">
            <a:spAutoFit/>
          </a:bodyPr>
          <a:lstStyle/>
          <a:p>
            <a:pPr algn="r">
              <a:lnSpc>
                <a:spcPts val="1687"/>
              </a:lnSpc>
            </a:pPr>
            <a:r>
              <a:rPr lang="en-US" sz="1312">
                <a:solidFill>
                  <a:srgbClr val="504C49"/>
                </a:solidFill>
                <a:latin typeface="Source Serif Pro"/>
                <a:ea typeface="Source Serif Pro"/>
                <a:cs typeface="Source Serif Pro"/>
                <a:sym typeface="Source Serif Pro"/>
              </a:rPr>
              <a:t>Server returns response via gateway back to client.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71E02-5AE4-09F1-D30C-EBD27FC7EE7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B083B4B-A388-DD51-8DF7-5FC8ED04F9C6}"/>
              </a:ext>
            </a:extLst>
          </p:cNvPr>
          <p:cNvGrpSpPr/>
          <p:nvPr/>
        </p:nvGrpSpPr>
        <p:grpSpPr>
          <a:xfrm>
            <a:off x="0" y="0"/>
            <a:ext cx="18288000" cy="10287000"/>
            <a:chOff x="0" y="0"/>
            <a:chExt cx="24384000" cy="13716000"/>
          </a:xfrm>
        </p:grpSpPr>
        <p:sp>
          <p:nvSpPr>
            <p:cNvPr id="3" name="Freeform 3">
              <a:extLst>
                <a:ext uri="{FF2B5EF4-FFF2-40B4-BE49-F238E27FC236}">
                  <a16:creationId xmlns:a16="http://schemas.microsoft.com/office/drawing/2014/main" id="{83521943-7165-A163-8679-91CEA5045E5F}"/>
                </a:ext>
              </a:extLst>
            </p:cNvPr>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a:extLst>
              <a:ext uri="{FF2B5EF4-FFF2-40B4-BE49-F238E27FC236}">
                <a16:creationId xmlns:a16="http://schemas.microsoft.com/office/drawing/2014/main" id="{352297F3-CAAB-33FD-52AD-932B4188BE97}"/>
              </a:ext>
            </a:extLst>
          </p:cNvPr>
          <p:cNvGrpSpPr>
            <a:grpSpLocks noGrp="1" noUngrp="1" noRot="1" noMove="1" noResize="1"/>
          </p:cNvGrpSpPr>
          <p:nvPr/>
        </p:nvGrpSpPr>
        <p:grpSpPr>
          <a:xfrm>
            <a:off x="0" y="0"/>
            <a:ext cx="18288000" cy="10287000"/>
            <a:chOff x="0" y="0"/>
            <a:chExt cx="24384000" cy="13716000"/>
          </a:xfrm>
        </p:grpSpPr>
        <p:sp>
          <p:nvSpPr>
            <p:cNvPr id="5" name="Freeform 5">
              <a:extLst>
                <a:ext uri="{FF2B5EF4-FFF2-40B4-BE49-F238E27FC236}">
                  <a16:creationId xmlns:a16="http://schemas.microsoft.com/office/drawing/2014/main" id="{97F47A5B-E3A4-706D-55B8-FCF19A03F654}"/>
                </a:ext>
              </a:extLst>
            </p:cNvPr>
            <p:cNvSpPr>
              <a:spLocks/>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dirty="0"/>
            </a:p>
          </p:txBody>
        </p:sp>
      </p:grpSp>
      <p:sp>
        <p:nvSpPr>
          <p:cNvPr id="6" name="TextBox 6">
            <a:extLst>
              <a:ext uri="{FF2B5EF4-FFF2-40B4-BE49-F238E27FC236}">
                <a16:creationId xmlns:a16="http://schemas.microsoft.com/office/drawing/2014/main" id="{7F810D5C-EC05-9792-9470-0BB06D16F95C}"/>
              </a:ext>
            </a:extLst>
          </p:cNvPr>
          <p:cNvSpPr txBox="1"/>
          <p:nvPr/>
        </p:nvSpPr>
        <p:spPr>
          <a:xfrm>
            <a:off x="992238" y="2079426"/>
            <a:ext cx="7088237" cy="943124"/>
          </a:xfrm>
          <a:prstGeom prst="rect">
            <a:avLst/>
          </a:prstGeom>
        </p:spPr>
        <p:txBody>
          <a:bodyPr lIns="0" tIns="0" rIns="0" bIns="0" rtlCol="0" anchor="t">
            <a:spAutoFit/>
          </a:bodyPr>
          <a:lstStyle/>
          <a:p>
            <a:pPr algn="l">
              <a:lnSpc>
                <a:spcPts val="6937"/>
              </a:lnSpc>
            </a:pPr>
            <a:r>
              <a:rPr lang="en-US" sz="5562">
                <a:solidFill>
                  <a:srgbClr val="201B18"/>
                </a:solidFill>
                <a:latin typeface="Arimo"/>
                <a:ea typeface="Arimo"/>
                <a:cs typeface="Arimo"/>
                <a:sym typeface="Arimo"/>
              </a:rPr>
              <a:t>Endpoints</a:t>
            </a:r>
          </a:p>
        </p:txBody>
      </p:sp>
      <p:sp>
        <p:nvSpPr>
          <p:cNvPr id="7" name="TextBox 7">
            <a:extLst>
              <a:ext uri="{FF2B5EF4-FFF2-40B4-BE49-F238E27FC236}">
                <a16:creationId xmlns:a16="http://schemas.microsoft.com/office/drawing/2014/main" id="{D7E9CBD6-31E8-594D-F480-8A184CC964E5}"/>
              </a:ext>
            </a:extLst>
          </p:cNvPr>
          <p:cNvSpPr txBox="1"/>
          <p:nvPr/>
        </p:nvSpPr>
        <p:spPr>
          <a:xfrm>
            <a:off x="992238" y="3503860"/>
            <a:ext cx="16303526" cy="992981"/>
          </a:xfrm>
          <a:prstGeom prst="rect">
            <a:avLst/>
          </a:prstGeom>
        </p:spPr>
        <p:txBody>
          <a:bodyPr lIns="0" tIns="0" rIns="0" bIns="0" rtlCol="0" anchor="t">
            <a:spAutoFit/>
          </a:bodyPr>
          <a:lstStyle/>
          <a:p>
            <a:pPr algn="l">
              <a:lnSpc>
                <a:spcPts val="3562"/>
              </a:lnSpc>
            </a:pPr>
            <a:r>
              <a:rPr lang="en-US" sz="2187" dirty="0">
                <a:solidFill>
                  <a:srgbClr val="504C49"/>
                </a:solidFill>
                <a:latin typeface="Source Serif Pro"/>
                <a:ea typeface="Source Serif Pro"/>
                <a:cs typeface="Source Serif Pro"/>
                <a:sym typeface="Source Serif Pro"/>
              </a:rPr>
              <a:t>An endpoint is a specific URL that performs a particular function. Think of endpoints like different service counters at a bank, where each counter handles one specific task.</a:t>
            </a:r>
          </a:p>
        </p:txBody>
      </p:sp>
      <p:sp>
        <p:nvSpPr>
          <p:cNvPr id="8" name="TextBox 8">
            <a:extLst>
              <a:ext uri="{FF2B5EF4-FFF2-40B4-BE49-F238E27FC236}">
                <a16:creationId xmlns:a16="http://schemas.microsoft.com/office/drawing/2014/main" id="{DE0D9575-B3B2-2A0E-A8EF-B83F4A72CA85}"/>
              </a:ext>
            </a:extLst>
          </p:cNvPr>
          <p:cNvSpPr txBox="1"/>
          <p:nvPr/>
        </p:nvSpPr>
        <p:spPr>
          <a:xfrm>
            <a:off x="992238" y="5061198"/>
            <a:ext cx="3544044" cy="481012"/>
          </a:xfrm>
          <a:prstGeom prst="rect">
            <a:avLst/>
          </a:prstGeom>
        </p:spPr>
        <p:txBody>
          <a:bodyPr lIns="0" tIns="0" rIns="0" bIns="0" rtlCol="0" anchor="t">
            <a:spAutoFit/>
          </a:bodyPr>
          <a:lstStyle/>
          <a:p>
            <a:pPr algn="l">
              <a:lnSpc>
                <a:spcPts val="3437"/>
              </a:lnSpc>
            </a:pPr>
            <a:r>
              <a:rPr lang="en-US" sz="2750" dirty="0">
                <a:solidFill>
                  <a:srgbClr val="201B18"/>
                </a:solidFill>
                <a:latin typeface="Arimo"/>
                <a:ea typeface="Arimo"/>
                <a:cs typeface="Arimo"/>
                <a:sym typeface="Arimo"/>
              </a:rPr>
              <a:t>Endpoint Structure</a:t>
            </a:r>
          </a:p>
        </p:txBody>
      </p:sp>
      <p:sp>
        <p:nvSpPr>
          <p:cNvPr id="9" name="TextBox 9">
            <a:extLst>
              <a:ext uri="{FF2B5EF4-FFF2-40B4-BE49-F238E27FC236}">
                <a16:creationId xmlns:a16="http://schemas.microsoft.com/office/drawing/2014/main" id="{C9111749-2472-C66C-348F-315B80C0005B}"/>
              </a:ext>
            </a:extLst>
          </p:cNvPr>
          <p:cNvSpPr txBox="1"/>
          <p:nvPr/>
        </p:nvSpPr>
        <p:spPr>
          <a:xfrm>
            <a:off x="992238" y="5740003"/>
            <a:ext cx="7805886" cy="992981"/>
          </a:xfrm>
          <a:prstGeom prst="rect">
            <a:avLst/>
          </a:prstGeom>
        </p:spPr>
        <p:txBody>
          <a:bodyPr lIns="0" tIns="0" rIns="0" bIns="0" rtlCol="0" anchor="t">
            <a:spAutoFit/>
          </a:bodyPr>
          <a:lstStyle/>
          <a:p>
            <a:pPr algn="l">
              <a:lnSpc>
                <a:spcPts val="3562"/>
              </a:lnSpc>
            </a:pPr>
            <a:r>
              <a:rPr lang="en-US" sz="2187" b="1" dirty="0">
                <a:solidFill>
                  <a:srgbClr val="504C49"/>
                </a:solidFill>
                <a:latin typeface="Source Serif Pro Bold"/>
                <a:ea typeface="Source Serif Pro Bold"/>
                <a:cs typeface="Source Serif Pro Bold"/>
                <a:sym typeface="Source Serif Pro Bold"/>
              </a:rPr>
              <a:t>Base </a:t>
            </a:r>
            <a:r>
              <a:rPr lang="en-US" sz="2187" b="1" dirty="0" err="1">
                <a:solidFill>
                  <a:srgbClr val="504C49"/>
                </a:solidFill>
                <a:latin typeface="Source Serif Pro Bold"/>
                <a:ea typeface="Source Serif Pro Bold"/>
                <a:cs typeface="Source Serif Pro Bold"/>
                <a:sym typeface="Source Serif Pro Bold"/>
              </a:rPr>
              <a:t>URL:</a:t>
            </a:r>
            <a:r>
              <a:rPr lang="en-US" sz="2187" dirty="0" err="1">
                <a:solidFill>
                  <a:srgbClr val="504C49"/>
                </a:solidFill>
                <a:latin typeface="Source Serif Pro"/>
                <a:ea typeface="Source Serif Pro"/>
                <a:cs typeface="Source Serif Pro"/>
                <a:sym typeface="Source Serif Pro"/>
              </a:rPr>
              <a:t>https</a:t>
            </a:r>
            <a:r>
              <a:rPr lang="en-US" sz="2187" dirty="0">
                <a:solidFill>
                  <a:srgbClr val="504C49"/>
                </a:solidFill>
                <a:latin typeface="Source Serif Pro"/>
                <a:ea typeface="Source Serif Pro"/>
                <a:cs typeface="Source Serif Pro"/>
                <a:sym typeface="Source Serif Pro"/>
              </a:rPr>
              <a:t>://</a:t>
            </a:r>
            <a:r>
              <a:rPr lang="en-US" sz="2187" dirty="0" err="1">
                <a:solidFill>
                  <a:srgbClr val="504C49"/>
                </a:solidFill>
                <a:latin typeface="Source Serif Pro"/>
                <a:ea typeface="Source Serif Pro"/>
                <a:cs typeface="Source Serif Pro"/>
                <a:sym typeface="Source Serif Pro"/>
              </a:rPr>
              <a:t>api.github.com</a:t>
            </a:r>
            <a:endParaRPr lang="en-US" sz="2187" dirty="0">
              <a:solidFill>
                <a:srgbClr val="504C49"/>
              </a:solidFill>
              <a:latin typeface="Source Serif Pro"/>
              <a:ea typeface="Source Serif Pro"/>
              <a:cs typeface="Source Serif Pro"/>
              <a:sym typeface="Source Serif Pro"/>
            </a:endParaRPr>
          </a:p>
        </p:txBody>
      </p:sp>
      <p:sp>
        <p:nvSpPr>
          <p:cNvPr id="10" name="TextBox 10">
            <a:extLst>
              <a:ext uri="{FF2B5EF4-FFF2-40B4-BE49-F238E27FC236}">
                <a16:creationId xmlns:a16="http://schemas.microsoft.com/office/drawing/2014/main" id="{6C2D2F15-FF87-6F72-9691-933F7AA705D3}"/>
              </a:ext>
            </a:extLst>
          </p:cNvPr>
          <p:cNvSpPr txBox="1"/>
          <p:nvPr/>
        </p:nvSpPr>
        <p:spPr>
          <a:xfrm>
            <a:off x="8534400" y="5726631"/>
            <a:ext cx="7805886" cy="992981"/>
          </a:xfrm>
          <a:prstGeom prst="rect">
            <a:avLst/>
          </a:prstGeom>
        </p:spPr>
        <p:txBody>
          <a:bodyPr lIns="0" tIns="0" rIns="0" bIns="0" rtlCol="0" anchor="t">
            <a:spAutoFit/>
          </a:bodyPr>
          <a:lstStyle/>
          <a:p>
            <a:pPr algn="l">
              <a:lnSpc>
                <a:spcPts val="3562"/>
              </a:lnSpc>
            </a:pPr>
            <a:r>
              <a:rPr lang="en-US" sz="2187" b="1" dirty="0">
                <a:solidFill>
                  <a:srgbClr val="504C49"/>
                </a:solidFill>
                <a:latin typeface="Source Serif Pro Bold"/>
                <a:ea typeface="Source Serif Pro Bold"/>
                <a:cs typeface="Source Serif Pro Bold"/>
                <a:sym typeface="Source Serif Pro Bold"/>
              </a:rPr>
              <a:t>Complete </a:t>
            </a:r>
            <a:r>
              <a:rPr lang="en-US" sz="2187" b="1" dirty="0" err="1">
                <a:solidFill>
                  <a:srgbClr val="504C49"/>
                </a:solidFill>
                <a:latin typeface="Source Serif Pro Bold"/>
                <a:ea typeface="Source Serif Pro Bold"/>
                <a:cs typeface="Source Serif Pro Bold"/>
                <a:sym typeface="Source Serif Pro Bold"/>
              </a:rPr>
              <a:t>Endpoint:</a:t>
            </a:r>
            <a:r>
              <a:rPr lang="en-US" sz="2187" dirty="0" err="1">
                <a:solidFill>
                  <a:srgbClr val="504C49"/>
                </a:solidFill>
                <a:latin typeface="Source Serif Pro"/>
                <a:ea typeface="Source Serif Pro"/>
                <a:cs typeface="Source Serif Pro"/>
                <a:sym typeface="Source Serif Pro"/>
              </a:rPr>
              <a:t>https</a:t>
            </a:r>
            <a:r>
              <a:rPr lang="en-US" sz="2187" dirty="0">
                <a:solidFill>
                  <a:srgbClr val="504C49"/>
                </a:solidFill>
                <a:latin typeface="Source Serif Pro"/>
                <a:ea typeface="Source Serif Pro"/>
                <a:cs typeface="Source Serif Pro"/>
                <a:sym typeface="Source Serif Pro"/>
              </a:rPr>
              <a:t>://</a:t>
            </a:r>
            <a:r>
              <a:rPr lang="en-US" sz="2187" dirty="0" err="1">
                <a:solidFill>
                  <a:srgbClr val="504C49"/>
                </a:solidFill>
                <a:latin typeface="Source Serif Pro"/>
                <a:ea typeface="Source Serif Pro"/>
                <a:cs typeface="Source Serif Pro"/>
                <a:sym typeface="Source Serif Pro"/>
              </a:rPr>
              <a:t>api.github.com</a:t>
            </a:r>
            <a:r>
              <a:rPr lang="en-US" sz="2187" dirty="0">
                <a:solidFill>
                  <a:srgbClr val="504C49"/>
                </a:solidFill>
                <a:latin typeface="Source Serif Pro"/>
                <a:ea typeface="Source Serif Pro"/>
                <a:cs typeface="Source Serif Pro"/>
                <a:sym typeface="Source Serif Pro"/>
              </a:rPr>
              <a:t>/users/</a:t>
            </a:r>
            <a:r>
              <a:rPr lang="en-US" sz="2187" dirty="0" err="1">
                <a:solidFill>
                  <a:srgbClr val="504C49"/>
                </a:solidFill>
                <a:latin typeface="Source Serif Pro"/>
                <a:ea typeface="Source Serif Pro"/>
                <a:cs typeface="Source Serif Pro"/>
                <a:sym typeface="Source Serif Pro"/>
              </a:rPr>
              <a:t>octocat</a:t>
            </a:r>
            <a:endParaRPr lang="en-US" sz="2187" dirty="0">
              <a:solidFill>
                <a:srgbClr val="504C49"/>
              </a:solidFill>
              <a:latin typeface="Source Serif Pro"/>
              <a:ea typeface="Source Serif Pro"/>
              <a:cs typeface="Source Serif Pro"/>
              <a:sym typeface="Source Serif Pro"/>
            </a:endParaRPr>
          </a:p>
        </p:txBody>
      </p:sp>
      <p:sp>
        <p:nvSpPr>
          <p:cNvPr id="11" name="TextBox 11">
            <a:extLst>
              <a:ext uri="{FF2B5EF4-FFF2-40B4-BE49-F238E27FC236}">
                <a16:creationId xmlns:a16="http://schemas.microsoft.com/office/drawing/2014/main" id="{49D2B69A-6431-3080-8E65-F3C8F6BA57B4}"/>
              </a:ext>
            </a:extLst>
          </p:cNvPr>
          <p:cNvSpPr txBox="1"/>
          <p:nvPr/>
        </p:nvSpPr>
        <p:spPr>
          <a:xfrm>
            <a:off x="5737176" y="5740002"/>
            <a:ext cx="7805886" cy="992981"/>
          </a:xfrm>
          <a:prstGeom prst="rect">
            <a:avLst/>
          </a:prstGeom>
        </p:spPr>
        <p:txBody>
          <a:bodyPr lIns="0" tIns="0" rIns="0" bIns="0" rtlCol="0" anchor="t">
            <a:spAutoFit/>
          </a:bodyPr>
          <a:lstStyle/>
          <a:p>
            <a:pPr algn="l">
              <a:lnSpc>
                <a:spcPts val="3562"/>
              </a:lnSpc>
            </a:pPr>
            <a:r>
              <a:rPr lang="en-US" sz="2187" b="1" dirty="0">
                <a:solidFill>
                  <a:srgbClr val="504C49"/>
                </a:solidFill>
                <a:latin typeface="Source Serif Pro Bold"/>
                <a:ea typeface="Source Serif Pro Bold"/>
                <a:cs typeface="Source Serif Pro Bold"/>
                <a:sym typeface="Source Serif Pro Bold"/>
              </a:rPr>
              <a:t>Path:</a:t>
            </a:r>
            <a:r>
              <a:rPr lang="en-US" sz="2187" dirty="0">
                <a:solidFill>
                  <a:srgbClr val="504C49"/>
                </a:solidFill>
                <a:latin typeface="Source Serif Pro"/>
                <a:ea typeface="Source Serif Pro"/>
                <a:cs typeface="Source Serif Pro"/>
                <a:sym typeface="Source Serif Pro"/>
              </a:rPr>
              <a:t>/users/</a:t>
            </a:r>
            <a:r>
              <a:rPr lang="en-US" sz="2187" dirty="0" err="1">
                <a:solidFill>
                  <a:srgbClr val="504C49"/>
                </a:solidFill>
                <a:latin typeface="Source Serif Pro"/>
                <a:ea typeface="Source Serif Pro"/>
                <a:cs typeface="Source Serif Pro"/>
                <a:sym typeface="Source Serif Pro"/>
              </a:rPr>
              <a:t>octocat</a:t>
            </a:r>
            <a:endParaRPr lang="en-US" sz="2187" dirty="0">
              <a:solidFill>
                <a:srgbClr val="504C49"/>
              </a:solidFill>
              <a:latin typeface="Source Serif Pro"/>
              <a:ea typeface="Source Serif Pro"/>
              <a:cs typeface="Source Serif Pro"/>
              <a:sym typeface="Source Serif Pro"/>
            </a:endParaRPr>
          </a:p>
        </p:txBody>
      </p:sp>
      <p:sp>
        <p:nvSpPr>
          <p:cNvPr id="12" name="TextBox 20">
            <a:extLst>
              <a:ext uri="{FF2B5EF4-FFF2-40B4-BE49-F238E27FC236}">
                <a16:creationId xmlns:a16="http://schemas.microsoft.com/office/drawing/2014/main" id="{32652530-8ADF-C0D8-E412-F39635030741}"/>
              </a:ext>
            </a:extLst>
          </p:cNvPr>
          <p:cNvSpPr txBox="1"/>
          <p:nvPr/>
        </p:nvSpPr>
        <p:spPr>
          <a:xfrm>
            <a:off x="992238" y="6526410"/>
            <a:ext cx="17236679" cy="230238"/>
          </a:xfrm>
          <a:prstGeom prst="rect">
            <a:avLst/>
          </a:prstGeom>
        </p:spPr>
        <p:txBody>
          <a:bodyPr lIns="0" tIns="0" rIns="0" bIns="0" rtlCol="0" anchor="t">
            <a:spAutoFit/>
          </a:bodyPr>
          <a:lstStyle/>
          <a:p>
            <a:pPr algn="l">
              <a:lnSpc>
                <a:spcPts val="1500"/>
              </a:lnSpc>
            </a:pPr>
            <a:r>
              <a:rPr lang="en-US" sz="937" b="1">
                <a:solidFill>
                  <a:srgbClr val="504C49"/>
                </a:solidFill>
                <a:latin typeface="Source Serif Pro Bold"/>
                <a:ea typeface="Source Serif Pro Bold"/>
                <a:cs typeface="Source Serif Pro Bold"/>
                <a:sym typeface="Source Serif Pro Bold"/>
              </a:rPr>
              <a:t>Example Request:</a:t>
            </a:r>
          </a:p>
        </p:txBody>
      </p:sp>
      <p:grpSp>
        <p:nvGrpSpPr>
          <p:cNvPr id="13" name="Group 21">
            <a:extLst>
              <a:ext uri="{FF2B5EF4-FFF2-40B4-BE49-F238E27FC236}">
                <a16:creationId xmlns:a16="http://schemas.microsoft.com/office/drawing/2014/main" id="{83CB4F42-10CB-F7FD-EE52-7436489C8CCA}"/>
              </a:ext>
            </a:extLst>
          </p:cNvPr>
          <p:cNvGrpSpPr/>
          <p:nvPr/>
        </p:nvGrpSpPr>
        <p:grpSpPr>
          <a:xfrm>
            <a:off x="992239" y="6925567"/>
            <a:ext cx="16000362" cy="465236"/>
            <a:chOff x="0" y="0"/>
            <a:chExt cx="22982238" cy="620315"/>
          </a:xfrm>
        </p:grpSpPr>
        <p:sp>
          <p:nvSpPr>
            <p:cNvPr id="14" name="Freeform 22">
              <a:extLst>
                <a:ext uri="{FF2B5EF4-FFF2-40B4-BE49-F238E27FC236}">
                  <a16:creationId xmlns:a16="http://schemas.microsoft.com/office/drawing/2014/main" id="{E44E0C7D-4660-F7C4-FA72-D0B5F6FE7A7A}"/>
                </a:ext>
              </a:extLst>
            </p:cNvPr>
            <p:cNvSpPr/>
            <p:nvPr/>
          </p:nvSpPr>
          <p:spPr>
            <a:xfrm>
              <a:off x="0" y="0"/>
              <a:ext cx="22982301" cy="620395"/>
            </a:xfrm>
            <a:custGeom>
              <a:avLst/>
              <a:gdLst/>
              <a:ahLst/>
              <a:cxnLst/>
              <a:rect l="l" t="t" r="r" b="b"/>
              <a:pathLst>
                <a:path w="22982301" h="620395">
                  <a:moveTo>
                    <a:pt x="0" y="30099"/>
                  </a:moveTo>
                  <a:cubicBezTo>
                    <a:pt x="0" y="13462"/>
                    <a:pt x="13462" y="0"/>
                    <a:pt x="30099" y="0"/>
                  </a:cubicBezTo>
                  <a:lnTo>
                    <a:pt x="22952202" y="0"/>
                  </a:lnTo>
                  <a:cubicBezTo>
                    <a:pt x="22968840" y="0"/>
                    <a:pt x="22982301" y="13462"/>
                    <a:pt x="22982301" y="30099"/>
                  </a:cubicBezTo>
                  <a:lnTo>
                    <a:pt x="22982301" y="590296"/>
                  </a:lnTo>
                  <a:cubicBezTo>
                    <a:pt x="22982301" y="606933"/>
                    <a:pt x="22968840" y="620395"/>
                    <a:pt x="22952202" y="620395"/>
                  </a:cubicBezTo>
                  <a:lnTo>
                    <a:pt x="30099" y="620395"/>
                  </a:lnTo>
                  <a:cubicBezTo>
                    <a:pt x="13462" y="620268"/>
                    <a:pt x="0" y="606806"/>
                    <a:pt x="0" y="590296"/>
                  </a:cubicBezTo>
                  <a:close/>
                </a:path>
              </a:pathLst>
            </a:custGeom>
            <a:solidFill>
              <a:srgbClr val="F2F2F2"/>
            </a:solidFill>
          </p:spPr>
          <p:txBody>
            <a:bodyPr/>
            <a:lstStyle/>
            <a:p>
              <a:endParaRPr lang="en-US"/>
            </a:p>
          </p:txBody>
        </p:sp>
      </p:grpSp>
      <p:sp>
        <p:nvSpPr>
          <p:cNvPr id="17" name="TextBox 25">
            <a:extLst>
              <a:ext uri="{FF2B5EF4-FFF2-40B4-BE49-F238E27FC236}">
                <a16:creationId xmlns:a16="http://schemas.microsoft.com/office/drawing/2014/main" id="{FBFB1C6C-DEB8-E47B-1B71-4DAE6A3661EF}"/>
              </a:ext>
            </a:extLst>
          </p:cNvPr>
          <p:cNvSpPr txBox="1"/>
          <p:nvPr/>
        </p:nvSpPr>
        <p:spPr>
          <a:xfrm>
            <a:off x="1134964" y="6961881"/>
            <a:ext cx="16951226" cy="316409"/>
          </a:xfrm>
          <a:prstGeom prst="rect">
            <a:avLst/>
          </a:prstGeom>
        </p:spPr>
        <p:txBody>
          <a:bodyPr lIns="0" tIns="0" rIns="0" bIns="0" rtlCol="0" anchor="t">
            <a:spAutoFit/>
          </a:bodyPr>
          <a:lstStyle/>
          <a:p>
            <a:pPr algn="l">
              <a:lnSpc>
                <a:spcPts val="1874"/>
              </a:lnSpc>
            </a:pPr>
            <a:r>
              <a:rPr lang="en-US" sz="1124">
                <a:solidFill>
                  <a:srgbClr val="504C49"/>
                </a:solidFill>
                <a:latin typeface="Consolas"/>
                <a:ea typeface="Consolas"/>
                <a:cs typeface="Consolas"/>
                <a:sym typeface="Consolas"/>
              </a:rPr>
              <a:t>GET https://api.github.com/users/octocat</a:t>
            </a:r>
          </a:p>
        </p:txBody>
      </p:sp>
      <p:sp>
        <p:nvSpPr>
          <p:cNvPr id="18" name="TextBox 26">
            <a:extLst>
              <a:ext uri="{FF2B5EF4-FFF2-40B4-BE49-F238E27FC236}">
                <a16:creationId xmlns:a16="http://schemas.microsoft.com/office/drawing/2014/main" id="{989D68B8-F3E3-92B0-789B-0218DB0933DC}"/>
              </a:ext>
            </a:extLst>
          </p:cNvPr>
          <p:cNvSpPr txBox="1"/>
          <p:nvPr/>
        </p:nvSpPr>
        <p:spPr>
          <a:xfrm>
            <a:off x="992238" y="7521623"/>
            <a:ext cx="17236679" cy="230238"/>
          </a:xfrm>
          <a:prstGeom prst="rect">
            <a:avLst/>
          </a:prstGeom>
        </p:spPr>
        <p:txBody>
          <a:bodyPr lIns="0" tIns="0" rIns="0" bIns="0" rtlCol="0" anchor="t">
            <a:spAutoFit/>
          </a:bodyPr>
          <a:lstStyle/>
          <a:p>
            <a:pPr algn="l">
              <a:lnSpc>
                <a:spcPts val="1500"/>
              </a:lnSpc>
            </a:pPr>
            <a:r>
              <a:rPr lang="en-US" sz="937" b="1">
                <a:solidFill>
                  <a:srgbClr val="504C49"/>
                </a:solidFill>
                <a:latin typeface="Source Serif Pro Bold"/>
                <a:ea typeface="Source Serif Pro Bold"/>
                <a:cs typeface="Source Serif Pro Bold"/>
                <a:sym typeface="Source Serif Pro Bold"/>
              </a:rPr>
              <a:t>Example Response:</a:t>
            </a:r>
          </a:p>
        </p:txBody>
      </p:sp>
      <p:grpSp>
        <p:nvGrpSpPr>
          <p:cNvPr id="19" name="Group 27">
            <a:extLst>
              <a:ext uri="{FF2B5EF4-FFF2-40B4-BE49-F238E27FC236}">
                <a16:creationId xmlns:a16="http://schemas.microsoft.com/office/drawing/2014/main" id="{75864F24-5A33-8E5C-EE29-1A79F2778C04}"/>
              </a:ext>
            </a:extLst>
          </p:cNvPr>
          <p:cNvGrpSpPr/>
          <p:nvPr/>
        </p:nvGrpSpPr>
        <p:grpSpPr>
          <a:xfrm>
            <a:off x="992238" y="7920781"/>
            <a:ext cx="16000407" cy="465236"/>
            <a:chOff x="0" y="0"/>
            <a:chExt cx="22982238" cy="620315"/>
          </a:xfrm>
        </p:grpSpPr>
        <p:sp>
          <p:nvSpPr>
            <p:cNvPr id="20" name="Freeform 28">
              <a:extLst>
                <a:ext uri="{FF2B5EF4-FFF2-40B4-BE49-F238E27FC236}">
                  <a16:creationId xmlns:a16="http://schemas.microsoft.com/office/drawing/2014/main" id="{80AD56BA-A8B9-420B-20F6-10AAB0B8FDEA}"/>
                </a:ext>
              </a:extLst>
            </p:cNvPr>
            <p:cNvSpPr/>
            <p:nvPr/>
          </p:nvSpPr>
          <p:spPr>
            <a:xfrm>
              <a:off x="0" y="0"/>
              <a:ext cx="22982301" cy="620395"/>
            </a:xfrm>
            <a:custGeom>
              <a:avLst/>
              <a:gdLst/>
              <a:ahLst/>
              <a:cxnLst/>
              <a:rect l="l" t="t" r="r" b="b"/>
              <a:pathLst>
                <a:path w="22982301" h="620395">
                  <a:moveTo>
                    <a:pt x="0" y="30099"/>
                  </a:moveTo>
                  <a:cubicBezTo>
                    <a:pt x="0" y="13462"/>
                    <a:pt x="13462" y="0"/>
                    <a:pt x="30099" y="0"/>
                  </a:cubicBezTo>
                  <a:lnTo>
                    <a:pt x="22952202" y="0"/>
                  </a:lnTo>
                  <a:cubicBezTo>
                    <a:pt x="22968840" y="0"/>
                    <a:pt x="22982301" y="13462"/>
                    <a:pt x="22982301" y="30099"/>
                  </a:cubicBezTo>
                  <a:lnTo>
                    <a:pt x="22982301" y="590296"/>
                  </a:lnTo>
                  <a:cubicBezTo>
                    <a:pt x="22982301" y="606933"/>
                    <a:pt x="22968840" y="620395"/>
                    <a:pt x="22952202" y="620395"/>
                  </a:cubicBezTo>
                  <a:lnTo>
                    <a:pt x="30099" y="620395"/>
                  </a:lnTo>
                  <a:cubicBezTo>
                    <a:pt x="13462" y="620268"/>
                    <a:pt x="0" y="606806"/>
                    <a:pt x="0" y="590296"/>
                  </a:cubicBezTo>
                  <a:close/>
                </a:path>
              </a:pathLst>
            </a:custGeom>
            <a:solidFill>
              <a:srgbClr val="F2F2F2"/>
            </a:solidFill>
          </p:spPr>
          <p:txBody>
            <a:bodyPr/>
            <a:lstStyle/>
            <a:p>
              <a:endParaRPr lang="en-US"/>
            </a:p>
          </p:txBody>
        </p:sp>
      </p:grpSp>
      <p:sp>
        <p:nvSpPr>
          <p:cNvPr id="23" name="TextBox 31">
            <a:extLst>
              <a:ext uri="{FF2B5EF4-FFF2-40B4-BE49-F238E27FC236}">
                <a16:creationId xmlns:a16="http://schemas.microsoft.com/office/drawing/2014/main" id="{A2AF4DAF-853F-FF6D-AD99-E2A355BCA8D5}"/>
              </a:ext>
            </a:extLst>
          </p:cNvPr>
          <p:cNvSpPr txBox="1"/>
          <p:nvPr/>
        </p:nvSpPr>
        <p:spPr>
          <a:xfrm>
            <a:off x="1134964" y="7957095"/>
            <a:ext cx="16951226" cy="316409"/>
          </a:xfrm>
          <a:prstGeom prst="rect">
            <a:avLst/>
          </a:prstGeom>
        </p:spPr>
        <p:txBody>
          <a:bodyPr lIns="0" tIns="0" rIns="0" bIns="0" rtlCol="0" anchor="t">
            <a:spAutoFit/>
          </a:bodyPr>
          <a:lstStyle/>
          <a:p>
            <a:pPr algn="l">
              <a:lnSpc>
                <a:spcPts val="1874"/>
              </a:lnSpc>
            </a:pPr>
            <a:r>
              <a:rPr lang="en-US" sz="1124">
                <a:solidFill>
                  <a:srgbClr val="504C49"/>
                </a:solidFill>
                <a:latin typeface="Consolas"/>
                <a:ea typeface="Consolas"/>
                <a:cs typeface="Consolas"/>
                <a:sym typeface="Consolas"/>
              </a:rPr>
              <a:t>{ "login": "octocat", "id": 1, "name": "The Octocat" }</a:t>
            </a:r>
          </a:p>
        </p:txBody>
      </p:sp>
    </p:spTree>
    <p:extLst>
      <p:ext uri="{BB962C8B-B14F-4D97-AF65-F5344CB8AC3E}">
        <p14:creationId xmlns:p14="http://schemas.microsoft.com/office/powerpoint/2010/main" val="786628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894010" y="654844"/>
            <a:ext cx="6386512" cy="845790"/>
          </a:xfrm>
          <a:prstGeom prst="rect">
            <a:avLst/>
          </a:prstGeom>
        </p:spPr>
        <p:txBody>
          <a:bodyPr lIns="0" tIns="0" rIns="0" bIns="0" rtlCol="0" anchor="t">
            <a:spAutoFit/>
          </a:bodyPr>
          <a:lstStyle/>
          <a:p>
            <a:pPr algn="l">
              <a:lnSpc>
                <a:spcPts val="6249"/>
              </a:lnSpc>
            </a:pPr>
            <a:r>
              <a:rPr lang="en-US" sz="4999">
                <a:solidFill>
                  <a:srgbClr val="201B18"/>
                </a:solidFill>
                <a:latin typeface="Arimo"/>
                <a:ea typeface="Arimo"/>
                <a:cs typeface="Arimo"/>
                <a:sym typeface="Arimo"/>
              </a:rPr>
              <a:t>REST APIs</a:t>
            </a:r>
          </a:p>
        </p:txBody>
      </p:sp>
      <p:sp>
        <p:nvSpPr>
          <p:cNvPr id="7" name="TextBox 7"/>
          <p:cNvSpPr txBox="1"/>
          <p:nvPr/>
        </p:nvSpPr>
        <p:spPr>
          <a:xfrm>
            <a:off x="894010" y="1935212"/>
            <a:ext cx="16499979" cy="1301800"/>
          </a:xfrm>
          <a:prstGeom prst="rect">
            <a:avLst/>
          </a:prstGeom>
        </p:spPr>
        <p:txBody>
          <a:bodyPr lIns="0" tIns="0" rIns="0" bIns="0" rtlCol="0" anchor="t">
            <a:spAutoFit/>
          </a:bodyPr>
          <a:lstStyle/>
          <a:p>
            <a:pPr algn="l">
              <a:lnSpc>
                <a:spcPts val="3187"/>
              </a:lnSpc>
            </a:pPr>
            <a:r>
              <a:rPr lang="en-US" sz="2000" b="1">
                <a:solidFill>
                  <a:srgbClr val="504C49"/>
                </a:solidFill>
                <a:latin typeface="Source Serif Pro Bold"/>
                <a:ea typeface="Source Serif Pro Bold"/>
                <a:cs typeface="Source Serif Pro Bold"/>
                <a:sym typeface="Source Serif Pro Bold"/>
              </a:rPr>
              <a:t>REST</a:t>
            </a:r>
            <a:r>
              <a:rPr lang="en-US" sz="2000">
                <a:solidFill>
                  <a:srgbClr val="504C49"/>
                </a:solidFill>
                <a:latin typeface="Source Serif Pro"/>
                <a:ea typeface="Source Serif Pro"/>
                <a:cs typeface="Source Serif Pro"/>
                <a:sym typeface="Source Serif Pro"/>
              </a:rPr>
              <a:t> (Representational State Transfer) is an architectural style for designing networked applications. It leverages standard HTTP methods to enable communication between client and server, focusing on resources and their representation. REST APIs are stateless, scalable, and built on the principles of the web.</a:t>
            </a:r>
          </a:p>
        </p:txBody>
      </p:sp>
      <p:sp>
        <p:nvSpPr>
          <p:cNvPr id="8" name="TextBox 8"/>
          <p:cNvSpPr txBox="1"/>
          <p:nvPr/>
        </p:nvSpPr>
        <p:spPr>
          <a:xfrm>
            <a:off x="894010" y="3581995"/>
            <a:ext cx="5225355" cy="676721"/>
          </a:xfrm>
          <a:prstGeom prst="rect">
            <a:avLst/>
          </a:prstGeom>
        </p:spPr>
        <p:txBody>
          <a:bodyPr lIns="0" tIns="0" rIns="0" bIns="0" rtlCol="0" anchor="t">
            <a:spAutoFit/>
          </a:bodyPr>
          <a:lstStyle/>
          <a:p>
            <a:pPr algn="l">
              <a:lnSpc>
                <a:spcPts val="5000"/>
              </a:lnSpc>
            </a:pPr>
            <a:r>
              <a:rPr lang="en-US" sz="4000">
                <a:solidFill>
                  <a:srgbClr val="201B18"/>
                </a:solidFill>
                <a:latin typeface="Arimo"/>
                <a:ea typeface="Arimo"/>
                <a:cs typeface="Arimo"/>
                <a:sym typeface="Arimo"/>
              </a:rPr>
              <a:t>Core REST Principles</a:t>
            </a:r>
          </a:p>
        </p:txBody>
      </p:sp>
      <p:grpSp>
        <p:nvGrpSpPr>
          <p:cNvPr id="9" name="Group 9"/>
          <p:cNvGrpSpPr/>
          <p:nvPr/>
        </p:nvGrpSpPr>
        <p:grpSpPr>
          <a:xfrm>
            <a:off x="879722" y="4627512"/>
            <a:ext cx="8150870" cy="2374404"/>
            <a:chOff x="0" y="0"/>
            <a:chExt cx="10867827" cy="3165872"/>
          </a:xfrm>
        </p:grpSpPr>
        <p:sp>
          <p:nvSpPr>
            <p:cNvPr id="10" name="Freeform 10"/>
            <p:cNvSpPr/>
            <p:nvPr/>
          </p:nvSpPr>
          <p:spPr>
            <a:xfrm>
              <a:off x="19050" y="19050"/>
              <a:ext cx="10829672" cy="3127756"/>
            </a:xfrm>
            <a:custGeom>
              <a:avLst/>
              <a:gdLst/>
              <a:ahLst/>
              <a:cxnLst/>
              <a:rect l="l" t="t" r="r" b="b"/>
              <a:pathLst>
                <a:path w="10829672" h="3127756">
                  <a:moveTo>
                    <a:pt x="0" y="182880"/>
                  </a:moveTo>
                  <a:cubicBezTo>
                    <a:pt x="0" y="81915"/>
                    <a:pt x="82550" y="0"/>
                    <a:pt x="184404" y="0"/>
                  </a:cubicBezTo>
                  <a:lnTo>
                    <a:pt x="10645267" y="0"/>
                  </a:lnTo>
                  <a:cubicBezTo>
                    <a:pt x="10747122" y="0"/>
                    <a:pt x="10829672" y="81915"/>
                    <a:pt x="10829672" y="182880"/>
                  </a:cubicBezTo>
                  <a:lnTo>
                    <a:pt x="10829672" y="2944876"/>
                  </a:lnTo>
                  <a:cubicBezTo>
                    <a:pt x="10829672" y="3045841"/>
                    <a:pt x="10747122" y="3127756"/>
                    <a:pt x="10645267" y="3127756"/>
                  </a:cubicBezTo>
                  <a:lnTo>
                    <a:pt x="184404" y="3127756"/>
                  </a:lnTo>
                  <a:cubicBezTo>
                    <a:pt x="82550" y="3127756"/>
                    <a:pt x="0" y="3045841"/>
                    <a:pt x="0" y="2944876"/>
                  </a:cubicBezTo>
                  <a:close/>
                </a:path>
              </a:pathLst>
            </a:custGeom>
            <a:solidFill>
              <a:srgbClr val="FFFFFF"/>
            </a:solidFill>
          </p:spPr>
          <p:txBody>
            <a:bodyPr/>
            <a:lstStyle/>
            <a:p>
              <a:endParaRPr lang="en-US"/>
            </a:p>
          </p:txBody>
        </p:sp>
        <p:sp>
          <p:nvSpPr>
            <p:cNvPr id="11" name="Freeform 11"/>
            <p:cNvSpPr/>
            <p:nvPr/>
          </p:nvSpPr>
          <p:spPr>
            <a:xfrm>
              <a:off x="0" y="0"/>
              <a:ext cx="10867772" cy="3165856"/>
            </a:xfrm>
            <a:custGeom>
              <a:avLst/>
              <a:gdLst/>
              <a:ahLst/>
              <a:cxnLst/>
              <a:rect l="l" t="t" r="r" b="b"/>
              <a:pathLst>
                <a:path w="10867772" h="3165856">
                  <a:moveTo>
                    <a:pt x="0" y="201930"/>
                  </a:moveTo>
                  <a:cubicBezTo>
                    <a:pt x="0" y="90297"/>
                    <a:pt x="91313" y="0"/>
                    <a:pt x="203454" y="0"/>
                  </a:cubicBezTo>
                  <a:lnTo>
                    <a:pt x="10664317" y="0"/>
                  </a:lnTo>
                  <a:lnTo>
                    <a:pt x="10664317" y="19050"/>
                  </a:lnTo>
                  <a:lnTo>
                    <a:pt x="10664317" y="0"/>
                  </a:lnTo>
                  <a:cubicBezTo>
                    <a:pt x="10776586" y="0"/>
                    <a:pt x="10867772" y="90297"/>
                    <a:pt x="10867772" y="201930"/>
                  </a:cubicBezTo>
                  <a:lnTo>
                    <a:pt x="10848722" y="201930"/>
                  </a:lnTo>
                  <a:lnTo>
                    <a:pt x="10867772" y="201930"/>
                  </a:lnTo>
                  <a:lnTo>
                    <a:pt x="10867772" y="2963926"/>
                  </a:lnTo>
                  <a:lnTo>
                    <a:pt x="10848722" y="2963926"/>
                  </a:lnTo>
                  <a:lnTo>
                    <a:pt x="10867772" y="2963926"/>
                  </a:lnTo>
                  <a:cubicBezTo>
                    <a:pt x="10867772" y="3075559"/>
                    <a:pt x="10776458" y="3165856"/>
                    <a:pt x="10664317" y="3165856"/>
                  </a:cubicBezTo>
                  <a:lnTo>
                    <a:pt x="10664317" y="3146806"/>
                  </a:lnTo>
                  <a:lnTo>
                    <a:pt x="10664317" y="3165856"/>
                  </a:lnTo>
                  <a:lnTo>
                    <a:pt x="203454" y="3165856"/>
                  </a:lnTo>
                  <a:lnTo>
                    <a:pt x="203454" y="3146806"/>
                  </a:lnTo>
                  <a:lnTo>
                    <a:pt x="203454" y="3165856"/>
                  </a:lnTo>
                  <a:cubicBezTo>
                    <a:pt x="91313" y="3165856"/>
                    <a:pt x="0" y="3075559"/>
                    <a:pt x="0" y="2963926"/>
                  </a:cubicBezTo>
                  <a:lnTo>
                    <a:pt x="0" y="201930"/>
                  </a:lnTo>
                  <a:lnTo>
                    <a:pt x="19050" y="201930"/>
                  </a:lnTo>
                  <a:lnTo>
                    <a:pt x="0" y="201930"/>
                  </a:lnTo>
                  <a:moveTo>
                    <a:pt x="38100" y="201930"/>
                  </a:moveTo>
                  <a:lnTo>
                    <a:pt x="38100" y="2963926"/>
                  </a:lnTo>
                  <a:lnTo>
                    <a:pt x="19050" y="2963926"/>
                  </a:lnTo>
                  <a:lnTo>
                    <a:pt x="38100" y="2963926"/>
                  </a:lnTo>
                  <a:cubicBezTo>
                    <a:pt x="38100" y="3054223"/>
                    <a:pt x="112014" y="3127756"/>
                    <a:pt x="203454" y="3127756"/>
                  </a:cubicBezTo>
                  <a:lnTo>
                    <a:pt x="10664317" y="3127756"/>
                  </a:lnTo>
                  <a:cubicBezTo>
                    <a:pt x="10755885" y="3127756"/>
                    <a:pt x="10829672" y="3054223"/>
                    <a:pt x="10829672" y="2963926"/>
                  </a:cubicBezTo>
                  <a:lnTo>
                    <a:pt x="10829672" y="201930"/>
                  </a:lnTo>
                  <a:cubicBezTo>
                    <a:pt x="10829672" y="111633"/>
                    <a:pt x="10755757" y="38100"/>
                    <a:pt x="10664317" y="38100"/>
                  </a:cubicBezTo>
                  <a:lnTo>
                    <a:pt x="203454" y="38100"/>
                  </a:lnTo>
                  <a:lnTo>
                    <a:pt x="203454" y="19050"/>
                  </a:lnTo>
                  <a:lnTo>
                    <a:pt x="203454" y="38100"/>
                  </a:lnTo>
                  <a:cubicBezTo>
                    <a:pt x="112014" y="38100"/>
                    <a:pt x="38100" y="111633"/>
                    <a:pt x="38100" y="201930"/>
                  </a:cubicBezTo>
                  <a:close/>
                </a:path>
              </a:pathLst>
            </a:custGeom>
            <a:solidFill>
              <a:srgbClr val="D8D4D4"/>
            </a:solidFill>
          </p:spPr>
          <p:txBody>
            <a:bodyPr/>
            <a:lstStyle/>
            <a:p>
              <a:endParaRPr lang="en-US"/>
            </a:p>
          </p:txBody>
        </p:sp>
      </p:grpSp>
      <p:grpSp>
        <p:nvGrpSpPr>
          <p:cNvPr id="12" name="Group 12"/>
          <p:cNvGrpSpPr/>
          <p:nvPr/>
        </p:nvGrpSpPr>
        <p:grpSpPr>
          <a:xfrm>
            <a:off x="865435" y="4641800"/>
            <a:ext cx="114300" cy="2345829"/>
            <a:chOff x="0" y="0"/>
            <a:chExt cx="152400" cy="3127772"/>
          </a:xfrm>
        </p:grpSpPr>
        <p:sp>
          <p:nvSpPr>
            <p:cNvPr id="13" name="Freeform 13"/>
            <p:cNvSpPr/>
            <p:nvPr/>
          </p:nvSpPr>
          <p:spPr>
            <a:xfrm>
              <a:off x="0" y="0"/>
              <a:ext cx="152400" cy="3127756"/>
            </a:xfrm>
            <a:custGeom>
              <a:avLst/>
              <a:gdLst/>
              <a:ahLst/>
              <a:cxnLst/>
              <a:rect l="l" t="t" r="r" b="b"/>
              <a:pathLst>
                <a:path w="152400" h="3127756">
                  <a:moveTo>
                    <a:pt x="0" y="51054"/>
                  </a:moveTo>
                  <a:cubicBezTo>
                    <a:pt x="0" y="22860"/>
                    <a:pt x="22860" y="0"/>
                    <a:pt x="51054" y="0"/>
                  </a:cubicBezTo>
                  <a:lnTo>
                    <a:pt x="101346" y="0"/>
                  </a:lnTo>
                  <a:cubicBezTo>
                    <a:pt x="129540" y="0"/>
                    <a:pt x="152400" y="22860"/>
                    <a:pt x="152400" y="51054"/>
                  </a:cubicBezTo>
                  <a:lnTo>
                    <a:pt x="152400" y="3076702"/>
                  </a:lnTo>
                  <a:cubicBezTo>
                    <a:pt x="152400" y="3104896"/>
                    <a:pt x="129540" y="3127756"/>
                    <a:pt x="101346" y="3127756"/>
                  </a:cubicBezTo>
                  <a:lnTo>
                    <a:pt x="51054" y="3127756"/>
                  </a:lnTo>
                  <a:cubicBezTo>
                    <a:pt x="22860" y="3127756"/>
                    <a:pt x="0" y="3104896"/>
                    <a:pt x="0" y="3076702"/>
                  </a:cubicBezTo>
                  <a:close/>
                </a:path>
              </a:pathLst>
            </a:custGeom>
            <a:solidFill>
              <a:srgbClr val="3E2513"/>
            </a:solidFill>
          </p:spPr>
          <p:txBody>
            <a:bodyPr/>
            <a:lstStyle/>
            <a:p>
              <a:endParaRPr lang="en-US"/>
            </a:p>
          </p:txBody>
        </p:sp>
      </p:grpSp>
      <p:sp>
        <p:nvSpPr>
          <p:cNvPr id="14" name="TextBox 14"/>
          <p:cNvSpPr txBox="1"/>
          <p:nvPr/>
        </p:nvSpPr>
        <p:spPr>
          <a:xfrm>
            <a:off x="1263700" y="4897190"/>
            <a:ext cx="4111229" cy="427733"/>
          </a:xfrm>
          <a:prstGeom prst="rect">
            <a:avLst/>
          </a:prstGeom>
        </p:spPr>
        <p:txBody>
          <a:bodyPr lIns="0" tIns="0" rIns="0" bIns="0" rtlCol="0" anchor="t">
            <a:spAutoFit/>
          </a:bodyPr>
          <a:lstStyle/>
          <a:p>
            <a:pPr algn="l">
              <a:lnSpc>
                <a:spcPts val="3124"/>
              </a:lnSpc>
            </a:pPr>
            <a:r>
              <a:rPr lang="en-US" sz="2499">
                <a:solidFill>
                  <a:srgbClr val="504C49"/>
                </a:solidFill>
                <a:latin typeface="Arimo"/>
                <a:ea typeface="Arimo"/>
                <a:cs typeface="Arimo"/>
                <a:sym typeface="Arimo"/>
              </a:rPr>
              <a:t>Client-Server Architecture</a:t>
            </a:r>
          </a:p>
        </p:txBody>
      </p:sp>
      <p:sp>
        <p:nvSpPr>
          <p:cNvPr id="15" name="TextBox 15"/>
          <p:cNvSpPr txBox="1"/>
          <p:nvPr/>
        </p:nvSpPr>
        <p:spPr>
          <a:xfrm>
            <a:off x="1263700" y="5401866"/>
            <a:ext cx="7468641" cy="893266"/>
          </a:xfrm>
          <a:prstGeom prst="rect">
            <a:avLst/>
          </a:prstGeom>
        </p:spPr>
        <p:txBody>
          <a:bodyPr lIns="0" tIns="0" rIns="0" bIns="0" rtlCol="0" anchor="t">
            <a:spAutoFit/>
          </a:bodyPr>
          <a:lstStyle/>
          <a:p>
            <a:pPr algn="l">
              <a:lnSpc>
                <a:spcPts val="3187"/>
              </a:lnSpc>
            </a:pPr>
            <a:r>
              <a:rPr lang="en-US" sz="2000">
                <a:solidFill>
                  <a:srgbClr val="504C49"/>
                </a:solidFill>
                <a:latin typeface="Source Serif Pro"/>
                <a:ea typeface="Source Serif Pro"/>
                <a:cs typeface="Source Serif Pro"/>
                <a:sym typeface="Source Serif Pro"/>
              </a:rPr>
              <a:t>Separation of concerns between the client (UI) and the server (data storage), improving portability and scalability.</a:t>
            </a:r>
          </a:p>
        </p:txBody>
      </p:sp>
      <p:grpSp>
        <p:nvGrpSpPr>
          <p:cNvPr id="16" name="Group 16"/>
          <p:cNvGrpSpPr/>
          <p:nvPr/>
        </p:nvGrpSpPr>
        <p:grpSpPr>
          <a:xfrm>
            <a:off x="9257408" y="4627512"/>
            <a:ext cx="8150870" cy="2374404"/>
            <a:chOff x="0" y="0"/>
            <a:chExt cx="10867827" cy="3165872"/>
          </a:xfrm>
        </p:grpSpPr>
        <p:sp>
          <p:nvSpPr>
            <p:cNvPr id="17" name="Freeform 17"/>
            <p:cNvSpPr/>
            <p:nvPr/>
          </p:nvSpPr>
          <p:spPr>
            <a:xfrm>
              <a:off x="19050" y="19050"/>
              <a:ext cx="10829672" cy="3127756"/>
            </a:xfrm>
            <a:custGeom>
              <a:avLst/>
              <a:gdLst/>
              <a:ahLst/>
              <a:cxnLst/>
              <a:rect l="l" t="t" r="r" b="b"/>
              <a:pathLst>
                <a:path w="10829672" h="3127756">
                  <a:moveTo>
                    <a:pt x="0" y="182880"/>
                  </a:moveTo>
                  <a:cubicBezTo>
                    <a:pt x="0" y="81915"/>
                    <a:pt x="82550" y="0"/>
                    <a:pt x="184404" y="0"/>
                  </a:cubicBezTo>
                  <a:lnTo>
                    <a:pt x="10645267" y="0"/>
                  </a:lnTo>
                  <a:cubicBezTo>
                    <a:pt x="10747122" y="0"/>
                    <a:pt x="10829672" y="81915"/>
                    <a:pt x="10829672" y="182880"/>
                  </a:cubicBezTo>
                  <a:lnTo>
                    <a:pt x="10829672" y="2944876"/>
                  </a:lnTo>
                  <a:cubicBezTo>
                    <a:pt x="10829672" y="3045841"/>
                    <a:pt x="10747122" y="3127756"/>
                    <a:pt x="10645267" y="3127756"/>
                  </a:cubicBezTo>
                  <a:lnTo>
                    <a:pt x="184404" y="3127756"/>
                  </a:lnTo>
                  <a:cubicBezTo>
                    <a:pt x="82550" y="3127756"/>
                    <a:pt x="0" y="3045841"/>
                    <a:pt x="0" y="2944876"/>
                  </a:cubicBezTo>
                  <a:close/>
                </a:path>
              </a:pathLst>
            </a:custGeom>
            <a:solidFill>
              <a:srgbClr val="FFFFFF"/>
            </a:solidFill>
          </p:spPr>
          <p:txBody>
            <a:bodyPr/>
            <a:lstStyle/>
            <a:p>
              <a:endParaRPr lang="en-US"/>
            </a:p>
          </p:txBody>
        </p:sp>
        <p:sp>
          <p:nvSpPr>
            <p:cNvPr id="18" name="Freeform 18"/>
            <p:cNvSpPr/>
            <p:nvPr/>
          </p:nvSpPr>
          <p:spPr>
            <a:xfrm>
              <a:off x="0" y="0"/>
              <a:ext cx="10867772" cy="3165856"/>
            </a:xfrm>
            <a:custGeom>
              <a:avLst/>
              <a:gdLst/>
              <a:ahLst/>
              <a:cxnLst/>
              <a:rect l="l" t="t" r="r" b="b"/>
              <a:pathLst>
                <a:path w="10867772" h="3165856">
                  <a:moveTo>
                    <a:pt x="0" y="201930"/>
                  </a:moveTo>
                  <a:cubicBezTo>
                    <a:pt x="0" y="90297"/>
                    <a:pt x="91313" y="0"/>
                    <a:pt x="203454" y="0"/>
                  </a:cubicBezTo>
                  <a:lnTo>
                    <a:pt x="10664317" y="0"/>
                  </a:lnTo>
                  <a:lnTo>
                    <a:pt x="10664317" y="19050"/>
                  </a:lnTo>
                  <a:lnTo>
                    <a:pt x="10664317" y="0"/>
                  </a:lnTo>
                  <a:cubicBezTo>
                    <a:pt x="10776586" y="0"/>
                    <a:pt x="10867772" y="90297"/>
                    <a:pt x="10867772" y="201930"/>
                  </a:cubicBezTo>
                  <a:lnTo>
                    <a:pt x="10848722" y="201930"/>
                  </a:lnTo>
                  <a:lnTo>
                    <a:pt x="10867772" y="201930"/>
                  </a:lnTo>
                  <a:lnTo>
                    <a:pt x="10867772" y="2963926"/>
                  </a:lnTo>
                  <a:lnTo>
                    <a:pt x="10848722" y="2963926"/>
                  </a:lnTo>
                  <a:lnTo>
                    <a:pt x="10867772" y="2963926"/>
                  </a:lnTo>
                  <a:cubicBezTo>
                    <a:pt x="10867772" y="3075559"/>
                    <a:pt x="10776458" y="3165856"/>
                    <a:pt x="10664317" y="3165856"/>
                  </a:cubicBezTo>
                  <a:lnTo>
                    <a:pt x="10664317" y="3146806"/>
                  </a:lnTo>
                  <a:lnTo>
                    <a:pt x="10664317" y="3165856"/>
                  </a:lnTo>
                  <a:lnTo>
                    <a:pt x="203454" y="3165856"/>
                  </a:lnTo>
                  <a:lnTo>
                    <a:pt x="203454" y="3146806"/>
                  </a:lnTo>
                  <a:lnTo>
                    <a:pt x="203454" y="3165856"/>
                  </a:lnTo>
                  <a:cubicBezTo>
                    <a:pt x="91313" y="3165856"/>
                    <a:pt x="0" y="3075559"/>
                    <a:pt x="0" y="2963926"/>
                  </a:cubicBezTo>
                  <a:lnTo>
                    <a:pt x="0" y="201930"/>
                  </a:lnTo>
                  <a:lnTo>
                    <a:pt x="19050" y="201930"/>
                  </a:lnTo>
                  <a:lnTo>
                    <a:pt x="0" y="201930"/>
                  </a:lnTo>
                  <a:moveTo>
                    <a:pt x="38100" y="201930"/>
                  </a:moveTo>
                  <a:lnTo>
                    <a:pt x="38100" y="2963926"/>
                  </a:lnTo>
                  <a:lnTo>
                    <a:pt x="19050" y="2963926"/>
                  </a:lnTo>
                  <a:lnTo>
                    <a:pt x="38100" y="2963926"/>
                  </a:lnTo>
                  <a:cubicBezTo>
                    <a:pt x="38100" y="3054223"/>
                    <a:pt x="112014" y="3127756"/>
                    <a:pt x="203454" y="3127756"/>
                  </a:cubicBezTo>
                  <a:lnTo>
                    <a:pt x="10664317" y="3127756"/>
                  </a:lnTo>
                  <a:cubicBezTo>
                    <a:pt x="10755885" y="3127756"/>
                    <a:pt x="10829672" y="3054223"/>
                    <a:pt x="10829672" y="2963926"/>
                  </a:cubicBezTo>
                  <a:lnTo>
                    <a:pt x="10829672" y="201930"/>
                  </a:lnTo>
                  <a:cubicBezTo>
                    <a:pt x="10829672" y="111633"/>
                    <a:pt x="10755757" y="38100"/>
                    <a:pt x="10664317" y="38100"/>
                  </a:cubicBezTo>
                  <a:lnTo>
                    <a:pt x="203454" y="38100"/>
                  </a:lnTo>
                  <a:lnTo>
                    <a:pt x="203454" y="19050"/>
                  </a:lnTo>
                  <a:lnTo>
                    <a:pt x="203454" y="38100"/>
                  </a:lnTo>
                  <a:cubicBezTo>
                    <a:pt x="112014" y="38100"/>
                    <a:pt x="38100" y="111633"/>
                    <a:pt x="38100" y="201930"/>
                  </a:cubicBezTo>
                  <a:close/>
                </a:path>
              </a:pathLst>
            </a:custGeom>
            <a:solidFill>
              <a:srgbClr val="D8D4D4"/>
            </a:solidFill>
          </p:spPr>
          <p:txBody>
            <a:bodyPr/>
            <a:lstStyle/>
            <a:p>
              <a:endParaRPr lang="en-US"/>
            </a:p>
          </p:txBody>
        </p:sp>
      </p:grpSp>
      <p:grpSp>
        <p:nvGrpSpPr>
          <p:cNvPr id="19" name="Group 19"/>
          <p:cNvGrpSpPr/>
          <p:nvPr/>
        </p:nvGrpSpPr>
        <p:grpSpPr>
          <a:xfrm>
            <a:off x="9243120" y="4641800"/>
            <a:ext cx="114300" cy="2345829"/>
            <a:chOff x="0" y="0"/>
            <a:chExt cx="152400" cy="3127772"/>
          </a:xfrm>
        </p:grpSpPr>
        <p:sp>
          <p:nvSpPr>
            <p:cNvPr id="20" name="Freeform 20"/>
            <p:cNvSpPr/>
            <p:nvPr/>
          </p:nvSpPr>
          <p:spPr>
            <a:xfrm>
              <a:off x="0" y="0"/>
              <a:ext cx="152400" cy="3127756"/>
            </a:xfrm>
            <a:custGeom>
              <a:avLst/>
              <a:gdLst/>
              <a:ahLst/>
              <a:cxnLst/>
              <a:rect l="l" t="t" r="r" b="b"/>
              <a:pathLst>
                <a:path w="152400" h="3127756">
                  <a:moveTo>
                    <a:pt x="0" y="51054"/>
                  </a:moveTo>
                  <a:cubicBezTo>
                    <a:pt x="0" y="22860"/>
                    <a:pt x="22860" y="0"/>
                    <a:pt x="51054" y="0"/>
                  </a:cubicBezTo>
                  <a:lnTo>
                    <a:pt x="101346" y="0"/>
                  </a:lnTo>
                  <a:cubicBezTo>
                    <a:pt x="129540" y="0"/>
                    <a:pt x="152400" y="22860"/>
                    <a:pt x="152400" y="51054"/>
                  </a:cubicBezTo>
                  <a:lnTo>
                    <a:pt x="152400" y="3076702"/>
                  </a:lnTo>
                  <a:cubicBezTo>
                    <a:pt x="152400" y="3104896"/>
                    <a:pt x="129540" y="3127756"/>
                    <a:pt x="101346" y="3127756"/>
                  </a:cubicBezTo>
                  <a:lnTo>
                    <a:pt x="51054" y="3127756"/>
                  </a:lnTo>
                  <a:cubicBezTo>
                    <a:pt x="22860" y="3127756"/>
                    <a:pt x="0" y="3104896"/>
                    <a:pt x="0" y="3076702"/>
                  </a:cubicBezTo>
                  <a:close/>
                </a:path>
              </a:pathLst>
            </a:custGeom>
            <a:solidFill>
              <a:srgbClr val="3E2513"/>
            </a:solidFill>
          </p:spPr>
          <p:txBody>
            <a:bodyPr/>
            <a:lstStyle/>
            <a:p>
              <a:endParaRPr lang="en-US"/>
            </a:p>
          </p:txBody>
        </p:sp>
      </p:grpSp>
      <p:sp>
        <p:nvSpPr>
          <p:cNvPr id="21" name="TextBox 21"/>
          <p:cNvSpPr txBox="1"/>
          <p:nvPr/>
        </p:nvSpPr>
        <p:spPr>
          <a:xfrm>
            <a:off x="9641384" y="4897190"/>
            <a:ext cx="3193256" cy="427733"/>
          </a:xfrm>
          <a:prstGeom prst="rect">
            <a:avLst/>
          </a:prstGeom>
        </p:spPr>
        <p:txBody>
          <a:bodyPr lIns="0" tIns="0" rIns="0" bIns="0" rtlCol="0" anchor="t">
            <a:spAutoFit/>
          </a:bodyPr>
          <a:lstStyle/>
          <a:p>
            <a:pPr algn="l">
              <a:lnSpc>
                <a:spcPts val="3124"/>
              </a:lnSpc>
            </a:pPr>
            <a:r>
              <a:rPr lang="en-US" sz="2499">
                <a:solidFill>
                  <a:srgbClr val="504C49"/>
                </a:solidFill>
                <a:latin typeface="Arimo"/>
                <a:ea typeface="Arimo"/>
                <a:cs typeface="Arimo"/>
                <a:sym typeface="Arimo"/>
              </a:rPr>
              <a:t>Statelessness</a:t>
            </a:r>
          </a:p>
        </p:txBody>
      </p:sp>
      <p:sp>
        <p:nvSpPr>
          <p:cNvPr id="22" name="TextBox 22"/>
          <p:cNvSpPr txBox="1"/>
          <p:nvPr/>
        </p:nvSpPr>
        <p:spPr>
          <a:xfrm>
            <a:off x="9641384" y="5401866"/>
            <a:ext cx="7468641" cy="1301800"/>
          </a:xfrm>
          <a:prstGeom prst="rect">
            <a:avLst/>
          </a:prstGeom>
        </p:spPr>
        <p:txBody>
          <a:bodyPr lIns="0" tIns="0" rIns="0" bIns="0" rtlCol="0" anchor="t">
            <a:spAutoFit/>
          </a:bodyPr>
          <a:lstStyle/>
          <a:p>
            <a:pPr algn="l">
              <a:lnSpc>
                <a:spcPts val="3187"/>
              </a:lnSpc>
            </a:pPr>
            <a:r>
              <a:rPr lang="en-US" sz="2000">
                <a:solidFill>
                  <a:srgbClr val="504C49"/>
                </a:solidFill>
                <a:latin typeface="Source Serif Pro"/>
                <a:ea typeface="Source Serif Pro"/>
                <a:cs typeface="Source Serif Pro"/>
                <a:sym typeface="Source Serif Pro"/>
              </a:rPr>
              <a:t>Each request from a client to a server must contain all the information needed to understand the request. The server will not store any client context between requests.</a:t>
            </a:r>
          </a:p>
        </p:txBody>
      </p:sp>
      <p:grpSp>
        <p:nvGrpSpPr>
          <p:cNvPr id="23" name="Group 23"/>
          <p:cNvGrpSpPr/>
          <p:nvPr/>
        </p:nvGrpSpPr>
        <p:grpSpPr>
          <a:xfrm>
            <a:off x="879722" y="7228731"/>
            <a:ext cx="8150870" cy="2374404"/>
            <a:chOff x="0" y="0"/>
            <a:chExt cx="10867827" cy="3165872"/>
          </a:xfrm>
        </p:grpSpPr>
        <p:sp>
          <p:nvSpPr>
            <p:cNvPr id="24" name="Freeform 24"/>
            <p:cNvSpPr/>
            <p:nvPr/>
          </p:nvSpPr>
          <p:spPr>
            <a:xfrm>
              <a:off x="19050" y="19050"/>
              <a:ext cx="10829672" cy="3127756"/>
            </a:xfrm>
            <a:custGeom>
              <a:avLst/>
              <a:gdLst/>
              <a:ahLst/>
              <a:cxnLst/>
              <a:rect l="l" t="t" r="r" b="b"/>
              <a:pathLst>
                <a:path w="10829672" h="3127756">
                  <a:moveTo>
                    <a:pt x="0" y="182880"/>
                  </a:moveTo>
                  <a:cubicBezTo>
                    <a:pt x="0" y="81915"/>
                    <a:pt x="82550" y="0"/>
                    <a:pt x="184404" y="0"/>
                  </a:cubicBezTo>
                  <a:lnTo>
                    <a:pt x="10645267" y="0"/>
                  </a:lnTo>
                  <a:cubicBezTo>
                    <a:pt x="10747122" y="0"/>
                    <a:pt x="10829672" y="81915"/>
                    <a:pt x="10829672" y="182880"/>
                  </a:cubicBezTo>
                  <a:lnTo>
                    <a:pt x="10829672" y="2944876"/>
                  </a:lnTo>
                  <a:cubicBezTo>
                    <a:pt x="10829672" y="3045841"/>
                    <a:pt x="10747122" y="3127756"/>
                    <a:pt x="10645267" y="3127756"/>
                  </a:cubicBezTo>
                  <a:lnTo>
                    <a:pt x="184404" y="3127756"/>
                  </a:lnTo>
                  <a:cubicBezTo>
                    <a:pt x="82550" y="3127756"/>
                    <a:pt x="0" y="3045841"/>
                    <a:pt x="0" y="2944876"/>
                  </a:cubicBezTo>
                  <a:close/>
                </a:path>
              </a:pathLst>
            </a:custGeom>
            <a:solidFill>
              <a:srgbClr val="FFFFFF"/>
            </a:solidFill>
          </p:spPr>
          <p:txBody>
            <a:bodyPr/>
            <a:lstStyle/>
            <a:p>
              <a:endParaRPr lang="en-US"/>
            </a:p>
          </p:txBody>
        </p:sp>
        <p:sp>
          <p:nvSpPr>
            <p:cNvPr id="25" name="Freeform 25"/>
            <p:cNvSpPr/>
            <p:nvPr/>
          </p:nvSpPr>
          <p:spPr>
            <a:xfrm>
              <a:off x="0" y="0"/>
              <a:ext cx="10867772" cy="3165856"/>
            </a:xfrm>
            <a:custGeom>
              <a:avLst/>
              <a:gdLst/>
              <a:ahLst/>
              <a:cxnLst/>
              <a:rect l="l" t="t" r="r" b="b"/>
              <a:pathLst>
                <a:path w="10867772" h="3165856">
                  <a:moveTo>
                    <a:pt x="0" y="201930"/>
                  </a:moveTo>
                  <a:cubicBezTo>
                    <a:pt x="0" y="90297"/>
                    <a:pt x="91313" y="0"/>
                    <a:pt x="203454" y="0"/>
                  </a:cubicBezTo>
                  <a:lnTo>
                    <a:pt x="10664317" y="0"/>
                  </a:lnTo>
                  <a:lnTo>
                    <a:pt x="10664317" y="19050"/>
                  </a:lnTo>
                  <a:lnTo>
                    <a:pt x="10664317" y="0"/>
                  </a:lnTo>
                  <a:cubicBezTo>
                    <a:pt x="10776586" y="0"/>
                    <a:pt x="10867772" y="90297"/>
                    <a:pt x="10867772" y="201930"/>
                  </a:cubicBezTo>
                  <a:lnTo>
                    <a:pt x="10848722" y="201930"/>
                  </a:lnTo>
                  <a:lnTo>
                    <a:pt x="10867772" y="201930"/>
                  </a:lnTo>
                  <a:lnTo>
                    <a:pt x="10867772" y="2963926"/>
                  </a:lnTo>
                  <a:lnTo>
                    <a:pt x="10848722" y="2963926"/>
                  </a:lnTo>
                  <a:lnTo>
                    <a:pt x="10867772" y="2963926"/>
                  </a:lnTo>
                  <a:cubicBezTo>
                    <a:pt x="10867772" y="3075559"/>
                    <a:pt x="10776458" y="3165856"/>
                    <a:pt x="10664317" y="3165856"/>
                  </a:cubicBezTo>
                  <a:lnTo>
                    <a:pt x="10664317" y="3146806"/>
                  </a:lnTo>
                  <a:lnTo>
                    <a:pt x="10664317" y="3165856"/>
                  </a:lnTo>
                  <a:lnTo>
                    <a:pt x="203454" y="3165856"/>
                  </a:lnTo>
                  <a:lnTo>
                    <a:pt x="203454" y="3146806"/>
                  </a:lnTo>
                  <a:lnTo>
                    <a:pt x="203454" y="3165856"/>
                  </a:lnTo>
                  <a:cubicBezTo>
                    <a:pt x="91313" y="3165856"/>
                    <a:pt x="0" y="3075559"/>
                    <a:pt x="0" y="2963926"/>
                  </a:cubicBezTo>
                  <a:lnTo>
                    <a:pt x="0" y="201930"/>
                  </a:lnTo>
                  <a:lnTo>
                    <a:pt x="19050" y="201930"/>
                  </a:lnTo>
                  <a:lnTo>
                    <a:pt x="0" y="201930"/>
                  </a:lnTo>
                  <a:moveTo>
                    <a:pt x="38100" y="201930"/>
                  </a:moveTo>
                  <a:lnTo>
                    <a:pt x="38100" y="2963926"/>
                  </a:lnTo>
                  <a:lnTo>
                    <a:pt x="19050" y="2963926"/>
                  </a:lnTo>
                  <a:lnTo>
                    <a:pt x="38100" y="2963926"/>
                  </a:lnTo>
                  <a:cubicBezTo>
                    <a:pt x="38100" y="3054223"/>
                    <a:pt x="112014" y="3127756"/>
                    <a:pt x="203454" y="3127756"/>
                  </a:cubicBezTo>
                  <a:lnTo>
                    <a:pt x="10664317" y="3127756"/>
                  </a:lnTo>
                  <a:cubicBezTo>
                    <a:pt x="10755885" y="3127756"/>
                    <a:pt x="10829672" y="3054223"/>
                    <a:pt x="10829672" y="2963926"/>
                  </a:cubicBezTo>
                  <a:lnTo>
                    <a:pt x="10829672" y="201930"/>
                  </a:lnTo>
                  <a:cubicBezTo>
                    <a:pt x="10829672" y="111633"/>
                    <a:pt x="10755757" y="38100"/>
                    <a:pt x="10664317" y="38100"/>
                  </a:cubicBezTo>
                  <a:lnTo>
                    <a:pt x="203454" y="38100"/>
                  </a:lnTo>
                  <a:lnTo>
                    <a:pt x="203454" y="19050"/>
                  </a:lnTo>
                  <a:lnTo>
                    <a:pt x="203454" y="38100"/>
                  </a:lnTo>
                  <a:cubicBezTo>
                    <a:pt x="112014" y="38100"/>
                    <a:pt x="38100" y="111633"/>
                    <a:pt x="38100" y="201930"/>
                  </a:cubicBezTo>
                  <a:close/>
                </a:path>
              </a:pathLst>
            </a:custGeom>
            <a:solidFill>
              <a:srgbClr val="D8D4D4"/>
            </a:solidFill>
          </p:spPr>
          <p:txBody>
            <a:bodyPr/>
            <a:lstStyle/>
            <a:p>
              <a:endParaRPr lang="en-US"/>
            </a:p>
          </p:txBody>
        </p:sp>
      </p:grpSp>
      <p:grpSp>
        <p:nvGrpSpPr>
          <p:cNvPr id="26" name="Group 26"/>
          <p:cNvGrpSpPr/>
          <p:nvPr/>
        </p:nvGrpSpPr>
        <p:grpSpPr>
          <a:xfrm>
            <a:off x="865435" y="7243019"/>
            <a:ext cx="114300" cy="2345829"/>
            <a:chOff x="0" y="0"/>
            <a:chExt cx="152400" cy="3127772"/>
          </a:xfrm>
        </p:grpSpPr>
        <p:sp>
          <p:nvSpPr>
            <p:cNvPr id="27" name="Freeform 27"/>
            <p:cNvSpPr/>
            <p:nvPr/>
          </p:nvSpPr>
          <p:spPr>
            <a:xfrm>
              <a:off x="0" y="0"/>
              <a:ext cx="152400" cy="3127756"/>
            </a:xfrm>
            <a:custGeom>
              <a:avLst/>
              <a:gdLst/>
              <a:ahLst/>
              <a:cxnLst/>
              <a:rect l="l" t="t" r="r" b="b"/>
              <a:pathLst>
                <a:path w="152400" h="3127756">
                  <a:moveTo>
                    <a:pt x="0" y="51054"/>
                  </a:moveTo>
                  <a:cubicBezTo>
                    <a:pt x="0" y="22860"/>
                    <a:pt x="22860" y="0"/>
                    <a:pt x="51054" y="0"/>
                  </a:cubicBezTo>
                  <a:lnTo>
                    <a:pt x="101346" y="0"/>
                  </a:lnTo>
                  <a:cubicBezTo>
                    <a:pt x="129540" y="0"/>
                    <a:pt x="152400" y="22860"/>
                    <a:pt x="152400" y="51054"/>
                  </a:cubicBezTo>
                  <a:lnTo>
                    <a:pt x="152400" y="3076702"/>
                  </a:lnTo>
                  <a:cubicBezTo>
                    <a:pt x="152400" y="3104896"/>
                    <a:pt x="129540" y="3127756"/>
                    <a:pt x="101346" y="3127756"/>
                  </a:cubicBezTo>
                  <a:lnTo>
                    <a:pt x="51054" y="3127756"/>
                  </a:lnTo>
                  <a:cubicBezTo>
                    <a:pt x="22860" y="3127756"/>
                    <a:pt x="0" y="3104896"/>
                    <a:pt x="0" y="3076702"/>
                  </a:cubicBezTo>
                  <a:close/>
                </a:path>
              </a:pathLst>
            </a:custGeom>
            <a:solidFill>
              <a:srgbClr val="3E2513"/>
            </a:solidFill>
          </p:spPr>
          <p:txBody>
            <a:bodyPr/>
            <a:lstStyle/>
            <a:p>
              <a:endParaRPr lang="en-US"/>
            </a:p>
          </p:txBody>
        </p:sp>
      </p:grpSp>
      <p:sp>
        <p:nvSpPr>
          <p:cNvPr id="28" name="TextBox 28"/>
          <p:cNvSpPr txBox="1"/>
          <p:nvPr/>
        </p:nvSpPr>
        <p:spPr>
          <a:xfrm>
            <a:off x="1263700" y="7498407"/>
            <a:ext cx="3193256" cy="427733"/>
          </a:xfrm>
          <a:prstGeom prst="rect">
            <a:avLst/>
          </a:prstGeom>
        </p:spPr>
        <p:txBody>
          <a:bodyPr lIns="0" tIns="0" rIns="0" bIns="0" rtlCol="0" anchor="t">
            <a:spAutoFit/>
          </a:bodyPr>
          <a:lstStyle/>
          <a:p>
            <a:pPr algn="l">
              <a:lnSpc>
                <a:spcPts val="3124"/>
              </a:lnSpc>
            </a:pPr>
            <a:r>
              <a:rPr lang="en-US" sz="2499">
                <a:solidFill>
                  <a:srgbClr val="504C49"/>
                </a:solidFill>
                <a:latin typeface="Arimo"/>
                <a:ea typeface="Arimo"/>
                <a:cs typeface="Arimo"/>
                <a:sym typeface="Arimo"/>
              </a:rPr>
              <a:t>Cacheability</a:t>
            </a:r>
          </a:p>
        </p:txBody>
      </p:sp>
      <p:sp>
        <p:nvSpPr>
          <p:cNvPr id="29" name="TextBox 29"/>
          <p:cNvSpPr txBox="1"/>
          <p:nvPr/>
        </p:nvSpPr>
        <p:spPr>
          <a:xfrm>
            <a:off x="1263700" y="8003084"/>
            <a:ext cx="7468641" cy="1301800"/>
          </a:xfrm>
          <a:prstGeom prst="rect">
            <a:avLst/>
          </a:prstGeom>
        </p:spPr>
        <p:txBody>
          <a:bodyPr lIns="0" tIns="0" rIns="0" bIns="0" rtlCol="0" anchor="t">
            <a:spAutoFit/>
          </a:bodyPr>
          <a:lstStyle/>
          <a:p>
            <a:pPr algn="l">
              <a:lnSpc>
                <a:spcPts val="3187"/>
              </a:lnSpc>
            </a:pPr>
            <a:r>
              <a:rPr lang="en-US" sz="2000">
                <a:solidFill>
                  <a:srgbClr val="504C49"/>
                </a:solidFill>
                <a:latin typeface="Source Serif Pro"/>
                <a:ea typeface="Source Serif Pro"/>
                <a:cs typeface="Source Serif Pro"/>
                <a:sym typeface="Source Serif Pro"/>
              </a:rPr>
              <a:t>Responses must implicitly or explicitly define themselves as cacheable to prevent unnecessary requests, improving performance.</a:t>
            </a:r>
          </a:p>
        </p:txBody>
      </p:sp>
      <p:grpSp>
        <p:nvGrpSpPr>
          <p:cNvPr id="30" name="Group 30"/>
          <p:cNvGrpSpPr/>
          <p:nvPr/>
        </p:nvGrpSpPr>
        <p:grpSpPr>
          <a:xfrm>
            <a:off x="9257408" y="7228731"/>
            <a:ext cx="8150870" cy="2374404"/>
            <a:chOff x="0" y="0"/>
            <a:chExt cx="10867827" cy="3165872"/>
          </a:xfrm>
        </p:grpSpPr>
        <p:sp>
          <p:nvSpPr>
            <p:cNvPr id="31" name="Freeform 31"/>
            <p:cNvSpPr/>
            <p:nvPr/>
          </p:nvSpPr>
          <p:spPr>
            <a:xfrm>
              <a:off x="19050" y="19050"/>
              <a:ext cx="10829672" cy="3127756"/>
            </a:xfrm>
            <a:custGeom>
              <a:avLst/>
              <a:gdLst/>
              <a:ahLst/>
              <a:cxnLst/>
              <a:rect l="l" t="t" r="r" b="b"/>
              <a:pathLst>
                <a:path w="10829672" h="3127756">
                  <a:moveTo>
                    <a:pt x="0" y="182880"/>
                  </a:moveTo>
                  <a:cubicBezTo>
                    <a:pt x="0" y="81915"/>
                    <a:pt x="82550" y="0"/>
                    <a:pt x="184404" y="0"/>
                  </a:cubicBezTo>
                  <a:lnTo>
                    <a:pt x="10645267" y="0"/>
                  </a:lnTo>
                  <a:cubicBezTo>
                    <a:pt x="10747122" y="0"/>
                    <a:pt x="10829672" y="81915"/>
                    <a:pt x="10829672" y="182880"/>
                  </a:cubicBezTo>
                  <a:lnTo>
                    <a:pt x="10829672" y="2944876"/>
                  </a:lnTo>
                  <a:cubicBezTo>
                    <a:pt x="10829672" y="3045841"/>
                    <a:pt x="10747122" y="3127756"/>
                    <a:pt x="10645267" y="3127756"/>
                  </a:cubicBezTo>
                  <a:lnTo>
                    <a:pt x="184404" y="3127756"/>
                  </a:lnTo>
                  <a:cubicBezTo>
                    <a:pt x="82550" y="3127756"/>
                    <a:pt x="0" y="3045841"/>
                    <a:pt x="0" y="2944876"/>
                  </a:cubicBezTo>
                  <a:close/>
                </a:path>
              </a:pathLst>
            </a:custGeom>
            <a:solidFill>
              <a:srgbClr val="FFFFFF"/>
            </a:solidFill>
          </p:spPr>
          <p:txBody>
            <a:bodyPr/>
            <a:lstStyle/>
            <a:p>
              <a:endParaRPr lang="en-US"/>
            </a:p>
          </p:txBody>
        </p:sp>
        <p:sp>
          <p:nvSpPr>
            <p:cNvPr id="32" name="Freeform 32"/>
            <p:cNvSpPr/>
            <p:nvPr/>
          </p:nvSpPr>
          <p:spPr>
            <a:xfrm>
              <a:off x="0" y="0"/>
              <a:ext cx="10867772" cy="3165856"/>
            </a:xfrm>
            <a:custGeom>
              <a:avLst/>
              <a:gdLst/>
              <a:ahLst/>
              <a:cxnLst/>
              <a:rect l="l" t="t" r="r" b="b"/>
              <a:pathLst>
                <a:path w="10867772" h="3165856">
                  <a:moveTo>
                    <a:pt x="0" y="201930"/>
                  </a:moveTo>
                  <a:cubicBezTo>
                    <a:pt x="0" y="90297"/>
                    <a:pt x="91313" y="0"/>
                    <a:pt x="203454" y="0"/>
                  </a:cubicBezTo>
                  <a:lnTo>
                    <a:pt x="10664317" y="0"/>
                  </a:lnTo>
                  <a:lnTo>
                    <a:pt x="10664317" y="19050"/>
                  </a:lnTo>
                  <a:lnTo>
                    <a:pt x="10664317" y="0"/>
                  </a:lnTo>
                  <a:cubicBezTo>
                    <a:pt x="10776586" y="0"/>
                    <a:pt x="10867772" y="90297"/>
                    <a:pt x="10867772" y="201930"/>
                  </a:cubicBezTo>
                  <a:lnTo>
                    <a:pt x="10848722" y="201930"/>
                  </a:lnTo>
                  <a:lnTo>
                    <a:pt x="10867772" y="201930"/>
                  </a:lnTo>
                  <a:lnTo>
                    <a:pt x="10867772" y="2963926"/>
                  </a:lnTo>
                  <a:lnTo>
                    <a:pt x="10848722" y="2963926"/>
                  </a:lnTo>
                  <a:lnTo>
                    <a:pt x="10867772" y="2963926"/>
                  </a:lnTo>
                  <a:cubicBezTo>
                    <a:pt x="10867772" y="3075559"/>
                    <a:pt x="10776458" y="3165856"/>
                    <a:pt x="10664317" y="3165856"/>
                  </a:cubicBezTo>
                  <a:lnTo>
                    <a:pt x="10664317" y="3146806"/>
                  </a:lnTo>
                  <a:lnTo>
                    <a:pt x="10664317" y="3165856"/>
                  </a:lnTo>
                  <a:lnTo>
                    <a:pt x="203454" y="3165856"/>
                  </a:lnTo>
                  <a:lnTo>
                    <a:pt x="203454" y="3146806"/>
                  </a:lnTo>
                  <a:lnTo>
                    <a:pt x="203454" y="3165856"/>
                  </a:lnTo>
                  <a:cubicBezTo>
                    <a:pt x="91313" y="3165856"/>
                    <a:pt x="0" y="3075559"/>
                    <a:pt x="0" y="2963926"/>
                  </a:cubicBezTo>
                  <a:lnTo>
                    <a:pt x="0" y="201930"/>
                  </a:lnTo>
                  <a:lnTo>
                    <a:pt x="19050" y="201930"/>
                  </a:lnTo>
                  <a:lnTo>
                    <a:pt x="0" y="201930"/>
                  </a:lnTo>
                  <a:moveTo>
                    <a:pt x="38100" y="201930"/>
                  </a:moveTo>
                  <a:lnTo>
                    <a:pt x="38100" y="2963926"/>
                  </a:lnTo>
                  <a:lnTo>
                    <a:pt x="19050" y="2963926"/>
                  </a:lnTo>
                  <a:lnTo>
                    <a:pt x="38100" y="2963926"/>
                  </a:lnTo>
                  <a:cubicBezTo>
                    <a:pt x="38100" y="3054223"/>
                    <a:pt x="112014" y="3127756"/>
                    <a:pt x="203454" y="3127756"/>
                  </a:cubicBezTo>
                  <a:lnTo>
                    <a:pt x="10664317" y="3127756"/>
                  </a:lnTo>
                  <a:cubicBezTo>
                    <a:pt x="10755885" y="3127756"/>
                    <a:pt x="10829672" y="3054223"/>
                    <a:pt x="10829672" y="2963926"/>
                  </a:cubicBezTo>
                  <a:lnTo>
                    <a:pt x="10829672" y="201930"/>
                  </a:lnTo>
                  <a:cubicBezTo>
                    <a:pt x="10829672" y="111633"/>
                    <a:pt x="10755757" y="38100"/>
                    <a:pt x="10664317" y="38100"/>
                  </a:cubicBezTo>
                  <a:lnTo>
                    <a:pt x="203454" y="38100"/>
                  </a:lnTo>
                  <a:lnTo>
                    <a:pt x="203454" y="19050"/>
                  </a:lnTo>
                  <a:lnTo>
                    <a:pt x="203454" y="38100"/>
                  </a:lnTo>
                  <a:cubicBezTo>
                    <a:pt x="112014" y="38100"/>
                    <a:pt x="38100" y="111633"/>
                    <a:pt x="38100" y="201930"/>
                  </a:cubicBezTo>
                  <a:close/>
                </a:path>
              </a:pathLst>
            </a:custGeom>
            <a:solidFill>
              <a:srgbClr val="D8D4D4"/>
            </a:solidFill>
          </p:spPr>
          <p:txBody>
            <a:bodyPr/>
            <a:lstStyle/>
            <a:p>
              <a:endParaRPr lang="en-US"/>
            </a:p>
          </p:txBody>
        </p:sp>
      </p:grpSp>
      <p:grpSp>
        <p:nvGrpSpPr>
          <p:cNvPr id="33" name="Group 33"/>
          <p:cNvGrpSpPr/>
          <p:nvPr/>
        </p:nvGrpSpPr>
        <p:grpSpPr>
          <a:xfrm>
            <a:off x="9243120" y="7243019"/>
            <a:ext cx="114300" cy="2345829"/>
            <a:chOff x="0" y="0"/>
            <a:chExt cx="152400" cy="3127772"/>
          </a:xfrm>
        </p:grpSpPr>
        <p:sp>
          <p:nvSpPr>
            <p:cNvPr id="34" name="Freeform 34"/>
            <p:cNvSpPr/>
            <p:nvPr/>
          </p:nvSpPr>
          <p:spPr>
            <a:xfrm>
              <a:off x="0" y="0"/>
              <a:ext cx="152400" cy="3127756"/>
            </a:xfrm>
            <a:custGeom>
              <a:avLst/>
              <a:gdLst/>
              <a:ahLst/>
              <a:cxnLst/>
              <a:rect l="l" t="t" r="r" b="b"/>
              <a:pathLst>
                <a:path w="152400" h="3127756">
                  <a:moveTo>
                    <a:pt x="0" y="51054"/>
                  </a:moveTo>
                  <a:cubicBezTo>
                    <a:pt x="0" y="22860"/>
                    <a:pt x="22860" y="0"/>
                    <a:pt x="51054" y="0"/>
                  </a:cubicBezTo>
                  <a:lnTo>
                    <a:pt x="101346" y="0"/>
                  </a:lnTo>
                  <a:cubicBezTo>
                    <a:pt x="129540" y="0"/>
                    <a:pt x="152400" y="22860"/>
                    <a:pt x="152400" y="51054"/>
                  </a:cubicBezTo>
                  <a:lnTo>
                    <a:pt x="152400" y="3076702"/>
                  </a:lnTo>
                  <a:cubicBezTo>
                    <a:pt x="152400" y="3104896"/>
                    <a:pt x="129540" y="3127756"/>
                    <a:pt x="101346" y="3127756"/>
                  </a:cubicBezTo>
                  <a:lnTo>
                    <a:pt x="51054" y="3127756"/>
                  </a:lnTo>
                  <a:cubicBezTo>
                    <a:pt x="22860" y="3127756"/>
                    <a:pt x="0" y="3104896"/>
                    <a:pt x="0" y="3076702"/>
                  </a:cubicBezTo>
                  <a:close/>
                </a:path>
              </a:pathLst>
            </a:custGeom>
            <a:solidFill>
              <a:srgbClr val="3E2513"/>
            </a:solidFill>
          </p:spPr>
          <p:txBody>
            <a:bodyPr/>
            <a:lstStyle/>
            <a:p>
              <a:endParaRPr lang="en-US"/>
            </a:p>
          </p:txBody>
        </p:sp>
      </p:grpSp>
      <p:sp>
        <p:nvSpPr>
          <p:cNvPr id="35" name="TextBox 35"/>
          <p:cNvSpPr txBox="1"/>
          <p:nvPr/>
        </p:nvSpPr>
        <p:spPr>
          <a:xfrm>
            <a:off x="9641384" y="7498407"/>
            <a:ext cx="3193256" cy="427733"/>
          </a:xfrm>
          <a:prstGeom prst="rect">
            <a:avLst/>
          </a:prstGeom>
        </p:spPr>
        <p:txBody>
          <a:bodyPr lIns="0" tIns="0" rIns="0" bIns="0" rtlCol="0" anchor="t">
            <a:spAutoFit/>
          </a:bodyPr>
          <a:lstStyle/>
          <a:p>
            <a:pPr algn="l">
              <a:lnSpc>
                <a:spcPts val="3124"/>
              </a:lnSpc>
            </a:pPr>
            <a:r>
              <a:rPr lang="en-US" sz="2499">
                <a:solidFill>
                  <a:srgbClr val="504C49"/>
                </a:solidFill>
                <a:latin typeface="Arimo"/>
                <a:ea typeface="Arimo"/>
                <a:cs typeface="Arimo"/>
                <a:sym typeface="Arimo"/>
              </a:rPr>
              <a:t>Uniform Interface</a:t>
            </a:r>
          </a:p>
        </p:txBody>
      </p:sp>
      <p:sp>
        <p:nvSpPr>
          <p:cNvPr id="36" name="TextBox 36"/>
          <p:cNvSpPr txBox="1"/>
          <p:nvPr/>
        </p:nvSpPr>
        <p:spPr>
          <a:xfrm>
            <a:off x="9641384" y="8003084"/>
            <a:ext cx="7468641" cy="1301800"/>
          </a:xfrm>
          <a:prstGeom prst="rect">
            <a:avLst/>
          </a:prstGeom>
        </p:spPr>
        <p:txBody>
          <a:bodyPr lIns="0" tIns="0" rIns="0" bIns="0" rtlCol="0" anchor="t">
            <a:spAutoFit/>
          </a:bodyPr>
          <a:lstStyle/>
          <a:p>
            <a:pPr algn="l">
              <a:lnSpc>
                <a:spcPts val="3187"/>
              </a:lnSpc>
            </a:pPr>
            <a:r>
              <a:rPr lang="en-US" sz="2000">
                <a:solidFill>
                  <a:srgbClr val="504C49"/>
                </a:solidFill>
                <a:latin typeface="Source Serif Pro"/>
                <a:ea typeface="Source Serif Pro"/>
                <a:cs typeface="Source Serif Pro"/>
                <a:sym typeface="Source Serif Pro"/>
              </a:rPr>
              <a:t>A single, uniform way of interacting with resources, simplifying the overall system architecture. Includes: Resource Identification,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863947" y="640705"/>
            <a:ext cx="5704285" cy="655141"/>
          </a:xfrm>
          <a:prstGeom prst="rect">
            <a:avLst/>
          </a:prstGeom>
        </p:spPr>
        <p:txBody>
          <a:bodyPr lIns="0" tIns="0" rIns="0" bIns="0" rtlCol="0" anchor="t">
            <a:spAutoFit/>
          </a:bodyPr>
          <a:lstStyle/>
          <a:p>
            <a:pPr algn="l">
              <a:lnSpc>
                <a:spcPts val="4812"/>
              </a:lnSpc>
            </a:pPr>
            <a:r>
              <a:rPr lang="en-US" sz="3875">
                <a:solidFill>
                  <a:srgbClr val="201B18"/>
                </a:solidFill>
                <a:latin typeface="Arimo"/>
                <a:ea typeface="Arimo"/>
                <a:cs typeface="Arimo"/>
                <a:sym typeface="Arimo"/>
              </a:rPr>
              <a:t>HTTP Methods in REST</a:t>
            </a:r>
          </a:p>
        </p:txBody>
      </p:sp>
      <p:grpSp>
        <p:nvGrpSpPr>
          <p:cNvPr id="7" name="Group 7"/>
          <p:cNvGrpSpPr/>
          <p:nvPr/>
        </p:nvGrpSpPr>
        <p:grpSpPr>
          <a:xfrm>
            <a:off x="849660" y="1775222"/>
            <a:ext cx="5384006" cy="4408586"/>
            <a:chOff x="0" y="0"/>
            <a:chExt cx="7178675" cy="5878115"/>
          </a:xfrm>
        </p:grpSpPr>
        <p:sp>
          <p:nvSpPr>
            <p:cNvPr id="8" name="Freeform 8"/>
            <p:cNvSpPr/>
            <p:nvPr/>
          </p:nvSpPr>
          <p:spPr>
            <a:xfrm>
              <a:off x="19050" y="19050"/>
              <a:ext cx="7140575" cy="5840095"/>
            </a:xfrm>
            <a:custGeom>
              <a:avLst/>
              <a:gdLst/>
              <a:ahLst/>
              <a:cxnLst/>
              <a:rect l="l" t="t" r="r" b="b"/>
              <a:pathLst>
                <a:path w="7140575" h="5840095">
                  <a:moveTo>
                    <a:pt x="0" y="49403"/>
                  </a:moveTo>
                  <a:cubicBezTo>
                    <a:pt x="0" y="22098"/>
                    <a:pt x="22098" y="0"/>
                    <a:pt x="49403" y="0"/>
                  </a:cubicBezTo>
                  <a:lnTo>
                    <a:pt x="7091172" y="0"/>
                  </a:lnTo>
                  <a:cubicBezTo>
                    <a:pt x="7118477" y="0"/>
                    <a:pt x="7140575" y="22098"/>
                    <a:pt x="7140575" y="49403"/>
                  </a:cubicBezTo>
                  <a:lnTo>
                    <a:pt x="7140575" y="5790692"/>
                  </a:lnTo>
                  <a:cubicBezTo>
                    <a:pt x="7140575" y="5817997"/>
                    <a:pt x="7118477" y="5840095"/>
                    <a:pt x="7091172" y="5840095"/>
                  </a:cubicBezTo>
                  <a:lnTo>
                    <a:pt x="49403" y="5840095"/>
                  </a:lnTo>
                  <a:cubicBezTo>
                    <a:pt x="22098" y="5840095"/>
                    <a:pt x="0" y="5817997"/>
                    <a:pt x="0" y="5790692"/>
                  </a:cubicBezTo>
                  <a:close/>
                </a:path>
              </a:pathLst>
            </a:custGeom>
            <a:solidFill>
              <a:srgbClr val="FFFFFF"/>
            </a:solidFill>
          </p:spPr>
          <p:txBody>
            <a:bodyPr/>
            <a:lstStyle/>
            <a:p>
              <a:endParaRPr lang="en-US"/>
            </a:p>
          </p:txBody>
        </p:sp>
        <p:sp>
          <p:nvSpPr>
            <p:cNvPr id="9" name="Freeform 9"/>
            <p:cNvSpPr/>
            <p:nvPr/>
          </p:nvSpPr>
          <p:spPr>
            <a:xfrm>
              <a:off x="0" y="0"/>
              <a:ext cx="7178675" cy="5878195"/>
            </a:xfrm>
            <a:custGeom>
              <a:avLst/>
              <a:gdLst/>
              <a:ahLst/>
              <a:cxnLst/>
              <a:rect l="l" t="t" r="r" b="b"/>
              <a:pathLst>
                <a:path w="7178675" h="5878195">
                  <a:moveTo>
                    <a:pt x="0" y="68453"/>
                  </a:moveTo>
                  <a:cubicBezTo>
                    <a:pt x="0" y="30607"/>
                    <a:pt x="30607" y="0"/>
                    <a:pt x="68453" y="0"/>
                  </a:cubicBezTo>
                  <a:lnTo>
                    <a:pt x="7110222" y="0"/>
                  </a:lnTo>
                  <a:lnTo>
                    <a:pt x="7110222" y="19050"/>
                  </a:lnTo>
                  <a:lnTo>
                    <a:pt x="7110222" y="0"/>
                  </a:lnTo>
                  <a:cubicBezTo>
                    <a:pt x="7148068" y="0"/>
                    <a:pt x="7178675" y="30607"/>
                    <a:pt x="7178675" y="68453"/>
                  </a:cubicBezTo>
                  <a:lnTo>
                    <a:pt x="7159625" y="68453"/>
                  </a:lnTo>
                  <a:lnTo>
                    <a:pt x="7178675" y="68453"/>
                  </a:lnTo>
                  <a:lnTo>
                    <a:pt x="7178675" y="5809742"/>
                  </a:lnTo>
                  <a:lnTo>
                    <a:pt x="7159625" y="5809742"/>
                  </a:lnTo>
                  <a:lnTo>
                    <a:pt x="7178675" y="5809742"/>
                  </a:lnTo>
                  <a:cubicBezTo>
                    <a:pt x="7178675" y="5847588"/>
                    <a:pt x="7148068" y="5878195"/>
                    <a:pt x="7110222" y="5878195"/>
                  </a:cubicBezTo>
                  <a:lnTo>
                    <a:pt x="7110222" y="5859145"/>
                  </a:lnTo>
                  <a:lnTo>
                    <a:pt x="7110222" y="5878195"/>
                  </a:lnTo>
                  <a:lnTo>
                    <a:pt x="68453" y="5878195"/>
                  </a:lnTo>
                  <a:lnTo>
                    <a:pt x="68453" y="5859145"/>
                  </a:lnTo>
                  <a:lnTo>
                    <a:pt x="68453" y="5878195"/>
                  </a:lnTo>
                  <a:cubicBezTo>
                    <a:pt x="30607" y="5878195"/>
                    <a:pt x="0" y="5847588"/>
                    <a:pt x="0" y="5809742"/>
                  </a:cubicBezTo>
                  <a:lnTo>
                    <a:pt x="0" y="68453"/>
                  </a:lnTo>
                  <a:lnTo>
                    <a:pt x="19050" y="68453"/>
                  </a:lnTo>
                  <a:lnTo>
                    <a:pt x="0" y="68453"/>
                  </a:lnTo>
                  <a:moveTo>
                    <a:pt x="38100" y="68453"/>
                  </a:moveTo>
                  <a:lnTo>
                    <a:pt x="38100" y="5809742"/>
                  </a:lnTo>
                  <a:lnTo>
                    <a:pt x="19050" y="5809742"/>
                  </a:lnTo>
                  <a:lnTo>
                    <a:pt x="38100" y="5809742"/>
                  </a:lnTo>
                  <a:cubicBezTo>
                    <a:pt x="38100" y="5826506"/>
                    <a:pt x="51689" y="5840095"/>
                    <a:pt x="68453" y="5840095"/>
                  </a:cubicBezTo>
                  <a:lnTo>
                    <a:pt x="7110222" y="5840095"/>
                  </a:lnTo>
                  <a:cubicBezTo>
                    <a:pt x="7126986" y="5840095"/>
                    <a:pt x="7140575" y="5826506"/>
                    <a:pt x="7140575" y="5809742"/>
                  </a:cubicBezTo>
                  <a:lnTo>
                    <a:pt x="7140575" y="68453"/>
                  </a:lnTo>
                  <a:cubicBezTo>
                    <a:pt x="7140575" y="51689"/>
                    <a:pt x="7126986" y="38100"/>
                    <a:pt x="7110222" y="38100"/>
                  </a:cubicBezTo>
                  <a:lnTo>
                    <a:pt x="68453" y="38100"/>
                  </a:lnTo>
                  <a:lnTo>
                    <a:pt x="68453" y="19050"/>
                  </a:lnTo>
                  <a:lnTo>
                    <a:pt x="68453" y="38100"/>
                  </a:lnTo>
                  <a:cubicBezTo>
                    <a:pt x="51689" y="38100"/>
                    <a:pt x="38100" y="51689"/>
                    <a:pt x="38100" y="68453"/>
                  </a:cubicBezTo>
                  <a:close/>
                </a:path>
              </a:pathLst>
            </a:custGeom>
            <a:solidFill>
              <a:srgbClr val="D8D4D4"/>
            </a:solidFill>
          </p:spPr>
          <p:txBody>
            <a:bodyPr/>
            <a:lstStyle/>
            <a:p>
              <a:endParaRPr lang="en-US"/>
            </a:p>
          </p:txBody>
        </p:sp>
      </p:grpSp>
      <p:sp>
        <p:nvSpPr>
          <p:cNvPr id="10" name="TextBox 10"/>
          <p:cNvSpPr txBox="1"/>
          <p:nvPr/>
        </p:nvSpPr>
        <p:spPr>
          <a:xfrm>
            <a:off x="1139279" y="2036266"/>
            <a:ext cx="3085654" cy="414189"/>
          </a:xfrm>
          <a:prstGeom prst="rect">
            <a:avLst/>
          </a:prstGeom>
        </p:spPr>
        <p:txBody>
          <a:bodyPr lIns="0" tIns="0" rIns="0" bIns="0" rtlCol="0" anchor="t">
            <a:spAutoFit/>
          </a:bodyPr>
          <a:lstStyle/>
          <a:p>
            <a:pPr algn="l">
              <a:lnSpc>
                <a:spcPts val="3000"/>
              </a:lnSpc>
            </a:pPr>
            <a:r>
              <a:rPr lang="en-US" sz="2375">
                <a:solidFill>
                  <a:srgbClr val="504C49"/>
                </a:solidFill>
                <a:latin typeface="Arimo"/>
                <a:ea typeface="Arimo"/>
                <a:cs typeface="Arimo"/>
                <a:sym typeface="Arimo"/>
              </a:rPr>
              <a:t>GET</a:t>
            </a:r>
          </a:p>
        </p:txBody>
      </p:sp>
      <p:sp>
        <p:nvSpPr>
          <p:cNvPr id="11" name="TextBox 11"/>
          <p:cNvSpPr txBox="1"/>
          <p:nvPr/>
        </p:nvSpPr>
        <p:spPr>
          <a:xfrm>
            <a:off x="1139279" y="2522339"/>
            <a:ext cx="4804768" cy="165616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Used to </a:t>
            </a:r>
            <a:r>
              <a:rPr lang="en-US" sz="1937" b="1">
                <a:solidFill>
                  <a:srgbClr val="504C49"/>
                </a:solidFill>
                <a:latin typeface="Source Serif Pro Bold"/>
                <a:ea typeface="Source Serif Pro Bold"/>
                <a:cs typeface="Source Serif Pro Bold"/>
                <a:sym typeface="Source Serif Pro Bold"/>
              </a:rPr>
              <a:t>retrieve</a:t>
            </a:r>
            <a:r>
              <a:rPr lang="en-US" sz="1937">
                <a:solidFill>
                  <a:srgbClr val="504C49"/>
                </a:solidFill>
                <a:latin typeface="Source Serif Pro"/>
                <a:ea typeface="Source Serif Pro"/>
                <a:cs typeface="Source Serif Pro"/>
                <a:sym typeface="Source Serif Pro"/>
              </a:rPr>
              <a:t> data from a specified resource. GET requests should only retrieve data and have no other effect on the data. They are safe and idempotent.</a:t>
            </a:r>
          </a:p>
        </p:txBody>
      </p:sp>
      <p:grpSp>
        <p:nvGrpSpPr>
          <p:cNvPr id="12" name="Group 12"/>
          <p:cNvGrpSpPr/>
          <p:nvPr/>
        </p:nvGrpSpPr>
        <p:grpSpPr>
          <a:xfrm>
            <a:off x="1139279" y="4456211"/>
            <a:ext cx="4804768" cy="765274"/>
            <a:chOff x="0" y="0"/>
            <a:chExt cx="6406357" cy="1020365"/>
          </a:xfrm>
        </p:grpSpPr>
        <p:sp>
          <p:nvSpPr>
            <p:cNvPr id="13" name="Freeform 13"/>
            <p:cNvSpPr/>
            <p:nvPr/>
          </p:nvSpPr>
          <p:spPr>
            <a:xfrm>
              <a:off x="0" y="0"/>
              <a:ext cx="6406388" cy="1020445"/>
            </a:xfrm>
            <a:custGeom>
              <a:avLst/>
              <a:gdLst/>
              <a:ahLst/>
              <a:cxnLst/>
              <a:rect l="l" t="t" r="r" b="b"/>
              <a:pathLst>
                <a:path w="6406388" h="1020445">
                  <a:moveTo>
                    <a:pt x="0" y="49403"/>
                  </a:moveTo>
                  <a:cubicBezTo>
                    <a:pt x="0" y="22098"/>
                    <a:pt x="22098" y="0"/>
                    <a:pt x="49403" y="0"/>
                  </a:cubicBezTo>
                  <a:lnTo>
                    <a:pt x="6356985" y="0"/>
                  </a:lnTo>
                  <a:cubicBezTo>
                    <a:pt x="6384290" y="0"/>
                    <a:pt x="6406388" y="22098"/>
                    <a:pt x="6406388" y="49403"/>
                  </a:cubicBezTo>
                  <a:lnTo>
                    <a:pt x="6406388" y="971042"/>
                  </a:lnTo>
                  <a:cubicBezTo>
                    <a:pt x="6406388" y="998347"/>
                    <a:pt x="6384290" y="1020445"/>
                    <a:pt x="6356985"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grpSp>
        <p:nvGrpSpPr>
          <p:cNvPr id="14" name="Group 14"/>
          <p:cNvGrpSpPr/>
          <p:nvPr/>
        </p:nvGrpSpPr>
        <p:grpSpPr>
          <a:xfrm>
            <a:off x="1127075" y="4456211"/>
            <a:ext cx="4829175" cy="765274"/>
            <a:chOff x="0" y="0"/>
            <a:chExt cx="6438900" cy="1020365"/>
          </a:xfrm>
        </p:grpSpPr>
        <p:sp>
          <p:nvSpPr>
            <p:cNvPr id="15" name="Freeform 15"/>
            <p:cNvSpPr/>
            <p:nvPr/>
          </p:nvSpPr>
          <p:spPr>
            <a:xfrm>
              <a:off x="0" y="0"/>
              <a:ext cx="6438900" cy="1020445"/>
            </a:xfrm>
            <a:custGeom>
              <a:avLst/>
              <a:gdLst/>
              <a:ahLst/>
              <a:cxnLst/>
              <a:rect l="l" t="t" r="r" b="b"/>
              <a:pathLst>
                <a:path w="6438900" h="1020445">
                  <a:moveTo>
                    <a:pt x="0" y="49403"/>
                  </a:moveTo>
                  <a:cubicBezTo>
                    <a:pt x="0" y="22098"/>
                    <a:pt x="22098" y="0"/>
                    <a:pt x="49403" y="0"/>
                  </a:cubicBezTo>
                  <a:lnTo>
                    <a:pt x="6389497" y="0"/>
                  </a:lnTo>
                  <a:cubicBezTo>
                    <a:pt x="6416802" y="0"/>
                    <a:pt x="6438900" y="22098"/>
                    <a:pt x="6438900" y="49403"/>
                  </a:cubicBezTo>
                  <a:lnTo>
                    <a:pt x="6438900" y="971042"/>
                  </a:lnTo>
                  <a:cubicBezTo>
                    <a:pt x="6438900" y="998347"/>
                    <a:pt x="6416802" y="1020445"/>
                    <a:pt x="6389497"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sp>
        <p:nvSpPr>
          <p:cNvPr id="16" name="TextBox 16"/>
          <p:cNvSpPr txBox="1"/>
          <p:nvPr/>
        </p:nvSpPr>
        <p:spPr>
          <a:xfrm>
            <a:off x="1373832" y="4527054"/>
            <a:ext cx="4335661" cy="509290"/>
          </a:xfrm>
          <a:prstGeom prst="rect">
            <a:avLst/>
          </a:prstGeom>
        </p:spPr>
        <p:txBody>
          <a:bodyPr lIns="0" tIns="0" rIns="0" bIns="0" rtlCol="0" anchor="t">
            <a:spAutoFit/>
          </a:bodyPr>
          <a:lstStyle/>
          <a:p>
            <a:pPr algn="l">
              <a:lnSpc>
                <a:spcPts val="3062"/>
              </a:lnSpc>
            </a:pPr>
            <a:r>
              <a:rPr lang="en-US" sz="1937">
                <a:solidFill>
                  <a:srgbClr val="504C49"/>
                </a:solidFill>
                <a:latin typeface="Consolas"/>
                <a:ea typeface="Consolas"/>
                <a:cs typeface="Consolas"/>
                <a:sym typeface="Consolas"/>
              </a:rPr>
              <a:t>GET /users/123</a:t>
            </a:r>
          </a:p>
        </p:txBody>
      </p:sp>
      <p:sp>
        <p:nvSpPr>
          <p:cNvPr id="17" name="TextBox 17"/>
          <p:cNvSpPr txBox="1"/>
          <p:nvPr/>
        </p:nvSpPr>
        <p:spPr>
          <a:xfrm>
            <a:off x="1139279" y="5422999"/>
            <a:ext cx="4804768" cy="47119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Retrieves details for user with ID 123.</a:t>
            </a:r>
          </a:p>
        </p:txBody>
      </p:sp>
      <p:grpSp>
        <p:nvGrpSpPr>
          <p:cNvPr id="18" name="Group 18"/>
          <p:cNvGrpSpPr/>
          <p:nvPr/>
        </p:nvGrpSpPr>
        <p:grpSpPr>
          <a:xfrm>
            <a:off x="6451848" y="1775222"/>
            <a:ext cx="5384155" cy="4408586"/>
            <a:chOff x="0" y="0"/>
            <a:chExt cx="7178873" cy="5878115"/>
          </a:xfrm>
        </p:grpSpPr>
        <p:sp>
          <p:nvSpPr>
            <p:cNvPr id="19" name="Freeform 19"/>
            <p:cNvSpPr/>
            <p:nvPr/>
          </p:nvSpPr>
          <p:spPr>
            <a:xfrm>
              <a:off x="19050" y="19050"/>
              <a:ext cx="7140829" cy="5840095"/>
            </a:xfrm>
            <a:custGeom>
              <a:avLst/>
              <a:gdLst/>
              <a:ahLst/>
              <a:cxnLst/>
              <a:rect l="l" t="t" r="r" b="b"/>
              <a:pathLst>
                <a:path w="7140829" h="5840095">
                  <a:moveTo>
                    <a:pt x="0" y="49403"/>
                  </a:moveTo>
                  <a:cubicBezTo>
                    <a:pt x="0" y="22098"/>
                    <a:pt x="22098" y="0"/>
                    <a:pt x="49403" y="0"/>
                  </a:cubicBezTo>
                  <a:lnTo>
                    <a:pt x="7091426" y="0"/>
                  </a:lnTo>
                  <a:cubicBezTo>
                    <a:pt x="7118731" y="0"/>
                    <a:pt x="7140829" y="22098"/>
                    <a:pt x="7140829" y="49403"/>
                  </a:cubicBezTo>
                  <a:lnTo>
                    <a:pt x="7140829" y="5790692"/>
                  </a:lnTo>
                  <a:cubicBezTo>
                    <a:pt x="7140829" y="5817997"/>
                    <a:pt x="7118731" y="5840095"/>
                    <a:pt x="7091426" y="5840095"/>
                  </a:cubicBezTo>
                  <a:lnTo>
                    <a:pt x="49403" y="5840095"/>
                  </a:lnTo>
                  <a:cubicBezTo>
                    <a:pt x="22098" y="5840095"/>
                    <a:pt x="0" y="5817997"/>
                    <a:pt x="0" y="5790692"/>
                  </a:cubicBezTo>
                  <a:close/>
                </a:path>
              </a:pathLst>
            </a:custGeom>
            <a:solidFill>
              <a:srgbClr val="FFFFFF"/>
            </a:solidFill>
          </p:spPr>
          <p:txBody>
            <a:bodyPr/>
            <a:lstStyle/>
            <a:p>
              <a:endParaRPr lang="en-US"/>
            </a:p>
          </p:txBody>
        </p:sp>
        <p:sp>
          <p:nvSpPr>
            <p:cNvPr id="20" name="Freeform 20"/>
            <p:cNvSpPr/>
            <p:nvPr/>
          </p:nvSpPr>
          <p:spPr>
            <a:xfrm>
              <a:off x="0" y="0"/>
              <a:ext cx="7178929" cy="5878195"/>
            </a:xfrm>
            <a:custGeom>
              <a:avLst/>
              <a:gdLst/>
              <a:ahLst/>
              <a:cxnLst/>
              <a:rect l="l" t="t" r="r" b="b"/>
              <a:pathLst>
                <a:path w="7178929" h="5878195">
                  <a:moveTo>
                    <a:pt x="0" y="68453"/>
                  </a:moveTo>
                  <a:cubicBezTo>
                    <a:pt x="0" y="30607"/>
                    <a:pt x="30607" y="0"/>
                    <a:pt x="68453" y="0"/>
                  </a:cubicBezTo>
                  <a:lnTo>
                    <a:pt x="7110476" y="0"/>
                  </a:lnTo>
                  <a:lnTo>
                    <a:pt x="7110476" y="19050"/>
                  </a:lnTo>
                  <a:lnTo>
                    <a:pt x="7110476" y="0"/>
                  </a:lnTo>
                  <a:cubicBezTo>
                    <a:pt x="7148322" y="0"/>
                    <a:pt x="7178929" y="30607"/>
                    <a:pt x="7178929" y="68453"/>
                  </a:cubicBezTo>
                  <a:lnTo>
                    <a:pt x="7159879" y="68453"/>
                  </a:lnTo>
                  <a:lnTo>
                    <a:pt x="7178929" y="68453"/>
                  </a:lnTo>
                  <a:lnTo>
                    <a:pt x="7178929" y="5809742"/>
                  </a:lnTo>
                  <a:lnTo>
                    <a:pt x="7159879" y="5809742"/>
                  </a:lnTo>
                  <a:lnTo>
                    <a:pt x="7178929" y="5809742"/>
                  </a:lnTo>
                  <a:cubicBezTo>
                    <a:pt x="7178929" y="5847588"/>
                    <a:pt x="7148322" y="5878195"/>
                    <a:pt x="7110476" y="5878195"/>
                  </a:cubicBezTo>
                  <a:lnTo>
                    <a:pt x="7110476" y="5859145"/>
                  </a:lnTo>
                  <a:lnTo>
                    <a:pt x="7110476" y="5878195"/>
                  </a:lnTo>
                  <a:lnTo>
                    <a:pt x="68453" y="5878195"/>
                  </a:lnTo>
                  <a:lnTo>
                    <a:pt x="68453" y="5859145"/>
                  </a:lnTo>
                  <a:lnTo>
                    <a:pt x="68453" y="5878195"/>
                  </a:lnTo>
                  <a:cubicBezTo>
                    <a:pt x="30607" y="5878195"/>
                    <a:pt x="0" y="5847588"/>
                    <a:pt x="0" y="5809742"/>
                  </a:cubicBezTo>
                  <a:lnTo>
                    <a:pt x="0" y="68453"/>
                  </a:lnTo>
                  <a:lnTo>
                    <a:pt x="19050" y="68453"/>
                  </a:lnTo>
                  <a:lnTo>
                    <a:pt x="0" y="68453"/>
                  </a:lnTo>
                  <a:moveTo>
                    <a:pt x="38100" y="68453"/>
                  </a:moveTo>
                  <a:lnTo>
                    <a:pt x="38100" y="5809742"/>
                  </a:lnTo>
                  <a:lnTo>
                    <a:pt x="19050" y="5809742"/>
                  </a:lnTo>
                  <a:lnTo>
                    <a:pt x="38100" y="5809742"/>
                  </a:lnTo>
                  <a:cubicBezTo>
                    <a:pt x="38100" y="5826506"/>
                    <a:pt x="51689" y="5840095"/>
                    <a:pt x="68453" y="5840095"/>
                  </a:cubicBezTo>
                  <a:lnTo>
                    <a:pt x="7110476" y="5840095"/>
                  </a:lnTo>
                  <a:cubicBezTo>
                    <a:pt x="7127240" y="5840095"/>
                    <a:pt x="7140829" y="5826506"/>
                    <a:pt x="7140829" y="5809742"/>
                  </a:cubicBezTo>
                  <a:lnTo>
                    <a:pt x="7140829" y="68453"/>
                  </a:lnTo>
                  <a:cubicBezTo>
                    <a:pt x="7140829" y="51689"/>
                    <a:pt x="7127240" y="38100"/>
                    <a:pt x="7110476" y="38100"/>
                  </a:cubicBezTo>
                  <a:lnTo>
                    <a:pt x="68453" y="38100"/>
                  </a:lnTo>
                  <a:lnTo>
                    <a:pt x="68453" y="19050"/>
                  </a:lnTo>
                  <a:lnTo>
                    <a:pt x="68453" y="38100"/>
                  </a:lnTo>
                  <a:cubicBezTo>
                    <a:pt x="51689" y="38100"/>
                    <a:pt x="38100" y="51689"/>
                    <a:pt x="38100" y="68453"/>
                  </a:cubicBezTo>
                  <a:close/>
                </a:path>
              </a:pathLst>
            </a:custGeom>
            <a:solidFill>
              <a:srgbClr val="D8D4D4"/>
            </a:solidFill>
          </p:spPr>
          <p:txBody>
            <a:bodyPr/>
            <a:lstStyle/>
            <a:p>
              <a:endParaRPr lang="en-US"/>
            </a:p>
          </p:txBody>
        </p:sp>
      </p:grpSp>
      <p:sp>
        <p:nvSpPr>
          <p:cNvPr id="21" name="TextBox 21"/>
          <p:cNvSpPr txBox="1"/>
          <p:nvPr/>
        </p:nvSpPr>
        <p:spPr>
          <a:xfrm>
            <a:off x="6741467" y="2036266"/>
            <a:ext cx="3085654" cy="414189"/>
          </a:xfrm>
          <a:prstGeom prst="rect">
            <a:avLst/>
          </a:prstGeom>
        </p:spPr>
        <p:txBody>
          <a:bodyPr lIns="0" tIns="0" rIns="0" bIns="0" rtlCol="0" anchor="t">
            <a:spAutoFit/>
          </a:bodyPr>
          <a:lstStyle/>
          <a:p>
            <a:pPr algn="l">
              <a:lnSpc>
                <a:spcPts val="3000"/>
              </a:lnSpc>
            </a:pPr>
            <a:r>
              <a:rPr lang="en-US" sz="2375">
                <a:solidFill>
                  <a:srgbClr val="504C49"/>
                </a:solidFill>
                <a:latin typeface="Arimo"/>
                <a:ea typeface="Arimo"/>
                <a:cs typeface="Arimo"/>
                <a:sym typeface="Arimo"/>
              </a:rPr>
              <a:t>POST</a:t>
            </a:r>
          </a:p>
        </p:txBody>
      </p:sp>
      <p:sp>
        <p:nvSpPr>
          <p:cNvPr id="22" name="TextBox 22"/>
          <p:cNvSpPr txBox="1"/>
          <p:nvPr/>
        </p:nvSpPr>
        <p:spPr>
          <a:xfrm>
            <a:off x="6741467" y="2522339"/>
            <a:ext cx="4804916" cy="165616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Used to </a:t>
            </a:r>
            <a:r>
              <a:rPr lang="en-US" sz="1937" b="1">
                <a:solidFill>
                  <a:srgbClr val="504C49"/>
                </a:solidFill>
                <a:latin typeface="Source Serif Pro Bold"/>
                <a:ea typeface="Source Serif Pro Bold"/>
                <a:cs typeface="Source Serif Pro Bold"/>
                <a:sym typeface="Source Serif Pro Bold"/>
              </a:rPr>
              <a:t>submit</a:t>
            </a:r>
            <a:r>
              <a:rPr lang="en-US" sz="1937">
                <a:solidFill>
                  <a:srgbClr val="504C49"/>
                </a:solidFill>
                <a:latin typeface="Source Serif Pro"/>
                <a:ea typeface="Source Serif Pro"/>
                <a:cs typeface="Source Serif Pro"/>
                <a:sym typeface="Source Serif Pro"/>
              </a:rPr>
              <a:t> data to the specified resource, often causing a change in state or a new resource to be created. Not idempotent.</a:t>
            </a:r>
          </a:p>
        </p:txBody>
      </p:sp>
      <p:grpSp>
        <p:nvGrpSpPr>
          <p:cNvPr id="23" name="Group 23"/>
          <p:cNvGrpSpPr/>
          <p:nvPr/>
        </p:nvGrpSpPr>
        <p:grpSpPr>
          <a:xfrm>
            <a:off x="6741467" y="4456211"/>
            <a:ext cx="4804916" cy="765274"/>
            <a:chOff x="0" y="0"/>
            <a:chExt cx="6406555" cy="1020365"/>
          </a:xfrm>
        </p:grpSpPr>
        <p:sp>
          <p:nvSpPr>
            <p:cNvPr id="24" name="Freeform 24"/>
            <p:cNvSpPr/>
            <p:nvPr/>
          </p:nvSpPr>
          <p:spPr>
            <a:xfrm>
              <a:off x="0" y="0"/>
              <a:ext cx="6406642" cy="1020445"/>
            </a:xfrm>
            <a:custGeom>
              <a:avLst/>
              <a:gdLst/>
              <a:ahLst/>
              <a:cxnLst/>
              <a:rect l="l" t="t" r="r" b="b"/>
              <a:pathLst>
                <a:path w="6406642" h="1020445">
                  <a:moveTo>
                    <a:pt x="0" y="49403"/>
                  </a:moveTo>
                  <a:cubicBezTo>
                    <a:pt x="0" y="22098"/>
                    <a:pt x="22098" y="0"/>
                    <a:pt x="49403" y="0"/>
                  </a:cubicBezTo>
                  <a:lnTo>
                    <a:pt x="6357239" y="0"/>
                  </a:lnTo>
                  <a:cubicBezTo>
                    <a:pt x="6384544" y="0"/>
                    <a:pt x="6406642" y="22098"/>
                    <a:pt x="6406642" y="49403"/>
                  </a:cubicBezTo>
                  <a:lnTo>
                    <a:pt x="6406642" y="971042"/>
                  </a:lnTo>
                  <a:cubicBezTo>
                    <a:pt x="6406642" y="998347"/>
                    <a:pt x="6384544" y="1020445"/>
                    <a:pt x="6357239"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grpSp>
        <p:nvGrpSpPr>
          <p:cNvPr id="25" name="Group 25"/>
          <p:cNvGrpSpPr/>
          <p:nvPr/>
        </p:nvGrpSpPr>
        <p:grpSpPr>
          <a:xfrm>
            <a:off x="6729264" y="4456211"/>
            <a:ext cx="4829324" cy="765274"/>
            <a:chOff x="0" y="0"/>
            <a:chExt cx="6439098" cy="1020365"/>
          </a:xfrm>
        </p:grpSpPr>
        <p:sp>
          <p:nvSpPr>
            <p:cNvPr id="26" name="Freeform 26"/>
            <p:cNvSpPr/>
            <p:nvPr/>
          </p:nvSpPr>
          <p:spPr>
            <a:xfrm>
              <a:off x="0" y="0"/>
              <a:ext cx="6439154" cy="1020445"/>
            </a:xfrm>
            <a:custGeom>
              <a:avLst/>
              <a:gdLst/>
              <a:ahLst/>
              <a:cxnLst/>
              <a:rect l="l" t="t" r="r" b="b"/>
              <a:pathLst>
                <a:path w="6439154" h="1020445">
                  <a:moveTo>
                    <a:pt x="0" y="49403"/>
                  </a:moveTo>
                  <a:cubicBezTo>
                    <a:pt x="0" y="22098"/>
                    <a:pt x="22098" y="0"/>
                    <a:pt x="49403" y="0"/>
                  </a:cubicBezTo>
                  <a:lnTo>
                    <a:pt x="6389751" y="0"/>
                  </a:lnTo>
                  <a:cubicBezTo>
                    <a:pt x="6417056" y="0"/>
                    <a:pt x="6439154" y="22098"/>
                    <a:pt x="6439154" y="49403"/>
                  </a:cubicBezTo>
                  <a:lnTo>
                    <a:pt x="6439154" y="971042"/>
                  </a:lnTo>
                  <a:cubicBezTo>
                    <a:pt x="6439154" y="998347"/>
                    <a:pt x="6417056" y="1020445"/>
                    <a:pt x="6389751"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sp>
        <p:nvSpPr>
          <p:cNvPr id="27" name="TextBox 27"/>
          <p:cNvSpPr txBox="1"/>
          <p:nvPr/>
        </p:nvSpPr>
        <p:spPr>
          <a:xfrm>
            <a:off x="6976021" y="4527054"/>
            <a:ext cx="4335810" cy="509290"/>
          </a:xfrm>
          <a:prstGeom prst="rect">
            <a:avLst/>
          </a:prstGeom>
        </p:spPr>
        <p:txBody>
          <a:bodyPr lIns="0" tIns="0" rIns="0" bIns="0" rtlCol="0" anchor="t">
            <a:spAutoFit/>
          </a:bodyPr>
          <a:lstStyle/>
          <a:p>
            <a:pPr algn="l">
              <a:lnSpc>
                <a:spcPts val="3062"/>
              </a:lnSpc>
            </a:pPr>
            <a:r>
              <a:rPr lang="en-US" sz="1937">
                <a:solidFill>
                  <a:srgbClr val="504C49"/>
                </a:solidFill>
                <a:latin typeface="Consolas"/>
                <a:ea typeface="Consolas"/>
                <a:cs typeface="Consolas"/>
                <a:sym typeface="Consolas"/>
              </a:rPr>
              <a:t>POST /users</a:t>
            </a:r>
          </a:p>
        </p:txBody>
      </p:sp>
      <p:sp>
        <p:nvSpPr>
          <p:cNvPr id="28" name="TextBox 28"/>
          <p:cNvSpPr txBox="1"/>
          <p:nvPr/>
        </p:nvSpPr>
        <p:spPr>
          <a:xfrm>
            <a:off x="6741467" y="5422999"/>
            <a:ext cx="4804916" cy="47119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Creates a new user resource.</a:t>
            </a:r>
          </a:p>
        </p:txBody>
      </p:sp>
      <p:grpSp>
        <p:nvGrpSpPr>
          <p:cNvPr id="29" name="Group 29"/>
          <p:cNvGrpSpPr/>
          <p:nvPr/>
        </p:nvGrpSpPr>
        <p:grpSpPr>
          <a:xfrm>
            <a:off x="12054185" y="1775222"/>
            <a:ext cx="5384155" cy="4408586"/>
            <a:chOff x="0" y="0"/>
            <a:chExt cx="7178873" cy="5878115"/>
          </a:xfrm>
        </p:grpSpPr>
        <p:sp>
          <p:nvSpPr>
            <p:cNvPr id="30" name="Freeform 30"/>
            <p:cNvSpPr/>
            <p:nvPr/>
          </p:nvSpPr>
          <p:spPr>
            <a:xfrm>
              <a:off x="19050" y="19050"/>
              <a:ext cx="7140829" cy="5840095"/>
            </a:xfrm>
            <a:custGeom>
              <a:avLst/>
              <a:gdLst/>
              <a:ahLst/>
              <a:cxnLst/>
              <a:rect l="l" t="t" r="r" b="b"/>
              <a:pathLst>
                <a:path w="7140829" h="5840095">
                  <a:moveTo>
                    <a:pt x="0" y="49403"/>
                  </a:moveTo>
                  <a:cubicBezTo>
                    <a:pt x="0" y="22098"/>
                    <a:pt x="22098" y="0"/>
                    <a:pt x="49403" y="0"/>
                  </a:cubicBezTo>
                  <a:lnTo>
                    <a:pt x="7091426" y="0"/>
                  </a:lnTo>
                  <a:cubicBezTo>
                    <a:pt x="7118731" y="0"/>
                    <a:pt x="7140829" y="22098"/>
                    <a:pt x="7140829" y="49403"/>
                  </a:cubicBezTo>
                  <a:lnTo>
                    <a:pt x="7140829" y="5790692"/>
                  </a:lnTo>
                  <a:cubicBezTo>
                    <a:pt x="7140829" y="5817997"/>
                    <a:pt x="7118731" y="5840095"/>
                    <a:pt x="7091426" y="5840095"/>
                  </a:cubicBezTo>
                  <a:lnTo>
                    <a:pt x="49403" y="5840095"/>
                  </a:lnTo>
                  <a:cubicBezTo>
                    <a:pt x="22098" y="5840095"/>
                    <a:pt x="0" y="5817997"/>
                    <a:pt x="0" y="5790692"/>
                  </a:cubicBezTo>
                  <a:close/>
                </a:path>
              </a:pathLst>
            </a:custGeom>
            <a:solidFill>
              <a:srgbClr val="FFFFFF"/>
            </a:solidFill>
          </p:spPr>
          <p:txBody>
            <a:bodyPr/>
            <a:lstStyle/>
            <a:p>
              <a:endParaRPr lang="en-US"/>
            </a:p>
          </p:txBody>
        </p:sp>
        <p:sp>
          <p:nvSpPr>
            <p:cNvPr id="31" name="Freeform 31"/>
            <p:cNvSpPr/>
            <p:nvPr/>
          </p:nvSpPr>
          <p:spPr>
            <a:xfrm>
              <a:off x="0" y="0"/>
              <a:ext cx="7178929" cy="5878195"/>
            </a:xfrm>
            <a:custGeom>
              <a:avLst/>
              <a:gdLst/>
              <a:ahLst/>
              <a:cxnLst/>
              <a:rect l="l" t="t" r="r" b="b"/>
              <a:pathLst>
                <a:path w="7178929" h="5878195">
                  <a:moveTo>
                    <a:pt x="0" y="68453"/>
                  </a:moveTo>
                  <a:cubicBezTo>
                    <a:pt x="0" y="30607"/>
                    <a:pt x="30607" y="0"/>
                    <a:pt x="68453" y="0"/>
                  </a:cubicBezTo>
                  <a:lnTo>
                    <a:pt x="7110476" y="0"/>
                  </a:lnTo>
                  <a:lnTo>
                    <a:pt x="7110476" y="19050"/>
                  </a:lnTo>
                  <a:lnTo>
                    <a:pt x="7110476" y="0"/>
                  </a:lnTo>
                  <a:cubicBezTo>
                    <a:pt x="7148322" y="0"/>
                    <a:pt x="7178929" y="30607"/>
                    <a:pt x="7178929" y="68453"/>
                  </a:cubicBezTo>
                  <a:lnTo>
                    <a:pt x="7159879" y="68453"/>
                  </a:lnTo>
                  <a:lnTo>
                    <a:pt x="7178929" y="68453"/>
                  </a:lnTo>
                  <a:lnTo>
                    <a:pt x="7178929" y="5809742"/>
                  </a:lnTo>
                  <a:lnTo>
                    <a:pt x="7159879" y="5809742"/>
                  </a:lnTo>
                  <a:lnTo>
                    <a:pt x="7178929" y="5809742"/>
                  </a:lnTo>
                  <a:cubicBezTo>
                    <a:pt x="7178929" y="5847588"/>
                    <a:pt x="7148322" y="5878195"/>
                    <a:pt x="7110476" y="5878195"/>
                  </a:cubicBezTo>
                  <a:lnTo>
                    <a:pt x="7110476" y="5859145"/>
                  </a:lnTo>
                  <a:lnTo>
                    <a:pt x="7110476" y="5878195"/>
                  </a:lnTo>
                  <a:lnTo>
                    <a:pt x="68453" y="5878195"/>
                  </a:lnTo>
                  <a:lnTo>
                    <a:pt x="68453" y="5859145"/>
                  </a:lnTo>
                  <a:lnTo>
                    <a:pt x="68453" y="5878195"/>
                  </a:lnTo>
                  <a:cubicBezTo>
                    <a:pt x="30607" y="5878195"/>
                    <a:pt x="0" y="5847588"/>
                    <a:pt x="0" y="5809742"/>
                  </a:cubicBezTo>
                  <a:lnTo>
                    <a:pt x="0" y="68453"/>
                  </a:lnTo>
                  <a:lnTo>
                    <a:pt x="19050" y="68453"/>
                  </a:lnTo>
                  <a:lnTo>
                    <a:pt x="0" y="68453"/>
                  </a:lnTo>
                  <a:moveTo>
                    <a:pt x="38100" y="68453"/>
                  </a:moveTo>
                  <a:lnTo>
                    <a:pt x="38100" y="5809742"/>
                  </a:lnTo>
                  <a:lnTo>
                    <a:pt x="19050" y="5809742"/>
                  </a:lnTo>
                  <a:lnTo>
                    <a:pt x="38100" y="5809742"/>
                  </a:lnTo>
                  <a:cubicBezTo>
                    <a:pt x="38100" y="5826506"/>
                    <a:pt x="51689" y="5840095"/>
                    <a:pt x="68453" y="5840095"/>
                  </a:cubicBezTo>
                  <a:lnTo>
                    <a:pt x="7110476" y="5840095"/>
                  </a:lnTo>
                  <a:cubicBezTo>
                    <a:pt x="7127240" y="5840095"/>
                    <a:pt x="7140829" y="5826506"/>
                    <a:pt x="7140829" y="5809742"/>
                  </a:cubicBezTo>
                  <a:lnTo>
                    <a:pt x="7140829" y="68453"/>
                  </a:lnTo>
                  <a:cubicBezTo>
                    <a:pt x="7140829" y="51689"/>
                    <a:pt x="7127240" y="38100"/>
                    <a:pt x="7110476" y="38100"/>
                  </a:cubicBezTo>
                  <a:lnTo>
                    <a:pt x="68453" y="38100"/>
                  </a:lnTo>
                  <a:lnTo>
                    <a:pt x="68453" y="19050"/>
                  </a:lnTo>
                  <a:lnTo>
                    <a:pt x="68453" y="38100"/>
                  </a:lnTo>
                  <a:cubicBezTo>
                    <a:pt x="51689" y="38100"/>
                    <a:pt x="38100" y="51689"/>
                    <a:pt x="38100" y="68453"/>
                  </a:cubicBezTo>
                  <a:close/>
                </a:path>
              </a:pathLst>
            </a:custGeom>
            <a:solidFill>
              <a:srgbClr val="D8D4D4"/>
            </a:solidFill>
          </p:spPr>
          <p:txBody>
            <a:bodyPr/>
            <a:lstStyle/>
            <a:p>
              <a:endParaRPr lang="en-US"/>
            </a:p>
          </p:txBody>
        </p:sp>
      </p:grpSp>
      <p:sp>
        <p:nvSpPr>
          <p:cNvPr id="32" name="TextBox 32"/>
          <p:cNvSpPr txBox="1"/>
          <p:nvPr/>
        </p:nvSpPr>
        <p:spPr>
          <a:xfrm>
            <a:off x="12343805" y="2036266"/>
            <a:ext cx="3085654" cy="414189"/>
          </a:xfrm>
          <a:prstGeom prst="rect">
            <a:avLst/>
          </a:prstGeom>
        </p:spPr>
        <p:txBody>
          <a:bodyPr lIns="0" tIns="0" rIns="0" bIns="0" rtlCol="0" anchor="t">
            <a:spAutoFit/>
          </a:bodyPr>
          <a:lstStyle/>
          <a:p>
            <a:pPr algn="l">
              <a:lnSpc>
                <a:spcPts val="3000"/>
              </a:lnSpc>
            </a:pPr>
            <a:r>
              <a:rPr lang="en-US" sz="2375">
                <a:solidFill>
                  <a:srgbClr val="504C49"/>
                </a:solidFill>
                <a:latin typeface="Arimo"/>
                <a:ea typeface="Arimo"/>
                <a:cs typeface="Arimo"/>
                <a:sym typeface="Arimo"/>
              </a:rPr>
              <a:t>PUT</a:t>
            </a:r>
          </a:p>
        </p:txBody>
      </p:sp>
      <p:sp>
        <p:nvSpPr>
          <p:cNvPr id="33" name="TextBox 33"/>
          <p:cNvSpPr txBox="1"/>
          <p:nvPr/>
        </p:nvSpPr>
        <p:spPr>
          <a:xfrm>
            <a:off x="12343805" y="2522339"/>
            <a:ext cx="4804916" cy="165616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Used to </a:t>
            </a:r>
            <a:r>
              <a:rPr lang="en-US" sz="1937" b="1">
                <a:solidFill>
                  <a:srgbClr val="504C49"/>
                </a:solidFill>
                <a:latin typeface="Source Serif Pro Bold"/>
                <a:ea typeface="Source Serif Pro Bold"/>
                <a:cs typeface="Source Serif Pro Bold"/>
                <a:sym typeface="Source Serif Pro Bold"/>
              </a:rPr>
              <a:t>update or replace</a:t>
            </a:r>
            <a:r>
              <a:rPr lang="en-US" sz="1937">
                <a:solidFill>
                  <a:srgbClr val="504C49"/>
                </a:solidFill>
                <a:latin typeface="Source Serif Pro"/>
                <a:ea typeface="Source Serif Pro"/>
                <a:cs typeface="Source Serif Pro"/>
                <a:sym typeface="Source Serif Pro"/>
              </a:rPr>
              <a:t> an entire resource with the data provided in the request body. If the resource does not exist, PUT may create it. Idempotent.</a:t>
            </a:r>
          </a:p>
        </p:txBody>
      </p:sp>
      <p:grpSp>
        <p:nvGrpSpPr>
          <p:cNvPr id="34" name="Group 34"/>
          <p:cNvGrpSpPr/>
          <p:nvPr/>
        </p:nvGrpSpPr>
        <p:grpSpPr>
          <a:xfrm>
            <a:off x="12343805" y="4456211"/>
            <a:ext cx="4804916" cy="765274"/>
            <a:chOff x="0" y="0"/>
            <a:chExt cx="6406555" cy="1020365"/>
          </a:xfrm>
        </p:grpSpPr>
        <p:sp>
          <p:nvSpPr>
            <p:cNvPr id="35" name="Freeform 35"/>
            <p:cNvSpPr/>
            <p:nvPr/>
          </p:nvSpPr>
          <p:spPr>
            <a:xfrm>
              <a:off x="0" y="0"/>
              <a:ext cx="6406642" cy="1020445"/>
            </a:xfrm>
            <a:custGeom>
              <a:avLst/>
              <a:gdLst/>
              <a:ahLst/>
              <a:cxnLst/>
              <a:rect l="l" t="t" r="r" b="b"/>
              <a:pathLst>
                <a:path w="6406642" h="1020445">
                  <a:moveTo>
                    <a:pt x="0" y="49403"/>
                  </a:moveTo>
                  <a:cubicBezTo>
                    <a:pt x="0" y="22098"/>
                    <a:pt x="22098" y="0"/>
                    <a:pt x="49403" y="0"/>
                  </a:cubicBezTo>
                  <a:lnTo>
                    <a:pt x="6357239" y="0"/>
                  </a:lnTo>
                  <a:cubicBezTo>
                    <a:pt x="6384544" y="0"/>
                    <a:pt x="6406642" y="22098"/>
                    <a:pt x="6406642" y="49403"/>
                  </a:cubicBezTo>
                  <a:lnTo>
                    <a:pt x="6406642" y="971042"/>
                  </a:lnTo>
                  <a:cubicBezTo>
                    <a:pt x="6406642" y="998347"/>
                    <a:pt x="6384544" y="1020445"/>
                    <a:pt x="6357239"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grpSp>
        <p:nvGrpSpPr>
          <p:cNvPr id="36" name="Group 36"/>
          <p:cNvGrpSpPr/>
          <p:nvPr/>
        </p:nvGrpSpPr>
        <p:grpSpPr>
          <a:xfrm>
            <a:off x="12331601" y="4456211"/>
            <a:ext cx="4829324" cy="765274"/>
            <a:chOff x="0" y="0"/>
            <a:chExt cx="6439098" cy="1020365"/>
          </a:xfrm>
        </p:grpSpPr>
        <p:sp>
          <p:nvSpPr>
            <p:cNvPr id="37" name="Freeform 37"/>
            <p:cNvSpPr/>
            <p:nvPr/>
          </p:nvSpPr>
          <p:spPr>
            <a:xfrm>
              <a:off x="0" y="0"/>
              <a:ext cx="6439154" cy="1020445"/>
            </a:xfrm>
            <a:custGeom>
              <a:avLst/>
              <a:gdLst/>
              <a:ahLst/>
              <a:cxnLst/>
              <a:rect l="l" t="t" r="r" b="b"/>
              <a:pathLst>
                <a:path w="6439154" h="1020445">
                  <a:moveTo>
                    <a:pt x="0" y="49403"/>
                  </a:moveTo>
                  <a:cubicBezTo>
                    <a:pt x="0" y="22098"/>
                    <a:pt x="22098" y="0"/>
                    <a:pt x="49403" y="0"/>
                  </a:cubicBezTo>
                  <a:lnTo>
                    <a:pt x="6389751" y="0"/>
                  </a:lnTo>
                  <a:cubicBezTo>
                    <a:pt x="6417056" y="0"/>
                    <a:pt x="6439154" y="22098"/>
                    <a:pt x="6439154" y="49403"/>
                  </a:cubicBezTo>
                  <a:lnTo>
                    <a:pt x="6439154" y="971042"/>
                  </a:lnTo>
                  <a:cubicBezTo>
                    <a:pt x="6439154" y="998347"/>
                    <a:pt x="6417056" y="1020445"/>
                    <a:pt x="6389751"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sp>
        <p:nvSpPr>
          <p:cNvPr id="38" name="TextBox 38"/>
          <p:cNvSpPr txBox="1"/>
          <p:nvPr/>
        </p:nvSpPr>
        <p:spPr>
          <a:xfrm>
            <a:off x="12578357" y="4527054"/>
            <a:ext cx="4335810" cy="509290"/>
          </a:xfrm>
          <a:prstGeom prst="rect">
            <a:avLst/>
          </a:prstGeom>
        </p:spPr>
        <p:txBody>
          <a:bodyPr lIns="0" tIns="0" rIns="0" bIns="0" rtlCol="0" anchor="t">
            <a:spAutoFit/>
          </a:bodyPr>
          <a:lstStyle/>
          <a:p>
            <a:pPr algn="l">
              <a:lnSpc>
                <a:spcPts val="3062"/>
              </a:lnSpc>
            </a:pPr>
            <a:r>
              <a:rPr lang="en-US" sz="1937">
                <a:solidFill>
                  <a:srgbClr val="504C49"/>
                </a:solidFill>
                <a:latin typeface="Consolas"/>
                <a:ea typeface="Consolas"/>
                <a:cs typeface="Consolas"/>
                <a:sym typeface="Consolas"/>
              </a:rPr>
              <a:t>PUT /users/123</a:t>
            </a:r>
          </a:p>
        </p:txBody>
      </p:sp>
      <p:sp>
        <p:nvSpPr>
          <p:cNvPr id="39" name="TextBox 39"/>
          <p:cNvSpPr txBox="1"/>
          <p:nvPr/>
        </p:nvSpPr>
        <p:spPr>
          <a:xfrm>
            <a:off x="12343805" y="5422999"/>
            <a:ext cx="4804916" cy="47119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Replaces the entire user with ID 123.</a:t>
            </a:r>
          </a:p>
        </p:txBody>
      </p:sp>
      <p:grpSp>
        <p:nvGrpSpPr>
          <p:cNvPr id="40" name="Group 40"/>
          <p:cNvGrpSpPr/>
          <p:nvPr/>
        </p:nvGrpSpPr>
        <p:grpSpPr>
          <a:xfrm>
            <a:off x="849660" y="6401991"/>
            <a:ext cx="16588680" cy="3223618"/>
            <a:chOff x="0" y="0"/>
            <a:chExt cx="22118240" cy="4298157"/>
          </a:xfrm>
        </p:grpSpPr>
        <p:sp>
          <p:nvSpPr>
            <p:cNvPr id="41" name="Freeform 41"/>
            <p:cNvSpPr/>
            <p:nvPr/>
          </p:nvSpPr>
          <p:spPr>
            <a:xfrm>
              <a:off x="19050" y="19050"/>
              <a:ext cx="22080221" cy="4260088"/>
            </a:xfrm>
            <a:custGeom>
              <a:avLst/>
              <a:gdLst/>
              <a:ahLst/>
              <a:cxnLst/>
              <a:rect l="l" t="t" r="r" b="b"/>
              <a:pathLst>
                <a:path w="22080221" h="4260088">
                  <a:moveTo>
                    <a:pt x="0" y="49403"/>
                  </a:moveTo>
                  <a:cubicBezTo>
                    <a:pt x="0" y="22098"/>
                    <a:pt x="22225" y="0"/>
                    <a:pt x="49784" y="0"/>
                  </a:cubicBezTo>
                  <a:lnTo>
                    <a:pt x="22030437" y="0"/>
                  </a:lnTo>
                  <a:cubicBezTo>
                    <a:pt x="22057869" y="0"/>
                    <a:pt x="22080221" y="22098"/>
                    <a:pt x="22080221" y="49403"/>
                  </a:cubicBezTo>
                  <a:lnTo>
                    <a:pt x="22080221" y="4210685"/>
                  </a:lnTo>
                  <a:cubicBezTo>
                    <a:pt x="22080221" y="4237990"/>
                    <a:pt x="22057996" y="4260088"/>
                    <a:pt x="22030437" y="4260088"/>
                  </a:cubicBezTo>
                  <a:lnTo>
                    <a:pt x="49784" y="4260088"/>
                  </a:lnTo>
                  <a:cubicBezTo>
                    <a:pt x="22352" y="4260088"/>
                    <a:pt x="0" y="4237990"/>
                    <a:pt x="0" y="4210685"/>
                  </a:cubicBezTo>
                  <a:close/>
                </a:path>
              </a:pathLst>
            </a:custGeom>
            <a:solidFill>
              <a:srgbClr val="FFFFFF"/>
            </a:solidFill>
          </p:spPr>
          <p:txBody>
            <a:bodyPr/>
            <a:lstStyle/>
            <a:p>
              <a:endParaRPr lang="en-US"/>
            </a:p>
          </p:txBody>
        </p:sp>
        <p:sp>
          <p:nvSpPr>
            <p:cNvPr id="42" name="Freeform 42"/>
            <p:cNvSpPr/>
            <p:nvPr/>
          </p:nvSpPr>
          <p:spPr>
            <a:xfrm>
              <a:off x="0" y="0"/>
              <a:ext cx="22118321" cy="4298188"/>
            </a:xfrm>
            <a:custGeom>
              <a:avLst/>
              <a:gdLst/>
              <a:ahLst/>
              <a:cxnLst/>
              <a:rect l="l" t="t" r="r" b="b"/>
              <a:pathLst>
                <a:path w="22118321" h="4298188">
                  <a:moveTo>
                    <a:pt x="0" y="68453"/>
                  </a:moveTo>
                  <a:cubicBezTo>
                    <a:pt x="0" y="30480"/>
                    <a:pt x="30861" y="0"/>
                    <a:pt x="68834" y="0"/>
                  </a:cubicBezTo>
                  <a:lnTo>
                    <a:pt x="22049487" y="0"/>
                  </a:lnTo>
                  <a:lnTo>
                    <a:pt x="22049487" y="19050"/>
                  </a:lnTo>
                  <a:lnTo>
                    <a:pt x="22049487" y="0"/>
                  </a:lnTo>
                  <a:cubicBezTo>
                    <a:pt x="22087332" y="0"/>
                    <a:pt x="22118321" y="30480"/>
                    <a:pt x="22118321" y="68453"/>
                  </a:cubicBezTo>
                  <a:lnTo>
                    <a:pt x="22099271" y="68453"/>
                  </a:lnTo>
                  <a:lnTo>
                    <a:pt x="22118321" y="68453"/>
                  </a:lnTo>
                  <a:lnTo>
                    <a:pt x="22118321" y="4229735"/>
                  </a:lnTo>
                  <a:lnTo>
                    <a:pt x="22099271" y="4229735"/>
                  </a:lnTo>
                  <a:lnTo>
                    <a:pt x="22118321" y="4229735"/>
                  </a:lnTo>
                  <a:cubicBezTo>
                    <a:pt x="22118321" y="4267708"/>
                    <a:pt x="22087460" y="4298188"/>
                    <a:pt x="22049487" y="4298188"/>
                  </a:cubicBezTo>
                  <a:lnTo>
                    <a:pt x="22049487" y="4279138"/>
                  </a:lnTo>
                  <a:lnTo>
                    <a:pt x="22049487" y="4298188"/>
                  </a:lnTo>
                  <a:lnTo>
                    <a:pt x="68834" y="4298188"/>
                  </a:lnTo>
                  <a:lnTo>
                    <a:pt x="68834" y="4279138"/>
                  </a:lnTo>
                  <a:lnTo>
                    <a:pt x="68834" y="4298188"/>
                  </a:lnTo>
                  <a:cubicBezTo>
                    <a:pt x="30988" y="4298188"/>
                    <a:pt x="0" y="4267708"/>
                    <a:pt x="0" y="4229735"/>
                  </a:cubicBezTo>
                  <a:lnTo>
                    <a:pt x="0" y="68453"/>
                  </a:lnTo>
                  <a:lnTo>
                    <a:pt x="19050" y="68453"/>
                  </a:lnTo>
                  <a:lnTo>
                    <a:pt x="0" y="68453"/>
                  </a:lnTo>
                  <a:moveTo>
                    <a:pt x="38100" y="68453"/>
                  </a:moveTo>
                  <a:lnTo>
                    <a:pt x="38100" y="4229735"/>
                  </a:lnTo>
                  <a:lnTo>
                    <a:pt x="19050" y="4229735"/>
                  </a:lnTo>
                  <a:lnTo>
                    <a:pt x="38100" y="4229735"/>
                  </a:lnTo>
                  <a:cubicBezTo>
                    <a:pt x="38100" y="4246372"/>
                    <a:pt x="51689" y="4260088"/>
                    <a:pt x="68834" y="4260088"/>
                  </a:cubicBezTo>
                  <a:lnTo>
                    <a:pt x="22049487" y="4260088"/>
                  </a:lnTo>
                  <a:cubicBezTo>
                    <a:pt x="22066504" y="4260088"/>
                    <a:pt x="22080221" y="4246372"/>
                    <a:pt x="22080221" y="4229735"/>
                  </a:cubicBezTo>
                  <a:lnTo>
                    <a:pt x="22080221" y="68453"/>
                  </a:lnTo>
                  <a:cubicBezTo>
                    <a:pt x="22080221" y="51816"/>
                    <a:pt x="22066631" y="38100"/>
                    <a:pt x="22049487" y="38100"/>
                  </a:cubicBezTo>
                  <a:lnTo>
                    <a:pt x="68834" y="38100"/>
                  </a:lnTo>
                  <a:lnTo>
                    <a:pt x="68834" y="19050"/>
                  </a:lnTo>
                  <a:lnTo>
                    <a:pt x="68834" y="38100"/>
                  </a:lnTo>
                  <a:cubicBezTo>
                    <a:pt x="51689" y="38100"/>
                    <a:pt x="38100" y="51816"/>
                    <a:pt x="38100" y="68453"/>
                  </a:cubicBezTo>
                  <a:close/>
                </a:path>
              </a:pathLst>
            </a:custGeom>
            <a:solidFill>
              <a:srgbClr val="D8D4D4"/>
            </a:solidFill>
          </p:spPr>
          <p:txBody>
            <a:bodyPr/>
            <a:lstStyle/>
            <a:p>
              <a:endParaRPr lang="en-US"/>
            </a:p>
          </p:txBody>
        </p:sp>
      </p:grpSp>
      <p:sp>
        <p:nvSpPr>
          <p:cNvPr id="43" name="TextBox 43"/>
          <p:cNvSpPr txBox="1"/>
          <p:nvPr/>
        </p:nvSpPr>
        <p:spPr>
          <a:xfrm>
            <a:off x="1139279" y="6663035"/>
            <a:ext cx="3085654" cy="414189"/>
          </a:xfrm>
          <a:prstGeom prst="rect">
            <a:avLst/>
          </a:prstGeom>
        </p:spPr>
        <p:txBody>
          <a:bodyPr lIns="0" tIns="0" rIns="0" bIns="0" rtlCol="0" anchor="t">
            <a:spAutoFit/>
          </a:bodyPr>
          <a:lstStyle/>
          <a:p>
            <a:pPr algn="l">
              <a:lnSpc>
                <a:spcPts val="3000"/>
              </a:lnSpc>
            </a:pPr>
            <a:r>
              <a:rPr lang="en-US" sz="2375">
                <a:solidFill>
                  <a:srgbClr val="504C49"/>
                </a:solidFill>
                <a:latin typeface="Arimo"/>
                <a:ea typeface="Arimo"/>
                <a:cs typeface="Arimo"/>
                <a:sym typeface="Arimo"/>
              </a:rPr>
              <a:t>DELETE</a:t>
            </a:r>
          </a:p>
        </p:txBody>
      </p:sp>
      <p:sp>
        <p:nvSpPr>
          <p:cNvPr id="44" name="TextBox 44"/>
          <p:cNvSpPr txBox="1"/>
          <p:nvPr/>
        </p:nvSpPr>
        <p:spPr>
          <a:xfrm>
            <a:off x="1139279" y="7149107"/>
            <a:ext cx="16009441" cy="47119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Used to </a:t>
            </a:r>
            <a:r>
              <a:rPr lang="en-US" sz="1937" b="1">
                <a:solidFill>
                  <a:srgbClr val="504C49"/>
                </a:solidFill>
                <a:latin typeface="Source Serif Pro Bold"/>
                <a:ea typeface="Source Serif Pro Bold"/>
                <a:cs typeface="Source Serif Pro Bold"/>
                <a:sym typeface="Source Serif Pro Bold"/>
              </a:rPr>
              <a:t>remove</a:t>
            </a:r>
            <a:r>
              <a:rPr lang="en-US" sz="1937">
                <a:solidFill>
                  <a:srgbClr val="504C49"/>
                </a:solidFill>
                <a:latin typeface="Source Serif Pro"/>
                <a:ea typeface="Source Serif Pro"/>
                <a:cs typeface="Source Serif Pro"/>
                <a:sym typeface="Source Serif Pro"/>
              </a:rPr>
              <a:t> the specified resource. DELETE requests are idempotent.</a:t>
            </a:r>
          </a:p>
        </p:txBody>
      </p:sp>
      <p:grpSp>
        <p:nvGrpSpPr>
          <p:cNvPr id="45" name="Group 45"/>
          <p:cNvGrpSpPr/>
          <p:nvPr/>
        </p:nvGrpSpPr>
        <p:grpSpPr>
          <a:xfrm>
            <a:off x="1139279" y="7898011"/>
            <a:ext cx="16009441" cy="765274"/>
            <a:chOff x="0" y="0"/>
            <a:chExt cx="21345922" cy="1020365"/>
          </a:xfrm>
        </p:grpSpPr>
        <p:sp>
          <p:nvSpPr>
            <p:cNvPr id="46" name="Freeform 46"/>
            <p:cNvSpPr/>
            <p:nvPr/>
          </p:nvSpPr>
          <p:spPr>
            <a:xfrm>
              <a:off x="0" y="0"/>
              <a:ext cx="21345906" cy="1020445"/>
            </a:xfrm>
            <a:custGeom>
              <a:avLst/>
              <a:gdLst/>
              <a:ahLst/>
              <a:cxnLst/>
              <a:rect l="l" t="t" r="r" b="b"/>
              <a:pathLst>
                <a:path w="21345906" h="1020445">
                  <a:moveTo>
                    <a:pt x="0" y="49403"/>
                  </a:moveTo>
                  <a:cubicBezTo>
                    <a:pt x="0" y="22098"/>
                    <a:pt x="22098" y="0"/>
                    <a:pt x="49403" y="0"/>
                  </a:cubicBezTo>
                  <a:lnTo>
                    <a:pt x="21296503" y="0"/>
                  </a:lnTo>
                  <a:cubicBezTo>
                    <a:pt x="21323808" y="0"/>
                    <a:pt x="21345906" y="22098"/>
                    <a:pt x="21345906" y="49403"/>
                  </a:cubicBezTo>
                  <a:lnTo>
                    <a:pt x="21345906" y="971042"/>
                  </a:lnTo>
                  <a:cubicBezTo>
                    <a:pt x="21345906" y="998347"/>
                    <a:pt x="21323808" y="1020445"/>
                    <a:pt x="21296503"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grpSp>
        <p:nvGrpSpPr>
          <p:cNvPr id="47" name="Group 47"/>
          <p:cNvGrpSpPr/>
          <p:nvPr/>
        </p:nvGrpSpPr>
        <p:grpSpPr>
          <a:xfrm>
            <a:off x="1127075" y="7898011"/>
            <a:ext cx="16033849" cy="765274"/>
            <a:chOff x="0" y="0"/>
            <a:chExt cx="21378465" cy="1020365"/>
          </a:xfrm>
        </p:grpSpPr>
        <p:sp>
          <p:nvSpPr>
            <p:cNvPr id="48" name="Freeform 48"/>
            <p:cNvSpPr/>
            <p:nvPr/>
          </p:nvSpPr>
          <p:spPr>
            <a:xfrm>
              <a:off x="0" y="0"/>
              <a:ext cx="21378545" cy="1020445"/>
            </a:xfrm>
            <a:custGeom>
              <a:avLst/>
              <a:gdLst/>
              <a:ahLst/>
              <a:cxnLst/>
              <a:rect l="l" t="t" r="r" b="b"/>
              <a:pathLst>
                <a:path w="21378545" h="1020445">
                  <a:moveTo>
                    <a:pt x="0" y="49403"/>
                  </a:moveTo>
                  <a:cubicBezTo>
                    <a:pt x="0" y="22098"/>
                    <a:pt x="22098" y="0"/>
                    <a:pt x="49403" y="0"/>
                  </a:cubicBezTo>
                  <a:lnTo>
                    <a:pt x="21329142" y="0"/>
                  </a:lnTo>
                  <a:cubicBezTo>
                    <a:pt x="21356447" y="0"/>
                    <a:pt x="21378545" y="22098"/>
                    <a:pt x="21378545" y="49403"/>
                  </a:cubicBezTo>
                  <a:lnTo>
                    <a:pt x="21378545" y="971042"/>
                  </a:lnTo>
                  <a:cubicBezTo>
                    <a:pt x="21378545" y="998347"/>
                    <a:pt x="21356447" y="1020445"/>
                    <a:pt x="21329142" y="1020445"/>
                  </a:cubicBezTo>
                  <a:lnTo>
                    <a:pt x="49403" y="1020445"/>
                  </a:lnTo>
                  <a:cubicBezTo>
                    <a:pt x="22098" y="1020318"/>
                    <a:pt x="0" y="998220"/>
                    <a:pt x="0" y="971042"/>
                  </a:cubicBezTo>
                  <a:close/>
                </a:path>
              </a:pathLst>
            </a:custGeom>
            <a:solidFill>
              <a:srgbClr val="F2F2F2"/>
            </a:solidFill>
          </p:spPr>
          <p:txBody>
            <a:bodyPr/>
            <a:lstStyle/>
            <a:p>
              <a:endParaRPr lang="en-US"/>
            </a:p>
          </p:txBody>
        </p:sp>
      </p:grpSp>
      <p:sp>
        <p:nvSpPr>
          <p:cNvPr id="49" name="TextBox 49"/>
          <p:cNvSpPr txBox="1"/>
          <p:nvPr/>
        </p:nvSpPr>
        <p:spPr>
          <a:xfrm>
            <a:off x="1373832" y="7968852"/>
            <a:ext cx="15540335" cy="509290"/>
          </a:xfrm>
          <a:prstGeom prst="rect">
            <a:avLst/>
          </a:prstGeom>
        </p:spPr>
        <p:txBody>
          <a:bodyPr lIns="0" tIns="0" rIns="0" bIns="0" rtlCol="0" anchor="t">
            <a:spAutoFit/>
          </a:bodyPr>
          <a:lstStyle/>
          <a:p>
            <a:pPr algn="l">
              <a:lnSpc>
                <a:spcPts val="3062"/>
              </a:lnSpc>
            </a:pPr>
            <a:r>
              <a:rPr lang="en-US" sz="1937">
                <a:solidFill>
                  <a:srgbClr val="504C49"/>
                </a:solidFill>
                <a:latin typeface="Consolas"/>
                <a:ea typeface="Consolas"/>
                <a:cs typeface="Consolas"/>
                <a:sym typeface="Consolas"/>
              </a:rPr>
              <a:t>DELETE /users/123</a:t>
            </a:r>
          </a:p>
        </p:txBody>
      </p:sp>
      <p:sp>
        <p:nvSpPr>
          <p:cNvPr id="50" name="TextBox 50"/>
          <p:cNvSpPr txBox="1"/>
          <p:nvPr/>
        </p:nvSpPr>
        <p:spPr>
          <a:xfrm>
            <a:off x="1139279" y="8864799"/>
            <a:ext cx="16009441" cy="471190"/>
          </a:xfrm>
          <a:prstGeom prst="rect">
            <a:avLst/>
          </a:prstGeom>
        </p:spPr>
        <p:txBody>
          <a:bodyPr lIns="0" tIns="0" rIns="0" bIns="0" rtlCol="0" anchor="t">
            <a:spAutoFit/>
          </a:bodyPr>
          <a:lstStyle/>
          <a:p>
            <a:pPr algn="l">
              <a:lnSpc>
                <a:spcPts val="3062"/>
              </a:lnSpc>
            </a:pPr>
            <a:r>
              <a:rPr lang="en-US" sz="1937">
                <a:solidFill>
                  <a:srgbClr val="504C49"/>
                </a:solidFill>
                <a:latin typeface="Source Serif Pro"/>
                <a:ea typeface="Source Serif Pro"/>
                <a:cs typeface="Source Serif Pro"/>
                <a:sym typeface="Source Serif Pro"/>
              </a:rPr>
              <a:t>Deletes the user with ID 123.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992238" y="892076"/>
            <a:ext cx="10385672" cy="825995"/>
          </a:xfrm>
          <a:prstGeom prst="rect">
            <a:avLst/>
          </a:prstGeom>
        </p:spPr>
        <p:txBody>
          <a:bodyPr lIns="0" tIns="0" rIns="0" bIns="0" rtlCol="0" anchor="t">
            <a:spAutoFit/>
          </a:bodyPr>
          <a:lstStyle/>
          <a:p>
            <a:pPr algn="l">
              <a:lnSpc>
                <a:spcPts val="6937"/>
              </a:lnSpc>
            </a:pPr>
            <a:r>
              <a:rPr lang="en-US" sz="5562" dirty="0">
                <a:solidFill>
                  <a:srgbClr val="201B18"/>
                </a:solidFill>
                <a:latin typeface="Arimo"/>
                <a:ea typeface="Arimo"/>
                <a:cs typeface="Arimo"/>
                <a:sym typeface="Arimo"/>
              </a:rPr>
              <a:t>HTTP Status Codes</a:t>
            </a:r>
          </a:p>
        </p:txBody>
      </p:sp>
      <p:sp>
        <p:nvSpPr>
          <p:cNvPr id="7" name="TextBox 7"/>
          <p:cNvSpPr txBox="1"/>
          <p:nvPr/>
        </p:nvSpPr>
        <p:spPr>
          <a:xfrm>
            <a:off x="992238" y="2316510"/>
            <a:ext cx="16303526" cy="992981"/>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Status codes tell you whether your API request succeeded, failed, or encountered an issue. Understanding these codes is crucial for debugging and troubleshooting.</a:t>
            </a:r>
          </a:p>
        </p:txBody>
      </p:sp>
      <p:grpSp>
        <p:nvGrpSpPr>
          <p:cNvPr id="8" name="Group 8"/>
          <p:cNvGrpSpPr/>
          <p:nvPr/>
        </p:nvGrpSpPr>
        <p:grpSpPr>
          <a:xfrm>
            <a:off x="987475" y="3623667"/>
            <a:ext cx="16313051" cy="5718870"/>
            <a:chOff x="0" y="0"/>
            <a:chExt cx="21750735" cy="7625160"/>
          </a:xfrm>
        </p:grpSpPr>
        <p:sp>
          <p:nvSpPr>
            <p:cNvPr id="9" name="Freeform 9"/>
            <p:cNvSpPr/>
            <p:nvPr/>
          </p:nvSpPr>
          <p:spPr>
            <a:xfrm>
              <a:off x="0" y="0"/>
              <a:ext cx="21750781" cy="7625207"/>
            </a:xfrm>
            <a:custGeom>
              <a:avLst/>
              <a:gdLst/>
              <a:ahLst/>
              <a:cxnLst/>
              <a:rect l="l" t="t" r="r" b="b"/>
              <a:pathLst>
                <a:path w="21750781" h="7625207">
                  <a:moveTo>
                    <a:pt x="0" y="63119"/>
                  </a:moveTo>
                  <a:cubicBezTo>
                    <a:pt x="0" y="28194"/>
                    <a:pt x="28321" y="0"/>
                    <a:pt x="63119" y="0"/>
                  </a:cubicBezTo>
                  <a:lnTo>
                    <a:pt x="21687662" y="0"/>
                  </a:lnTo>
                  <a:lnTo>
                    <a:pt x="21687662" y="6350"/>
                  </a:lnTo>
                  <a:lnTo>
                    <a:pt x="21687662" y="0"/>
                  </a:lnTo>
                  <a:cubicBezTo>
                    <a:pt x="21722460" y="0"/>
                    <a:pt x="21750781" y="28194"/>
                    <a:pt x="21750781" y="63119"/>
                  </a:cubicBezTo>
                  <a:lnTo>
                    <a:pt x="21744431" y="63119"/>
                  </a:lnTo>
                  <a:lnTo>
                    <a:pt x="21750781" y="63119"/>
                  </a:lnTo>
                  <a:lnTo>
                    <a:pt x="21750781" y="7562088"/>
                  </a:lnTo>
                  <a:lnTo>
                    <a:pt x="21744431" y="7562088"/>
                  </a:lnTo>
                  <a:lnTo>
                    <a:pt x="21750781" y="7562088"/>
                  </a:lnTo>
                  <a:cubicBezTo>
                    <a:pt x="21750781" y="7596886"/>
                    <a:pt x="21722460" y="7625207"/>
                    <a:pt x="21687662" y="7625207"/>
                  </a:cubicBezTo>
                  <a:lnTo>
                    <a:pt x="21687662" y="7618857"/>
                  </a:lnTo>
                  <a:lnTo>
                    <a:pt x="21687662" y="7625207"/>
                  </a:lnTo>
                  <a:lnTo>
                    <a:pt x="63119" y="7625207"/>
                  </a:lnTo>
                  <a:lnTo>
                    <a:pt x="63119" y="7618857"/>
                  </a:lnTo>
                  <a:lnTo>
                    <a:pt x="63119" y="7625207"/>
                  </a:lnTo>
                  <a:cubicBezTo>
                    <a:pt x="28321" y="7625207"/>
                    <a:pt x="0" y="7597013"/>
                    <a:pt x="0" y="7562088"/>
                  </a:cubicBezTo>
                  <a:lnTo>
                    <a:pt x="0" y="63119"/>
                  </a:lnTo>
                  <a:lnTo>
                    <a:pt x="6350" y="63119"/>
                  </a:lnTo>
                  <a:lnTo>
                    <a:pt x="0" y="63119"/>
                  </a:lnTo>
                  <a:moveTo>
                    <a:pt x="12700" y="63119"/>
                  </a:moveTo>
                  <a:lnTo>
                    <a:pt x="12700" y="7562088"/>
                  </a:lnTo>
                  <a:lnTo>
                    <a:pt x="6350" y="7562088"/>
                  </a:lnTo>
                  <a:lnTo>
                    <a:pt x="12700" y="7562088"/>
                  </a:lnTo>
                  <a:cubicBezTo>
                    <a:pt x="12700" y="7589901"/>
                    <a:pt x="35306" y="7612507"/>
                    <a:pt x="63119" y="7612507"/>
                  </a:cubicBezTo>
                  <a:lnTo>
                    <a:pt x="21687662" y="7612507"/>
                  </a:lnTo>
                  <a:cubicBezTo>
                    <a:pt x="21715476" y="7612507"/>
                    <a:pt x="21738081" y="7589901"/>
                    <a:pt x="21738081" y="7562088"/>
                  </a:cubicBezTo>
                  <a:lnTo>
                    <a:pt x="21738081" y="63119"/>
                  </a:lnTo>
                  <a:cubicBezTo>
                    <a:pt x="21738081" y="35306"/>
                    <a:pt x="21715476" y="12700"/>
                    <a:pt x="21687662" y="12700"/>
                  </a:cubicBezTo>
                  <a:lnTo>
                    <a:pt x="63119" y="12700"/>
                  </a:lnTo>
                  <a:lnTo>
                    <a:pt x="63119" y="6350"/>
                  </a:lnTo>
                  <a:lnTo>
                    <a:pt x="63119" y="12700"/>
                  </a:lnTo>
                  <a:cubicBezTo>
                    <a:pt x="35306" y="12700"/>
                    <a:pt x="12700" y="35306"/>
                    <a:pt x="12700" y="63119"/>
                  </a:cubicBezTo>
                  <a:close/>
                </a:path>
              </a:pathLst>
            </a:custGeom>
            <a:solidFill>
              <a:srgbClr val="000000">
                <a:alpha val="392"/>
              </a:srgbClr>
            </a:solidFill>
          </p:spPr>
          <p:txBody>
            <a:bodyPr/>
            <a:lstStyle/>
            <a:p>
              <a:endParaRPr lang="en-US"/>
            </a:p>
          </p:txBody>
        </p:sp>
      </p:grpSp>
      <p:grpSp>
        <p:nvGrpSpPr>
          <p:cNvPr id="10" name="Group 10"/>
          <p:cNvGrpSpPr/>
          <p:nvPr/>
        </p:nvGrpSpPr>
        <p:grpSpPr>
          <a:xfrm>
            <a:off x="1001762" y="3637955"/>
            <a:ext cx="16284476" cy="812899"/>
            <a:chOff x="0" y="0"/>
            <a:chExt cx="21712635" cy="1083865"/>
          </a:xfrm>
        </p:grpSpPr>
        <p:sp>
          <p:nvSpPr>
            <p:cNvPr id="11" name="Freeform 11"/>
            <p:cNvSpPr/>
            <p:nvPr/>
          </p:nvSpPr>
          <p:spPr>
            <a:xfrm>
              <a:off x="0" y="0"/>
              <a:ext cx="21712682" cy="1083818"/>
            </a:xfrm>
            <a:custGeom>
              <a:avLst/>
              <a:gdLst/>
              <a:ahLst/>
              <a:cxnLst/>
              <a:rect l="l" t="t" r="r" b="b"/>
              <a:pathLst>
                <a:path w="21712682" h="1083818">
                  <a:moveTo>
                    <a:pt x="0" y="0"/>
                  </a:moveTo>
                  <a:lnTo>
                    <a:pt x="21712682" y="0"/>
                  </a:lnTo>
                  <a:lnTo>
                    <a:pt x="21712682" y="1083818"/>
                  </a:lnTo>
                  <a:lnTo>
                    <a:pt x="0" y="1083818"/>
                  </a:lnTo>
                  <a:close/>
                </a:path>
              </a:pathLst>
            </a:custGeom>
            <a:solidFill>
              <a:srgbClr val="FFFFFF">
                <a:alpha val="0"/>
              </a:srgbClr>
            </a:solidFill>
          </p:spPr>
          <p:txBody>
            <a:bodyPr/>
            <a:lstStyle/>
            <a:p>
              <a:endParaRPr lang="en-US"/>
            </a:p>
          </p:txBody>
        </p:sp>
      </p:grpSp>
      <p:sp>
        <p:nvSpPr>
          <p:cNvPr id="12" name="TextBox 12"/>
          <p:cNvSpPr txBox="1"/>
          <p:nvPr/>
        </p:nvSpPr>
        <p:spPr>
          <a:xfrm>
            <a:off x="1285429" y="3731865"/>
            <a:ext cx="2685009" cy="539354"/>
          </a:xfrm>
          <a:prstGeom prst="rect">
            <a:avLst/>
          </a:prstGeom>
        </p:spPr>
        <p:txBody>
          <a:bodyPr lIns="0" tIns="0" rIns="0" bIns="0" rtlCol="0" anchor="t">
            <a:spAutoFit/>
          </a:bodyPr>
          <a:lstStyle/>
          <a:p>
            <a:pPr algn="l">
              <a:lnSpc>
                <a:spcPts val="3562"/>
              </a:lnSpc>
            </a:pPr>
            <a:r>
              <a:rPr lang="en-US" sz="2187" b="1">
                <a:solidFill>
                  <a:srgbClr val="504C49"/>
                </a:solidFill>
                <a:latin typeface="Source Serif Pro Bold"/>
                <a:ea typeface="Source Serif Pro Bold"/>
                <a:cs typeface="Source Serif Pro Bold"/>
                <a:sym typeface="Source Serif Pro Bold"/>
              </a:rPr>
              <a:t>Code</a:t>
            </a:r>
          </a:p>
        </p:txBody>
      </p:sp>
      <p:sp>
        <p:nvSpPr>
          <p:cNvPr id="13" name="TextBox 13"/>
          <p:cNvSpPr txBox="1"/>
          <p:nvPr/>
        </p:nvSpPr>
        <p:spPr>
          <a:xfrm>
            <a:off x="4546998" y="3731865"/>
            <a:ext cx="4308722" cy="539354"/>
          </a:xfrm>
          <a:prstGeom prst="rect">
            <a:avLst/>
          </a:prstGeom>
        </p:spPr>
        <p:txBody>
          <a:bodyPr lIns="0" tIns="0" rIns="0" bIns="0" rtlCol="0" anchor="t">
            <a:spAutoFit/>
          </a:bodyPr>
          <a:lstStyle/>
          <a:p>
            <a:pPr algn="l">
              <a:lnSpc>
                <a:spcPts val="3562"/>
              </a:lnSpc>
            </a:pPr>
            <a:r>
              <a:rPr lang="en-US" sz="2187" b="1">
                <a:solidFill>
                  <a:srgbClr val="504C49"/>
                </a:solidFill>
                <a:latin typeface="Source Serif Pro Bold"/>
                <a:ea typeface="Source Serif Pro Bold"/>
                <a:cs typeface="Source Serif Pro Bold"/>
                <a:sym typeface="Source Serif Pro Bold"/>
              </a:rPr>
              <a:t>Meaning</a:t>
            </a:r>
          </a:p>
        </p:txBody>
      </p:sp>
      <p:sp>
        <p:nvSpPr>
          <p:cNvPr id="14" name="TextBox 14"/>
          <p:cNvSpPr txBox="1"/>
          <p:nvPr/>
        </p:nvSpPr>
        <p:spPr>
          <a:xfrm>
            <a:off x="9432280" y="3731865"/>
            <a:ext cx="7570440" cy="539354"/>
          </a:xfrm>
          <a:prstGeom prst="rect">
            <a:avLst/>
          </a:prstGeom>
        </p:spPr>
        <p:txBody>
          <a:bodyPr lIns="0" tIns="0" rIns="0" bIns="0" rtlCol="0" anchor="t">
            <a:spAutoFit/>
          </a:bodyPr>
          <a:lstStyle/>
          <a:p>
            <a:pPr algn="l">
              <a:lnSpc>
                <a:spcPts val="3562"/>
              </a:lnSpc>
            </a:pPr>
            <a:r>
              <a:rPr lang="en-US" sz="2187" b="1">
                <a:solidFill>
                  <a:srgbClr val="504C49"/>
                </a:solidFill>
                <a:latin typeface="Source Serif Pro Bold"/>
                <a:ea typeface="Source Serif Pro Bold"/>
                <a:cs typeface="Source Serif Pro Bold"/>
                <a:sym typeface="Source Serif Pro Bold"/>
              </a:rPr>
              <a:t>Example Scenario</a:t>
            </a:r>
          </a:p>
        </p:txBody>
      </p:sp>
      <p:grpSp>
        <p:nvGrpSpPr>
          <p:cNvPr id="15" name="Group 15"/>
          <p:cNvGrpSpPr/>
          <p:nvPr/>
        </p:nvGrpSpPr>
        <p:grpSpPr>
          <a:xfrm>
            <a:off x="1001762" y="4450854"/>
            <a:ext cx="16284476" cy="812899"/>
            <a:chOff x="0" y="0"/>
            <a:chExt cx="21712635" cy="1083865"/>
          </a:xfrm>
        </p:grpSpPr>
        <p:sp>
          <p:nvSpPr>
            <p:cNvPr id="16" name="Freeform 16"/>
            <p:cNvSpPr/>
            <p:nvPr/>
          </p:nvSpPr>
          <p:spPr>
            <a:xfrm>
              <a:off x="0" y="0"/>
              <a:ext cx="21712682" cy="1083818"/>
            </a:xfrm>
            <a:custGeom>
              <a:avLst/>
              <a:gdLst/>
              <a:ahLst/>
              <a:cxnLst/>
              <a:rect l="l" t="t" r="r" b="b"/>
              <a:pathLst>
                <a:path w="21712682" h="1083818">
                  <a:moveTo>
                    <a:pt x="0" y="0"/>
                  </a:moveTo>
                  <a:lnTo>
                    <a:pt x="21712682" y="0"/>
                  </a:lnTo>
                  <a:lnTo>
                    <a:pt x="21712682" y="1083818"/>
                  </a:lnTo>
                  <a:lnTo>
                    <a:pt x="0" y="1083818"/>
                  </a:lnTo>
                  <a:close/>
                </a:path>
              </a:pathLst>
            </a:custGeom>
            <a:solidFill>
              <a:srgbClr val="000000">
                <a:alpha val="0"/>
              </a:srgbClr>
            </a:solidFill>
          </p:spPr>
          <p:txBody>
            <a:bodyPr/>
            <a:lstStyle/>
            <a:p>
              <a:endParaRPr lang="en-US"/>
            </a:p>
          </p:txBody>
        </p:sp>
      </p:grpSp>
      <p:sp>
        <p:nvSpPr>
          <p:cNvPr id="17" name="TextBox 17"/>
          <p:cNvSpPr txBox="1"/>
          <p:nvPr/>
        </p:nvSpPr>
        <p:spPr>
          <a:xfrm>
            <a:off x="1285429" y="4544765"/>
            <a:ext cx="2685009" cy="539354"/>
          </a:xfrm>
          <a:prstGeom prst="rect">
            <a:avLst/>
          </a:prstGeom>
        </p:spPr>
        <p:txBody>
          <a:bodyPr lIns="0" tIns="0" rIns="0" bIns="0" rtlCol="0" anchor="t">
            <a:spAutoFit/>
          </a:bodyPr>
          <a:lstStyle/>
          <a:p>
            <a:pPr algn="l">
              <a:lnSpc>
                <a:spcPts val="3562"/>
              </a:lnSpc>
            </a:pPr>
            <a:r>
              <a:rPr lang="en-US" sz="2187" b="1">
                <a:solidFill>
                  <a:srgbClr val="3E2513"/>
                </a:solidFill>
                <a:latin typeface="Source Serif Pro Bold"/>
                <a:ea typeface="Source Serif Pro Bold"/>
                <a:cs typeface="Source Serif Pro Bold"/>
                <a:sym typeface="Source Serif Pro Bold"/>
              </a:rPr>
              <a:t>200</a:t>
            </a:r>
          </a:p>
        </p:txBody>
      </p:sp>
      <p:sp>
        <p:nvSpPr>
          <p:cNvPr id="18" name="TextBox 18"/>
          <p:cNvSpPr txBox="1"/>
          <p:nvPr/>
        </p:nvSpPr>
        <p:spPr>
          <a:xfrm>
            <a:off x="4546998" y="4544765"/>
            <a:ext cx="4308722"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OK (Success)</a:t>
            </a:r>
          </a:p>
        </p:txBody>
      </p:sp>
      <p:sp>
        <p:nvSpPr>
          <p:cNvPr id="19" name="TextBox 19"/>
          <p:cNvSpPr txBox="1"/>
          <p:nvPr/>
        </p:nvSpPr>
        <p:spPr>
          <a:xfrm>
            <a:off x="9432280" y="4544765"/>
            <a:ext cx="7570440"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Data retrieved successfully</a:t>
            </a:r>
          </a:p>
        </p:txBody>
      </p:sp>
      <p:grpSp>
        <p:nvGrpSpPr>
          <p:cNvPr id="20" name="Group 20"/>
          <p:cNvGrpSpPr/>
          <p:nvPr/>
        </p:nvGrpSpPr>
        <p:grpSpPr>
          <a:xfrm>
            <a:off x="1001762" y="5263754"/>
            <a:ext cx="16284476" cy="812899"/>
            <a:chOff x="0" y="0"/>
            <a:chExt cx="21712635" cy="1083865"/>
          </a:xfrm>
        </p:grpSpPr>
        <p:sp>
          <p:nvSpPr>
            <p:cNvPr id="21" name="Freeform 21"/>
            <p:cNvSpPr/>
            <p:nvPr/>
          </p:nvSpPr>
          <p:spPr>
            <a:xfrm>
              <a:off x="0" y="0"/>
              <a:ext cx="21712682" cy="1083818"/>
            </a:xfrm>
            <a:custGeom>
              <a:avLst/>
              <a:gdLst/>
              <a:ahLst/>
              <a:cxnLst/>
              <a:rect l="l" t="t" r="r" b="b"/>
              <a:pathLst>
                <a:path w="21712682" h="1083818">
                  <a:moveTo>
                    <a:pt x="0" y="0"/>
                  </a:moveTo>
                  <a:lnTo>
                    <a:pt x="21712682" y="0"/>
                  </a:lnTo>
                  <a:lnTo>
                    <a:pt x="21712682" y="1083818"/>
                  </a:lnTo>
                  <a:lnTo>
                    <a:pt x="0" y="1083818"/>
                  </a:lnTo>
                  <a:close/>
                </a:path>
              </a:pathLst>
            </a:custGeom>
            <a:solidFill>
              <a:srgbClr val="FFFFFF">
                <a:alpha val="0"/>
              </a:srgbClr>
            </a:solidFill>
          </p:spPr>
          <p:txBody>
            <a:bodyPr/>
            <a:lstStyle/>
            <a:p>
              <a:endParaRPr lang="en-US"/>
            </a:p>
          </p:txBody>
        </p:sp>
      </p:grpSp>
      <p:sp>
        <p:nvSpPr>
          <p:cNvPr id="22" name="TextBox 22"/>
          <p:cNvSpPr txBox="1"/>
          <p:nvPr/>
        </p:nvSpPr>
        <p:spPr>
          <a:xfrm>
            <a:off x="1285429" y="5357664"/>
            <a:ext cx="2685009" cy="539354"/>
          </a:xfrm>
          <a:prstGeom prst="rect">
            <a:avLst/>
          </a:prstGeom>
        </p:spPr>
        <p:txBody>
          <a:bodyPr lIns="0" tIns="0" rIns="0" bIns="0" rtlCol="0" anchor="t">
            <a:spAutoFit/>
          </a:bodyPr>
          <a:lstStyle/>
          <a:p>
            <a:pPr algn="l">
              <a:lnSpc>
                <a:spcPts val="3562"/>
              </a:lnSpc>
            </a:pPr>
            <a:r>
              <a:rPr lang="en-US" sz="2187" b="1">
                <a:solidFill>
                  <a:srgbClr val="3E2513"/>
                </a:solidFill>
                <a:latin typeface="Source Serif Pro Bold"/>
                <a:ea typeface="Source Serif Pro Bold"/>
                <a:cs typeface="Source Serif Pro Bold"/>
                <a:sym typeface="Source Serif Pro Bold"/>
              </a:rPr>
              <a:t>201</a:t>
            </a:r>
          </a:p>
        </p:txBody>
      </p:sp>
      <p:sp>
        <p:nvSpPr>
          <p:cNvPr id="23" name="TextBox 23"/>
          <p:cNvSpPr txBox="1"/>
          <p:nvPr/>
        </p:nvSpPr>
        <p:spPr>
          <a:xfrm>
            <a:off x="4546998" y="5357664"/>
            <a:ext cx="4308722"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Created</a:t>
            </a:r>
          </a:p>
        </p:txBody>
      </p:sp>
      <p:sp>
        <p:nvSpPr>
          <p:cNvPr id="24" name="TextBox 24"/>
          <p:cNvSpPr txBox="1"/>
          <p:nvPr/>
        </p:nvSpPr>
        <p:spPr>
          <a:xfrm>
            <a:off x="9432280" y="5357664"/>
            <a:ext cx="7570440"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New resource successfully added</a:t>
            </a:r>
          </a:p>
        </p:txBody>
      </p:sp>
      <p:grpSp>
        <p:nvGrpSpPr>
          <p:cNvPr id="25" name="Group 25"/>
          <p:cNvGrpSpPr/>
          <p:nvPr/>
        </p:nvGrpSpPr>
        <p:grpSpPr>
          <a:xfrm>
            <a:off x="1001762" y="6076652"/>
            <a:ext cx="16284476" cy="812899"/>
            <a:chOff x="0" y="0"/>
            <a:chExt cx="21712635" cy="1083865"/>
          </a:xfrm>
        </p:grpSpPr>
        <p:sp>
          <p:nvSpPr>
            <p:cNvPr id="26" name="Freeform 26"/>
            <p:cNvSpPr/>
            <p:nvPr/>
          </p:nvSpPr>
          <p:spPr>
            <a:xfrm>
              <a:off x="0" y="0"/>
              <a:ext cx="21712682" cy="1083818"/>
            </a:xfrm>
            <a:custGeom>
              <a:avLst/>
              <a:gdLst/>
              <a:ahLst/>
              <a:cxnLst/>
              <a:rect l="l" t="t" r="r" b="b"/>
              <a:pathLst>
                <a:path w="21712682" h="1083818">
                  <a:moveTo>
                    <a:pt x="0" y="0"/>
                  </a:moveTo>
                  <a:lnTo>
                    <a:pt x="21712682" y="0"/>
                  </a:lnTo>
                  <a:lnTo>
                    <a:pt x="21712682" y="1083818"/>
                  </a:lnTo>
                  <a:lnTo>
                    <a:pt x="0" y="1083818"/>
                  </a:lnTo>
                  <a:close/>
                </a:path>
              </a:pathLst>
            </a:custGeom>
            <a:solidFill>
              <a:srgbClr val="000000">
                <a:alpha val="0"/>
              </a:srgbClr>
            </a:solidFill>
          </p:spPr>
          <p:txBody>
            <a:bodyPr/>
            <a:lstStyle/>
            <a:p>
              <a:endParaRPr lang="en-US"/>
            </a:p>
          </p:txBody>
        </p:sp>
      </p:grpSp>
      <p:sp>
        <p:nvSpPr>
          <p:cNvPr id="27" name="TextBox 27"/>
          <p:cNvSpPr txBox="1"/>
          <p:nvPr/>
        </p:nvSpPr>
        <p:spPr>
          <a:xfrm>
            <a:off x="1285429" y="6170562"/>
            <a:ext cx="2685009" cy="539354"/>
          </a:xfrm>
          <a:prstGeom prst="rect">
            <a:avLst/>
          </a:prstGeom>
        </p:spPr>
        <p:txBody>
          <a:bodyPr lIns="0" tIns="0" rIns="0" bIns="0" rtlCol="0" anchor="t">
            <a:spAutoFit/>
          </a:bodyPr>
          <a:lstStyle/>
          <a:p>
            <a:pPr algn="l">
              <a:lnSpc>
                <a:spcPts val="3562"/>
              </a:lnSpc>
            </a:pPr>
            <a:r>
              <a:rPr lang="en-US" sz="2187" b="1">
                <a:solidFill>
                  <a:srgbClr val="3E2513"/>
                </a:solidFill>
                <a:latin typeface="Source Serif Pro Bold"/>
                <a:ea typeface="Source Serif Pro Bold"/>
                <a:cs typeface="Source Serif Pro Bold"/>
                <a:sym typeface="Source Serif Pro Bold"/>
              </a:rPr>
              <a:t>400</a:t>
            </a:r>
          </a:p>
        </p:txBody>
      </p:sp>
      <p:sp>
        <p:nvSpPr>
          <p:cNvPr id="28" name="TextBox 28"/>
          <p:cNvSpPr txBox="1"/>
          <p:nvPr/>
        </p:nvSpPr>
        <p:spPr>
          <a:xfrm>
            <a:off x="4546998" y="6170562"/>
            <a:ext cx="4308722"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Bad Request</a:t>
            </a:r>
          </a:p>
        </p:txBody>
      </p:sp>
      <p:sp>
        <p:nvSpPr>
          <p:cNvPr id="29" name="TextBox 29"/>
          <p:cNvSpPr txBox="1"/>
          <p:nvPr/>
        </p:nvSpPr>
        <p:spPr>
          <a:xfrm>
            <a:off x="9432280" y="6170562"/>
            <a:ext cx="7570440"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Invalid or malformed data sent</a:t>
            </a:r>
          </a:p>
        </p:txBody>
      </p:sp>
      <p:grpSp>
        <p:nvGrpSpPr>
          <p:cNvPr id="30" name="Group 30"/>
          <p:cNvGrpSpPr/>
          <p:nvPr/>
        </p:nvGrpSpPr>
        <p:grpSpPr>
          <a:xfrm>
            <a:off x="1001762" y="6889551"/>
            <a:ext cx="16284476" cy="812899"/>
            <a:chOff x="0" y="0"/>
            <a:chExt cx="21712635" cy="1083865"/>
          </a:xfrm>
        </p:grpSpPr>
        <p:sp>
          <p:nvSpPr>
            <p:cNvPr id="31" name="Freeform 31"/>
            <p:cNvSpPr/>
            <p:nvPr/>
          </p:nvSpPr>
          <p:spPr>
            <a:xfrm>
              <a:off x="0" y="0"/>
              <a:ext cx="21712682" cy="1083818"/>
            </a:xfrm>
            <a:custGeom>
              <a:avLst/>
              <a:gdLst/>
              <a:ahLst/>
              <a:cxnLst/>
              <a:rect l="l" t="t" r="r" b="b"/>
              <a:pathLst>
                <a:path w="21712682" h="1083818">
                  <a:moveTo>
                    <a:pt x="0" y="0"/>
                  </a:moveTo>
                  <a:lnTo>
                    <a:pt x="21712682" y="0"/>
                  </a:lnTo>
                  <a:lnTo>
                    <a:pt x="21712682" y="1083818"/>
                  </a:lnTo>
                  <a:lnTo>
                    <a:pt x="0" y="1083818"/>
                  </a:lnTo>
                  <a:close/>
                </a:path>
              </a:pathLst>
            </a:custGeom>
            <a:solidFill>
              <a:srgbClr val="FFFFFF">
                <a:alpha val="0"/>
              </a:srgbClr>
            </a:solidFill>
          </p:spPr>
          <p:txBody>
            <a:bodyPr/>
            <a:lstStyle/>
            <a:p>
              <a:endParaRPr lang="en-US"/>
            </a:p>
          </p:txBody>
        </p:sp>
      </p:grpSp>
      <p:sp>
        <p:nvSpPr>
          <p:cNvPr id="32" name="TextBox 32"/>
          <p:cNvSpPr txBox="1"/>
          <p:nvPr/>
        </p:nvSpPr>
        <p:spPr>
          <a:xfrm>
            <a:off x="1285429" y="6983463"/>
            <a:ext cx="2685009" cy="539354"/>
          </a:xfrm>
          <a:prstGeom prst="rect">
            <a:avLst/>
          </a:prstGeom>
        </p:spPr>
        <p:txBody>
          <a:bodyPr lIns="0" tIns="0" rIns="0" bIns="0" rtlCol="0" anchor="t">
            <a:spAutoFit/>
          </a:bodyPr>
          <a:lstStyle/>
          <a:p>
            <a:pPr algn="l">
              <a:lnSpc>
                <a:spcPts val="3562"/>
              </a:lnSpc>
            </a:pPr>
            <a:r>
              <a:rPr lang="en-US" sz="2187" b="1">
                <a:solidFill>
                  <a:srgbClr val="3E2513"/>
                </a:solidFill>
                <a:latin typeface="Source Serif Pro Bold"/>
                <a:ea typeface="Source Serif Pro Bold"/>
                <a:cs typeface="Source Serif Pro Bold"/>
                <a:sym typeface="Source Serif Pro Bold"/>
              </a:rPr>
              <a:t>401</a:t>
            </a:r>
          </a:p>
        </p:txBody>
      </p:sp>
      <p:sp>
        <p:nvSpPr>
          <p:cNvPr id="33" name="TextBox 33"/>
          <p:cNvSpPr txBox="1"/>
          <p:nvPr/>
        </p:nvSpPr>
        <p:spPr>
          <a:xfrm>
            <a:off x="4546998" y="6983463"/>
            <a:ext cx="4308722"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Unauthorized</a:t>
            </a:r>
          </a:p>
        </p:txBody>
      </p:sp>
      <p:sp>
        <p:nvSpPr>
          <p:cNvPr id="34" name="TextBox 34"/>
          <p:cNvSpPr txBox="1"/>
          <p:nvPr/>
        </p:nvSpPr>
        <p:spPr>
          <a:xfrm>
            <a:off x="9432280" y="6983463"/>
            <a:ext cx="7570440"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Invalid or expired token</a:t>
            </a:r>
          </a:p>
        </p:txBody>
      </p:sp>
      <p:grpSp>
        <p:nvGrpSpPr>
          <p:cNvPr id="35" name="Group 35"/>
          <p:cNvGrpSpPr/>
          <p:nvPr/>
        </p:nvGrpSpPr>
        <p:grpSpPr>
          <a:xfrm>
            <a:off x="1001762" y="7702451"/>
            <a:ext cx="16284476" cy="812899"/>
            <a:chOff x="0" y="0"/>
            <a:chExt cx="21712635" cy="1083865"/>
          </a:xfrm>
        </p:grpSpPr>
        <p:sp>
          <p:nvSpPr>
            <p:cNvPr id="36" name="Freeform 36"/>
            <p:cNvSpPr/>
            <p:nvPr/>
          </p:nvSpPr>
          <p:spPr>
            <a:xfrm>
              <a:off x="0" y="0"/>
              <a:ext cx="21712682" cy="1083818"/>
            </a:xfrm>
            <a:custGeom>
              <a:avLst/>
              <a:gdLst/>
              <a:ahLst/>
              <a:cxnLst/>
              <a:rect l="l" t="t" r="r" b="b"/>
              <a:pathLst>
                <a:path w="21712682" h="1083818">
                  <a:moveTo>
                    <a:pt x="0" y="0"/>
                  </a:moveTo>
                  <a:lnTo>
                    <a:pt x="21712682" y="0"/>
                  </a:lnTo>
                  <a:lnTo>
                    <a:pt x="21712682" y="1083818"/>
                  </a:lnTo>
                  <a:lnTo>
                    <a:pt x="0" y="1083818"/>
                  </a:lnTo>
                  <a:close/>
                </a:path>
              </a:pathLst>
            </a:custGeom>
            <a:solidFill>
              <a:srgbClr val="000000">
                <a:alpha val="0"/>
              </a:srgbClr>
            </a:solidFill>
          </p:spPr>
          <p:txBody>
            <a:bodyPr/>
            <a:lstStyle/>
            <a:p>
              <a:endParaRPr lang="en-US"/>
            </a:p>
          </p:txBody>
        </p:sp>
      </p:grpSp>
      <p:sp>
        <p:nvSpPr>
          <p:cNvPr id="37" name="TextBox 37"/>
          <p:cNvSpPr txBox="1"/>
          <p:nvPr/>
        </p:nvSpPr>
        <p:spPr>
          <a:xfrm>
            <a:off x="1285429" y="7796361"/>
            <a:ext cx="2685009" cy="539354"/>
          </a:xfrm>
          <a:prstGeom prst="rect">
            <a:avLst/>
          </a:prstGeom>
        </p:spPr>
        <p:txBody>
          <a:bodyPr lIns="0" tIns="0" rIns="0" bIns="0" rtlCol="0" anchor="t">
            <a:spAutoFit/>
          </a:bodyPr>
          <a:lstStyle/>
          <a:p>
            <a:pPr algn="l">
              <a:lnSpc>
                <a:spcPts val="3562"/>
              </a:lnSpc>
            </a:pPr>
            <a:r>
              <a:rPr lang="en-US" sz="2187" b="1">
                <a:solidFill>
                  <a:srgbClr val="3E2513"/>
                </a:solidFill>
                <a:latin typeface="Source Serif Pro Bold"/>
                <a:ea typeface="Source Serif Pro Bold"/>
                <a:cs typeface="Source Serif Pro Bold"/>
                <a:sym typeface="Source Serif Pro Bold"/>
              </a:rPr>
              <a:t>404</a:t>
            </a:r>
          </a:p>
        </p:txBody>
      </p:sp>
      <p:sp>
        <p:nvSpPr>
          <p:cNvPr id="38" name="TextBox 38"/>
          <p:cNvSpPr txBox="1"/>
          <p:nvPr/>
        </p:nvSpPr>
        <p:spPr>
          <a:xfrm>
            <a:off x="4546998" y="7796361"/>
            <a:ext cx="4308722"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Not Found</a:t>
            </a:r>
          </a:p>
        </p:txBody>
      </p:sp>
      <p:sp>
        <p:nvSpPr>
          <p:cNvPr id="39" name="TextBox 39"/>
          <p:cNvSpPr txBox="1"/>
          <p:nvPr/>
        </p:nvSpPr>
        <p:spPr>
          <a:xfrm>
            <a:off x="9432280" y="7796361"/>
            <a:ext cx="7570440"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Endpoint or resource doesn't exist</a:t>
            </a:r>
          </a:p>
        </p:txBody>
      </p:sp>
      <p:grpSp>
        <p:nvGrpSpPr>
          <p:cNvPr id="40" name="Group 40"/>
          <p:cNvGrpSpPr/>
          <p:nvPr/>
        </p:nvGrpSpPr>
        <p:grpSpPr>
          <a:xfrm>
            <a:off x="1001762" y="8515350"/>
            <a:ext cx="16284476" cy="812899"/>
            <a:chOff x="0" y="0"/>
            <a:chExt cx="21712635" cy="1083865"/>
          </a:xfrm>
        </p:grpSpPr>
        <p:sp>
          <p:nvSpPr>
            <p:cNvPr id="41" name="Freeform 41"/>
            <p:cNvSpPr/>
            <p:nvPr/>
          </p:nvSpPr>
          <p:spPr>
            <a:xfrm>
              <a:off x="0" y="0"/>
              <a:ext cx="21712682" cy="1083818"/>
            </a:xfrm>
            <a:custGeom>
              <a:avLst/>
              <a:gdLst/>
              <a:ahLst/>
              <a:cxnLst/>
              <a:rect l="l" t="t" r="r" b="b"/>
              <a:pathLst>
                <a:path w="21712682" h="1083818">
                  <a:moveTo>
                    <a:pt x="0" y="0"/>
                  </a:moveTo>
                  <a:lnTo>
                    <a:pt x="21712682" y="0"/>
                  </a:lnTo>
                  <a:lnTo>
                    <a:pt x="21712682" y="1083818"/>
                  </a:lnTo>
                  <a:lnTo>
                    <a:pt x="0" y="1083818"/>
                  </a:lnTo>
                  <a:close/>
                </a:path>
              </a:pathLst>
            </a:custGeom>
            <a:solidFill>
              <a:srgbClr val="FFFFFF">
                <a:alpha val="0"/>
              </a:srgbClr>
            </a:solidFill>
          </p:spPr>
          <p:txBody>
            <a:bodyPr/>
            <a:lstStyle/>
            <a:p>
              <a:endParaRPr lang="en-US"/>
            </a:p>
          </p:txBody>
        </p:sp>
      </p:grpSp>
      <p:sp>
        <p:nvSpPr>
          <p:cNvPr id="42" name="TextBox 42"/>
          <p:cNvSpPr txBox="1"/>
          <p:nvPr/>
        </p:nvSpPr>
        <p:spPr>
          <a:xfrm>
            <a:off x="1285429" y="8609260"/>
            <a:ext cx="2685009" cy="539354"/>
          </a:xfrm>
          <a:prstGeom prst="rect">
            <a:avLst/>
          </a:prstGeom>
        </p:spPr>
        <p:txBody>
          <a:bodyPr lIns="0" tIns="0" rIns="0" bIns="0" rtlCol="0" anchor="t">
            <a:spAutoFit/>
          </a:bodyPr>
          <a:lstStyle/>
          <a:p>
            <a:pPr algn="l">
              <a:lnSpc>
                <a:spcPts val="3562"/>
              </a:lnSpc>
            </a:pPr>
            <a:r>
              <a:rPr lang="en-US" sz="2187" b="1">
                <a:solidFill>
                  <a:srgbClr val="3E2513"/>
                </a:solidFill>
                <a:latin typeface="Source Serif Pro Bold"/>
                <a:ea typeface="Source Serif Pro Bold"/>
                <a:cs typeface="Source Serif Pro Bold"/>
                <a:sym typeface="Source Serif Pro Bold"/>
              </a:rPr>
              <a:t>500</a:t>
            </a:r>
          </a:p>
        </p:txBody>
      </p:sp>
      <p:sp>
        <p:nvSpPr>
          <p:cNvPr id="43" name="TextBox 43"/>
          <p:cNvSpPr txBox="1"/>
          <p:nvPr/>
        </p:nvSpPr>
        <p:spPr>
          <a:xfrm>
            <a:off x="4546998" y="8609260"/>
            <a:ext cx="4308722"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Server Error</a:t>
            </a:r>
          </a:p>
        </p:txBody>
      </p:sp>
      <p:sp>
        <p:nvSpPr>
          <p:cNvPr id="44" name="TextBox 44"/>
          <p:cNvSpPr txBox="1"/>
          <p:nvPr/>
        </p:nvSpPr>
        <p:spPr>
          <a:xfrm>
            <a:off x="9432280" y="8609260"/>
            <a:ext cx="7570440" cy="539354"/>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Internal server processing failure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992238" y="2499569"/>
            <a:ext cx="9792444" cy="943124"/>
          </a:xfrm>
          <a:prstGeom prst="rect">
            <a:avLst/>
          </a:prstGeom>
        </p:spPr>
        <p:txBody>
          <a:bodyPr lIns="0" tIns="0" rIns="0" bIns="0" rtlCol="0" anchor="t">
            <a:spAutoFit/>
          </a:bodyPr>
          <a:lstStyle/>
          <a:p>
            <a:pPr algn="l">
              <a:lnSpc>
                <a:spcPts val="6937"/>
              </a:lnSpc>
            </a:pPr>
            <a:r>
              <a:rPr lang="en-US" sz="5562">
                <a:solidFill>
                  <a:srgbClr val="201B18"/>
                </a:solidFill>
                <a:latin typeface="Arimo"/>
                <a:ea typeface="Arimo"/>
                <a:cs typeface="Arimo"/>
                <a:sym typeface="Arimo"/>
              </a:rPr>
              <a:t>Authentication and Headers</a:t>
            </a:r>
          </a:p>
        </p:txBody>
      </p:sp>
      <p:sp>
        <p:nvSpPr>
          <p:cNvPr id="7" name="TextBox 7"/>
          <p:cNvSpPr txBox="1"/>
          <p:nvPr/>
        </p:nvSpPr>
        <p:spPr>
          <a:xfrm>
            <a:off x="992238" y="3782169"/>
            <a:ext cx="16303526" cy="992981"/>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HTTP headers provide metadata about your API request. They include critical information like content type and authorization credentials that ensure secure, authorized access.</a:t>
            </a:r>
          </a:p>
        </p:txBody>
      </p:sp>
      <p:grpSp>
        <p:nvGrpSpPr>
          <p:cNvPr id="8" name="Group 8"/>
          <p:cNvGrpSpPr/>
          <p:nvPr/>
        </p:nvGrpSpPr>
        <p:grpSpPr>
          <a:xfrm>
            <a:off x="973188" y="5075039"/>
            <a:ext cx="5283547" cy="2674293"/>
            <a:chOff x="0" y="0"/>
            <a:chExt cx="7044730" cy="3565723"/>
          </a:xfrm>
        </p:grpSpPr>
        <p:sp>
          <p:nvSpPr>
            <p:cNvPr id="9" name="Freeform 9"/>
            <p:cNvSpPr/>
            <p:nvPr/>
          </p:nvSpPr>
          <p:spPr>
            <a:xfrm>
              <a:off x="25400" y="25400"/>
              <a:ext cx="6994017" cy="3514852"/>
            </a:xfrm>
            <a:custGeom>
              <a:avLst/>
              <a:gdLst/>
              <a:ahLst/>
              <a:cxnLst/>
              <a:rect l="l" t="t" r="r" b="b"/>
              <a:pathLst>
                <a:path w="6994017" h="3514852">
                  <a:moveTo>
                    <a:pt x="0" y="56642"/>
                  </a:moveTo>
                  <a:cubicBezTo>
                    <a:pt x="0" y="25400"/>
                    <a:pt x="25527" y="0"/>
                    <a:pt x="57150" y="0"/>
                  </a:cubicBezTo>
                  <a:lnTo>
                    <a:pt x="6936867" y="0"/>
                  </a:lnTo>
                  <a:cubicBezTo>
                    <a:pt x="6968363" y="0"/>
                    <a:pt x="6994017" y="25400"/>
                    <a:pt x="6994017" y="56642"/>
                  </a:cubicBezTo>
                  <a:lnTo>
                    <a:pt x="6994017" y="3458210"/>
                  </a:lnTo>
                  <a:cubicBezTo>
                    <a:pt x="6994017" y="3489579"/>
                    <a:pt x="6968490" y="3514852"/>
                    <a:pt x="6936867" y="3514852"/>
                  </a:cubicBezTo>
                  <a:lnTo>
                    <a:pt x="57150" y="3514852"/>
                  </a:lnTo>
                  <a:cubicBezTo>
                    <a:pt x="25654" y="3514852"/>
                    <a:pt x="0" y="3489452"/>
                    <a:pt x="0" y="3458210"/>
                  </a:cubicBezTo>
                  <a:close/>
                </a:path>
              </a:pathLst>
            </a:custGeom>
            <a:solidFill>
              <a:srgbClr val="FFFFFF"/>
            </a:solidFill>
          </p:spPr>
          <p:txBody>
            <a:bodyPr/>
            <a:lstStyle/>
            <a:p>
              <a:endParaRPr lang="en-US"/>
            </a:p>
          </p:txBody>
        </p:sp>
        <p:sp>
          <p:nvSpPr>
            <p:cNvPr id="10" name="Freeform 10"/>
            <p:cNvSpPr/>
            <p:nvPr/>
          </p:nvSpPr>
          <p:spPr>
            <a:xfrm>
              <a:off x="0" y="0"/>
              <a:ext cx="7044817" cy="3565652"/>
            </a:xfrm>
            <a:custGeom>
              <a:avLst/>
              <a:gdLst/>
              <a:ahLst/>
              <a:cxnLst/>
              <a:rect l="l" t="t" r="r" b="b"/>
              <a:pathLst>
                <a:path w="7044817" h="3565652">
                  <a:moveTo>
                    <a:pt x="0" y="82042"/>
                  </a:moveTo>
                  <a:cubicBezTo>
                    <a:pt x="0" y="36576"/>
                    <a:pt x="37084" y="0"/>
                    <a:pt x="82550" y="0"/>
                  </a:cubicBezTo>
                  <a:lnTo>
                    <a:pt x="6962267" y="0"/>
                  </a:lnTo>
                  <a:lnTo>
                    <a:pt x="6962267" y="25400"/>
                  </a:lnTo>
                  <a:lnTo>
                    <a:pt x="6962267" y="0"/>
                  </a:lnTo>
                  <a:cubicBezTo>
                    <a:pt x="7007606" y="0"/>
                    <a:pt x="7044817" y="36576"/>
                    <a:pt x="7044817" y="82042"/>
                  </a:cubicBezTo>
                  <a:lnTo>
                    <a:pt x="7019417" y="82042"/>
                  </a:lnTo>
                  <a:lnTo>
                    <a:pt x="7044817" y="82042"/>
                  </a:lnTo>
                  <a:lnTo>
                    <a:pt x="7044817" y="3483610"/>
                  </a:lnTo>
                  <a:lnTo>
                    <a:pt x="7019417" y="3483610"/>
                  </a:lnTo>
                  <a:lnTo>
                    <a:pt x="7044817" y="3483610"/>
                  </a:lnTo>
                  <a:cubicBezTo>
                    <a:pt x="7044817" y="3529076"/>
                    <a:pt x="7007733" y="3565652"/>
                    <a:pt x="6962267" y="3565652"/>
                  </a:cubicBezTo>
                  <a:lnTo>
                    <a:pt x="6962267" y="3540252"/>
                  </a:lnTo>
                  <a:lnTo>
                    <a:pt x="6962267" y="3565652"/>
                  </a:lnTo>
                  <a:lnTo>
                    <a:pt x="82550" y="3565652"/>
                  </a:lnTo>
                  <a:lnTo>
                    <a:pt x="82550" y="3540252"/>
                  </a:lnTo>
                  <a:lnTo>
                    <a:pt x="82550" y="3565652"/>
                  </a:lnTo>
                  <a:cubicBezTo>
                    <a:pt x="37211" y="3565652"/>
                    <a:pt x="0" y="3529076"/>
                    <a:pt x="0" y="3483610"/>
                  </a:cubicBezTo>
                  <a:lnTo>
                    <a:pt x="0" y="82042"/>
                  </a:lnTo>
                  <a:lnTo>
                    <a:pt x="25400" y="82042"/>
                  </a:lnTo>
                  <a:lnTo>
                    <a:pt x="0" y="82042"/>
                  </a:lnTo>
                  <a:moveTo>
                    <a:pt x="50800" y="82042"/>
                  </a:moveTo>
                  <a:lnTo>
                    <a:pt x="50800" y="3483610"/>
                  </a:lnTo>
                  <a:lnTo>
                    <a:pt x="25400" y="3483610"/>
                  </a:lnTo>
                  <a:lnTo>
                    <a:pt x="50800" y="3483610"/>
                  </a:lnTo>
                  <a:cubicBezTo>
                    <a:pt x="50800" y="3500755"/>
                    <a:pt x="64770" y="3514852"/>
                    <a:pt x="82550" y="3514852"/>
                  </a:cubicBezTo>
                  <a:lnTo>
                    <a:pt x="6962267" y="3514852"/>
                  </a:lnTo>
                  <a:cubicBezTo>
                    <a:pt x="6979920" y="3514852"/>
                    <a:pt x="6994017" y="3500628"/>
                    <a:pt x="6994017" y="3483610"/>
                  </a:cubicBezTo>
                  <a:lnTo>
                    <a:pt x="6994017" y="82042"/>
                  </a:lnTo>
                  <a:cubicBezTo>
                    <a:pt x="6994017" y="64897"/>
                    <a:pt x="6980048" y="50800"/>
                    <a:pt x="6962267" y="50800"/>
                  </a:cubicBezTo>
                  <a:lnTo>
                    <a:pt x="82550" y="50800"/>
                  </a:lnTo>
                  <a:lnTo>
                    <a:pt x="82550" y="25400"/>
                  </a:lnTo>
                  <a:lnTo>
                    <a:pt x="82550" y="50800"/>
                  </a:lnTo>
                  <a:cubicBezTo>
                    <a:pt x="64770" y="50800"/>
                    <a:pt x="50800" y="65024"/>
                    <a:pt x="50800" y="82042"/>
                  </a:cubicBezTo>
                  <a:close/>
                </a:path>
              </a:pathLst>
            </a:custGeom>
            <a:solidFill>
              <a:srgbClr val="D8D4D4"/>
            </a:solidFill>
          </p:spPr>
          <p:txBody>
            <a:bodyPr/>
            <a:lstStyle/>
            <a:p>
              <a:endParaRPr lang="en-US"/>
            </a:p>
          </p:txBody>
        </p:sp>
      </p:grpSp>
      <p:sp>
        <p:nvSpPr>
          <p:cNvPr id="11" name="TextBox 11"/>
          <p:cNvSpPr txBox="1"/>
          <p:nvPr/>
        </p:nvSpPr>
        <p:spPr>
          <a:xfrm>
            <a:off x="1313855" y="5377606"/>
            <a:ext cx="3723234" cy="481012"/>
          </a:xfrm>
          <a:prstGeom prst="rect">
            <a:avLst/>
          </a:prstGeom>
        </p:spPr>
        <p:txBody>
          <a:bodyPr lIns="0" tIns="0" rIns="0" bIns="0" rtlCol="0" anchor="t">
            <a:spAutoFit/>
          </a:bodyPr>
          <a:lstStyle/>
          <a:p>
            <a:pPr algn="l">
              <a:lnSpc>
                <a:spcPts val="3437"/>
              </a:lnSpc>
            </a:pPr>
            <a:r>
              <a:rPr lang="en-US" sz="2750">
                <a:solidFill>
                  <a:srgbClr val="504C49"/>
                </a:solidFill>
                <a:latin typeface="Arimo"/>
                <a:ea typeface="Arimo"/>
                <a:cs typeface="Arimo"/>
                <a:sym typeface="Arimo"/>
              </a:rPr>
              <a:t>Content-Type Header</a:t>
            </a:r>
          </a:p>
        </p:txBody>
      </p:sp>
      <p:sp>
        <p:nvSpPr>
          <p:cNvPr id="12" name="TextBox 12"/>
          <p:cNvSpPr txBox="1"/>
          <p:nvPr/>
        </p:nvSpPr>
        <p:spPr>
          <a:xfrm>
            <a:off x="1313855" y="5943005"/>
            <a:ext cx="4602212" cy="1002506"/>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Specifies data format, typically application/json for modern APIs.</a:t>
            </a:r>
          </a:p>
        </p:txBody>
      </p:sp>
      <p:grpSp>
        <p:nvGrpSpPr>
          <p:cNvPr id="13" name="Group 13"/>
          <p:cNvGrpSpPr/>
          <p:nvPr/>
        </p:nvGrpSpPr>
        <p:grpSpPr>
          <a:xfrm>
            <a:off x="6502152" y="5075039"/>
            <a:ext cx="5283547" cy="2674293"/>
            <a:chOff x="0" y="0"/>
            <a:chExt cx="7044730" cy="3565723"/>
          </a:xfrm>
        </p:grpSpPr>
        <p:sp>
          <p:nvSpPr>
            <p:cNvPr id="14" name="Freeform 14"/>
            <p:cNvSpPr/>
            <p:nvPr/>
          </p:nvSpPr>
          <p:spPr>
            <a:xfrm>
              <a:off x="25400" y="25400"/>
              <a:ext cx="6994017" cy="3514852"/>
            </a:xfrm>
            <a:custGeom>
              <a:avLst/>
              <a:gdLst/>
              <a:ahLst/>
              <a:cxnLst/>
              <a:rect l="l" t="t" r="r" b="b"/>
              <a:pathLst>
                <a:path w="6994017" h="3514852">
                  <a:moveTo>
                    <a:pt x="0" y="56642"/>
                  </a:moveTo>
                  <a:cubicBezTo>
                    <a:pt x="0" y="25400"/>
                    <a:pt x="25527" y="0"/>
                    <a:pt x="57150" y="0"/>
                  </a:cubicBezTo>
                  <a:lnTo>
                    <a:pt x="6936867" y="0"/>
                  </a:lnTo>
                  <a:cubicBezTo>
                    <a:pt x="6968363" y="0"/>
                    <a:pt x="6994017" y="25400"/>
                    <a:pt x="6994017" y="56642"/>
                  </a:cubicBezTo>
                  <a:lnTo>
                    <a:pt x="6994017" y="3458210"/>
                  </a:lnTo>
                  <a:cubicBezTo>
                    <a:pt x="6994017" y="3489579"/>
                    <a:pt x="6968490" y="3514852"/>
                    <a:pt x="6936867" y="3514852"/>
                  </a:cubicBezTo>
                  <a:lnTo>
                    <a:pt x="57150" y="3514852"/>
                  </a:lnTo>
                  <a:cubicBezTo>
                    <a:pt x="25654" y="3514852"/>
                    <a:pt x="0" y="3489452"/>
                    <a:pt x="0" y="3458210"/>
                  </a:cubicBezTo>
                  <a:close/>
                </a:path>
              </a:pathLst>
            </a:custGeom>
            <a:solidFill>
              <a:srgbClr val="FFFFFF"/>
            </a:solidFill>
          </p:spPr>
          <p:txBody>
            <a:bodyPr/>
            <a:lstStyle/>
            <a:p>
              <a:endParaRPr lang="en-US"/>
            </a:p>
          </p:txBody>
        </p:sp>
        <p:sp>
          <p:nvSpPr>
            <p:cNvPr id="15" name="Freeform 15"/>
            <p:cNvSpPr/>
            <p:nvPr/>
          </p:nvSpPr>
          <p:spPr>
            <a:xfrm>
              <a:off x="0" y="0"/>
              <a:ext cx="7044817" cy="3565652"/>
            </a:xfrm>
            <a:custGeom>
              <a:avLst/>
              <a:gdLst/>
              <a:ahLst/>
              <a:cxnLst/>
              <a:rect l="l" t="t" r="r" b="b"/>
              <a:pathLst>
                <a:path w="7044817" h="3565652">
                  <a:moveTo>
                    <a:pt x="0" y="82042"/>
                  </a:moveTo>
                  <a:cubicBezTo>
                    <a:pt x="0" y="36576"/>
                    <a:pt x="37084" y="0"/>
                    <a:pt x="82550" y="0"/>
                  </a:cubicBezTo>
                  <a:lnTo>
                    <a:pt x="6962267" y="0"/>
                  </a:lnTo>
                  <a:lnTo>
                    <a:pt x="6962267" y="25400"/>
                  </a:lnTo>
                  <a:lnTo>
                    <a:pt x="6962267" y="0"/>
                  </a:lnTo>
                  <a:cubicBezTo>
                    <a:pt x="7007606" y="0"/>
                    <a:pt x="7044817" y="36576"/>
                    <a:pt x="7044817" y="82042"/>
                  </a:cubicBezTo>
                  <a:lnTo>
                    <a:pt x="7019417" y="82042"/>
                  </a:lnTo>
                  <a:lnTo>
                    <a:pt x="7044817" y="82042"/>
                  </a:lnTo>
                  <a:lnTo>
                    <a:pt x="7044817" y="3483610"/>
                  </a:lnTo>
                  <a:lnTo>
                    <a:pt x="7019417" y="3483610"/>
                  </a:lnTo>
                  <a:lnTo>
                    <a:pt x="7044817" y="3483610"/>
                  </a:lnTo>
                  <a:cubicBezTo>
                    <a:pt x="7044817" y="3529076"/>
                    <a:pt x="7007733" y="3565652"/>
                    <a:pt x="6962267" y="3565652"/>
                  </a:cubicBezTo>
                  <a:lnTo>
                    <a:pt x="6962267" y="3540252"/>
                  </a:lnTo>
                  <a:lnTo>
                    <a:pt x="6962267" y="3565652"/>
                  </a:lnTo>
                  <a:lnTo>
                    <a:pt x="82550" y="3565652"/>
                  </a:lnTo>
                  <a:lnTo>
                    <a:pt x="82550" y="3540252"/>
                  </a:lnTo>
                  <a:lnTo>
                    <a:pt x="82550" y="3565652"/>
                  </a:lnTo>
                  <a:cubicBezTo>
                    <a:pt x="37211" y="3565652"/>
                    <a:pt x="0" y="3529076"/>
                    <a:pt x="0" y="3483610"/>
                  </a:cubicBezTo>
                  <a:lnTo>
                    <a:pt x="0" y="82042"/>
                  </a:lnTo>
                  <a:lnTo>
                    <a:pt x="25400" y="82042"/>
                  </a:lnTo>
                  <a:lnTo>
                    <a:pt x="0" y="82042"/>
                  </a:lnTo>
                  <a:moveTo>
                    <a:pt x="50800" y="82042"/>
                  </a:moveTo>
                  <a:lnTo>
                    <a:pt x="50800" y="3483610"/>
                  </a:lnTo>
                  <a:lnTo>
                    <a:pt x="25400" y="3483610"/>
                  </a:lnTo>
                  <a:lnTo>
                    <a:pt x="50800" y="3483610"/>
                  </a:lnTo>
                  <a:cubicBezTo>
                    <a:pt x="50800" y="3500755"/>
                    <a:pt x="64770" y="3514852"/>
                    <a:pt x="82550" y="3514852"/>
                  </a:cubicBezTo>
                  <a:lnTo>
                    <a:pt x="6962267" y="3514852"/>
                  </a:lnTo>
                  <a:cubicBezTo>
                    <a:pt x="6979920" y="3514852"/>
                    <a:pt x="6994017" y="3500628"/>
                    <a:pt x="6994017" y="3483610"/>
                  </a:cubicBezTo>
                  <a:lnTo>
                    <a:pt x="6994017" y="82042"/>
                  </a:lnTo>
                  <a:cubicBezTo>
                    <a:pt x="6994017" y="64897"/>
                    <a:pt x="6980048" y="50800"/>
                    <a:pt x="6962267" y="50800"/>
                  </a:cubicBezTo>
                  <a:lnTo>
                    <a:pt x="82550" y="50800"/>
                  </a:lnTo>
                  <a:lnTo>
                    <a:pt x="82550" y="25400"/>
                  </a:lnTo>
                  <a:lnTo>
                    <a:pt x="82550" y="50800"/>
                  </a:lnTo>
                  <a:cubicBezTo>
                    <a:pt x="64770" y="50800"/>
                    <a:pt x="50800" y="65024"/>
                    <a:pt x="50800" y="82042"/>
                  </a:cubicBezTo>
                  <a:close/>
                </a:path>
              </a:pathLst>
            </a:custGeom>
            <a:solidFill>
              <a:srgbClr val="D8D4D4"/>
            </a:solidFill>
          </p:spPr>
          <p:txBody>
            <a:bodyPr/>
            <a:lstStyle/>
            <a:p>
              <a:endParaRPr lang="en-US"/>
            </a:p>
          </p:txBody>
        </p:sp>
      </p:grpSp>
      <p:sp>
        <p:nvSpPr>
          <p:cNvPr id="16" name="TextBox 16"/>
          <p:cNvSpPr txBox="1"/>
          <p:nvPr/>
        </p:nvSpPr>
        <p:spPr>
          <a:xfrm>
            <a:off x="6842820" y="5377606"/>
            <a:ext cx="3776662" cy="481012"/>
          </a:xfrm>
          <a:prstGeom prst="rect">
            <a:avLst/>
          </a:prstGeom>
        </p:spPr>
        <p:txBody>
          <a:bodyPr lIns="0" tIns="0" rIns="0" bIns="0" rtlCol="0" anchor="t">
            <a:spAutoFit/>
          </a:bodyPr>
          <a:lstStyle/>
          <a:p>
            <a:pPr algn="l">
              <a:lnSpc>
                <a:spcPts val="3437"/>
              </a:lnSpc>
            </a:pPr>
            <a:r>
              <a:rPr lang="en-US" sz="2750">
                <a:solidFill>
                  <a:srgbClr val="504C49"/>
                </a:solidFill>
                <a:latin typeface="Arimo"/>
                <a:ea typeface="Arimo"/>
                <a:cs typeface="Arimo"/>
                <a:sym typeface="Arimo"/>
              </a:rPr>
              <a:t>Authorization Header</a:t>
            </a:r>
          </a:p>
        </p:txBody>
      </p:sp>
      <p:sp>
        <p:nvSpPr>
          <p:cNvPr id="17" name="TextBox 17"/>
          <p:cNvSpPr txBox="1"/>
          <p:nvPr/>
        </p:nvSpPr>
        <p:spPr>
          <a:xfrm>
            <a:off x="6842820" y="5943005"/>
            <a:ext cx="4602212" cy="1465660"/>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Contains credentials like Bearer &lt;token&gt; to prove identity and permissions.</a:t>
            </a:r>
          </a:p>
        </p:txBody>
      </p:sp>
      <p:grpSp>
        <p:nvGrpSpPr>
          <p:cNvPr id="18" name="Group 18"/>
          <p:cNvGrpSpPr/>
          <p:nvPr/>
        </p:nvGrpSpPr>
        <p:grpSpPr>
          <a:xfrm>
            <a:off x="12031116" y="5075039"/>
            <a:ext cx="5283547" cy="2674293"/>
            <a:chOff x="0" y="0"/>
            <a:chExt cx="7044730" cy="3565723"/>
          </a:xfrm>
        </p:grpSpPr>
        <p:sp>
          <p:nvSpPr>
            <p:cNvPr id="19" name="Freeform 19"/>
            <p:cNvSpPr/>
            <p:nvPr/>
          </p:nvSpPr>
          <p:spPr>
            <a:xfrm>
              <a:off x="25400" y="25400"/>
              <a:ext cx="6994017" cy="3514852"/>
            </a:xfrm>
            <a:custGeom>
              <a:avLst/>
              <a:gdLst/>
              <a:ahLst/>
              <a:cxnLst/>
              <a:rect l="l" t="t" r="r" b="b"/>
              <a:pathLst>
                <a:path w="6994017" h="3514852">
                  <a:moveTo>
                    <a:pt x="0" y="56642"/>
                  </a:moveTo>
                  <a:cubicBezTo>
                    <a:pt x="0" y="25400"/>
                    <a:pt x="25527" y="0"/>
                    <a:pt x="57150" y="0"/>
                  </a:cubicBezTo>
                  <a:lnTo>
                    <a:pt x="6936867" y="0"/>
                  </a:lnTo>
                  <a:cubicBezTo>
                    <a:pt x="6968363" y="0"/>
                    <a:pt x="6994017" y="25400"/>
                    <a:pt x="6994017" y="56642"/>
                  </a:cubicBezTo>
                  <a:lnTo>
                    <a:pt x="6994017" y="3458210"/>
                  </a:lnTo>
                  <a:cubicBezTo>
                    <a:pt x="6994017" y="3489579"/>
                    <a:pt x="6968490" y="3514852"/>
                    <a:pt x="6936867" y="3514852"/>
                  </a:cubicBezTo>
                  <a:lnTo>
                    <a:pt x="57150" y="3514852"/>
                  </a:lnTo>
                  <a:cubicBezTo>
                    <a:pt x="25654" y="3514852"/>
                    <a:pt x="0" y="3489452"/>
                    <a:pt x="0" y="3458210"/>
                  </a:cubicBezTo>
                  <a:close/>
                </a:path>
              </a:pathLst>
            </a:custGeom>
            <a:solidFill>
              <a:srgbClr val="FFFFFF"/>
            </a:solidFill>
          </p:spPr>
          <p:txBody>
            <a:bodyPr/>
            <a:lstStyle/>
            <a:p>
              <a:endParaRPr lang="en-US"/>
            </a:p>
          </p:txBody>
        </p:sp>
        <p:sp>
          <p:nvSpPr>
            <p:cNvPr id="20" name="Freeform 20"/>
            <p:cNvSpPr/>
            <p:nvPr/>
          </p:nvSpPr>
          <p:spPr>
            <a:xfrm>
              <a:off x="0" y="0"/>
              <a:ext cx="7044817" cy="3565652"/>
            </a:xfrm>
            <a:custGeom>
              <a:avLst/>
              <a:gdLst/>
              <a:ahLst/>
              <a:cxnLst/>
              <a:rect l="l" t="t" r="r" b="b"/>
              <a:pathLst>
                <a:path w="7044817" h="3565652">
                  <a:moveTo>
                    <a:pt x="0" y="82042"/>
                  </a:moveTo>
                  <a:cubicBezTo>
                    <a:pt x="0" y="36576"/>
                    <a:pt x="37084" y="0"/>
                    <a:pt x="82550" y="0"/>
                  </a:cubicBezTo>
                  <a:lnTo>
                    <a:pt x="6962267" y="0"/>
                  </a:lnTo>
                  <a:lnTo>
                    <a:pt x="6962267" y="25400"/>
                  </a:lnTo>
                  <a:lnTo>
                    <a:pt x="6962267" y="0"/>
                  </a:lnTo>
                  <a:cubicBezTo>
                    <a:pt x="7007606" y="0"/>
                    <a:pt x="7044817" y="36576"/>
                    <a:pt x="7044817" y="82042"/>
                  </a:cubicBezTo>
                  <a:lnTo>
                    <a:pt x="7019417" y="82042"/>
                  </a:lnTo>
                  <a:lnTo>
                    <a:pt x="7044817" y="82042"/>
                  </a:lnTo>
                  <a:lnTo>
                    <a:pt x="7044817" y="3483610"/>
                  </a:lnTo>
                  <a:lnTo>
                    <a:pt x="7019417" y="3483610"/>
                  </a:lnTo>
                  <a:lnTo>
                    <a:pt x="7044817" y="3483610"/>
                  </a:lnTo>
                  <a:cubicBezTo>
                    <a:pt x="7044817" y="3529076"/>
                    <a:pt x="7007733" y="3565652"/>
                    <a:pt x="6962267" y="3565652"/>
                  </a:cubicBezTo>
                  <a:lnTo>
                    <a:pt x="6962267" y="3540252"/>
                  </a:lnTo>
                  <a:lnTo>
                    <a:pt x="6962267" y="3565652"/>
                  </a:lnTo>
                  <a:lnTo>
                    <a:pt x="82550" y="3565652"/>
                  </a:lnTo>
                  <a:lnTo>
                    <a:pt x="82550" y="3540252"/>
                  </a:lnTo>
                  <a:lnTo>
                    <a:pt x="82550" y="3565652"/>
                  </a:lnTo>
                  <a:cubicBezTo>
                    <a:pt x="37211" y="3565652"/>
                    <a:pt x="0" y="3529076"/>
                    <a:pt x="0" y="3483610"/>
                  </a:cubicBezTo>
                  <a:lnTo>
                    <a:pt x="0" y="82042"/>
                  </a:lnTo>
                  <a:lnTo>
                    <a:pt x="25400" y="82042"/>
                  </a:lnTo>
                  <a:lnTo>
                    <a:pt x="0" y="82042"/>
                  </a:lnTo>
                  <a:moveTo>
                    <a:pt x="50800" y="82042"/>
                  </a:moveTo>
                  <a:lnTo>
                    <a:pt x="50800" y="3483610"/>
                  </a:lnTo>
                  <a:lnTo>
                    <a:pt x="25400" y="3483610"/>
                  </a:lnTo>
                  <a:lnTo>
                    <a:pt x="50800" y="3483610"/>
                  </a:lnTo>
                  <a:cubicBezTo>
                    <a:pt x="50800" y="3500755"/>
                    <a:pt x="64770" y="3514852"/>
                    <a:pt x="82550" y="3514852"/>
                  </a:cubicBezTo>
                  <a:lnTo>
                    <a:pt x="6962267" y="3514852"/>
                  </a:lnTo>
                  <a:cubicBezTo>
                    <a:pt x="6979920" y="3514852"/>
                    <a:pt x="6994017" y="3500628"/>
                    <a:pt x="6994017" y="3483610"/>
                  </a:cubicBezTo>
                  <a:lnTo>
                    <a:pt x="6994017" y="82042"/>
                  </a:lnTo>
                  <a:cubicBezTo>
                    <a:pt x="6994017" y="64897"/>
                    <a:pt x="6980048" y="50800"/>
                    <a:pt x="6962267" y="50800"/>
                  </a:cubicBezTo>
                  <a:lnTo>
                    <a:pt x="82550" y="50800"/>
                  </a:lnTo>
                  <a:lnTo>
                    <a:pt x="82550" y="25400"/>
                  </a:lnTo>
                  <a:lnTo>
                    <a:pt x="82550" y="50800"/>
                  </a:lnTo>
                  <a:cubicBezTo>
                    <a:pt x="64770" y="50800"/>
                    <a:pt x="50800" y="65024"/>
                    <a:pt x="50800" y="82042"/>
                  </a:cubicBezTo>
                  <a:close/>
                </a:path>
              </a:pathLst>
            </a:custGeom>
            <a:solidFill>
              <a:srgbClr val="D8D4D4"/>
            </a:solidFill>
          </p:spPr>
          <p:txBody>
            <a:bodyPr/>
            <a:lstStyle/>
            <a:p>
              <a:endParaRPr lang="en-US"/>
            </a:p>
          </p:txBody>
        </p:sp>
      </p:grpSp>
      <p:sp>
        <p:nvSpPr>
          <p:cNvPr id="21" name="TextBox 21"/>
          <p:cNvSpPr txBox="1"/>
          <p:nvPr/>
        </p:nvSpPr>
        <p:spPr>
          <a:xfrm>
            <a:off x="12371784" y="5377606"/>
            <a:ext cx="3544044" cy="481012"/>
          </a:xfrm>
          <a:prstGeom prst="rect">
            <a:avLst/>
          </a:prstGeom>
        </p:spPr>
        <p:txBody>
          <a:bodyPr lIns="0" tIns="0" rIns="0" bIns="0" rtlCol="0" anchor="t">
            <a:spAutoFit/>
          </a:bodyPr>
          <a:lstStyle/>
          <a:p>
            <a:pPr algn="l">
              <a:lnSpc>
                <a:spcPts val="3437"/>
              </a:lnSpc>
            </a:pPr>
            <a:r>
              <a:rPr lang="en-US" sz="2750">
                <a:solidFill>
                  <a:srgbClr val="504C49"/>
                </a:solidFill>
                <a:latin typeface="Arimo"/>
                <a:ea typeface="Arimo"/>
                <a:cs typeface="Arimo"/>
                <a:sym typeface="Arimo"/>
              </a:rPr>
              <a:t>API Keys &amp; OAuth</a:t>
            </a:r>
          </a:p>
        </p:txBody>
      </p:sp>
      <p:sp>
        <p:nvSpPr>
          <p:cNvPr id="22" name="TextBox 22"/>
          <p:cNvSpPr txBox="1"/>
          <p:nvPr/>
        </p:nvSpPr>
        <p:spPr>
          <a:xfrm>
            <a:off x="12371784" y="5943005"/>
            <a:ext cx="4602213" cy="1446610"/>
          </a:xfrm>
          <a:prstGeom prst="rect">
            <a:avLst/>
          </a:prstGeom>
        </p:spPr>
        <p:txBody>
          <a:bodyPr lIns="0" tIns="0" rIns="0" bIns="0" rtlCol="0" anchor="t">
            <a:spAutoFit/>
          </a:bodyPr>
          <a:lstStyle/>
          <a:p>
            <a:pPr algn="l">
              <a:lnSpc>
                <a:spcPts val="3562"/>
              </a:lnSpc>
            </a:pPr>
            <a:r>
              <a:rPr lang="en-US" sz="2187">
                <a:solidFill>
                  <a:srgbClr val="504C49"/>
                </a:solidFill>
                <a:latin typeface="Source Serif Pro"/>
                <a:ea typeface="Source Serif Pro"/>
                <a:cs typeface="Source Serif Pro"/>
                <a:sym typeface="Source Serif Pro"/>
              </a:rPr>
              <a:t>Methods to authenticate users and control access without exposing sensitive credentials.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732532" y="528043"/>
            <a:ext cx="5811590" cy="701725"/>
          </a:xfrm>
          <a:prstGeom prst="rect">
            <a:avLst/>
          </a:prstGeom>
        </p:spPr>
        <p:txBody>
          <a:bodyPr lIns="0" tIns="0" rIns="0" bIns="0" rtlCol="0" anchor="t">
            <a:spAutoFit/>
          </a:bodyPr>
          <a:lstStyle/>
          <a:p>
            <a:pPr algn="l">
              <a:lnSpc>
                <a:spcPts val="5125"/>
              </a:lnSpc>
            </a:pPr>
            <a:r>
              <a:rPr lang="en-US" sz="4062">
                <a:solidFill>
                  <a:srgbClr val="201B18"/>
                </a:solidFill>
                <a:latin typeface="Arimo"/>
                <a:ea typeface="Arimo"/>
                <a:cs typeface="Arimo"/>
                <a:sym typeface="Arimo"/>
              </a:rPr>
              <a:t>Using APIs with Axios:</a:t>
            </a:r>
          </a:p>
        </p:txBody>
      </p:sp>
      <p:grpSp>
        <p:nvGrpSpPr>
          <p:cNvPr id="7" name="Group 7"/>
          <p:cNvGrpSpPr/>
          <p:nvPr/>
        </p:nvGrpSpPr>
        <p:grpSpPr>
          <a:xfrm>
            <a:off x="732532" y="1648420"/>
            <a:ext cx="16822936" cy="4333875"/>
            <a:chOff x="0" y="0"/>
            <a:chExt cx="22430582" cy="5778500"/>
          </a:xfrm>
        </p:grpSpPr>
        <p:sp>
          <p:nvSpPr>
            <p:cNvPr id="8" name="Freeform 8"/>
            <p:cNvSpPr/>
            <p:nvPr/>
          </p:nvSpPr>
          <p:spPr>
            <a:xfrm>
              <a:off x="0" y="0"/>
              <a:ext cx="22430614" cy="5778500"/>
            </a:xfrm>
            <a:custGeom>
              <a:avLst/>
              <a:gdLst/>
              <a:ahLst/>
              <a:cxnLst/>
              <a:rect l="l" t="t" r="r" b="b"/>
              <a:pathLst>
                <a:path w="22430614" h="5778500">
                  <a:moveTo>
                    <a:pt x="0" y="41910"/>
                  </a:moveTo>
                  <a:cubicBezTo>
                    <a:pt x="0" y="18796"/>
                    <a:pt x="18796" y="0"/>
                    <a:pt x="41910" y="0"/>
                  </a:cubicBezTo>
                  <a:lnTo>
                    <a:pt x="22388703" y="0"/>
                  </a:lnTo>
                  <a:cubicBezTo>
                    <a:pt x="22411817" y="0"/>
                    <a:pt x="22430614" y="18796"/>
                    <a:pt x="22430614" y="41910"/>
                  </a:cubicBezTo>
                  <a:lnTo>
                    <a:pt x="22430614" y="5736590"/>
                  </a:lnTo>
                  <a:cubicBezTo>
                    <a:pt x="22430614" y="5759704"/>
                    <a:pt x="22411817" y="5778500"/>
                    <a:pt x="22388703" y="5778500"/>
                  </a:cubicBezTo>
                  <a:lnTo>
                    <a:pt x="41910" y="5778500"/>
                  </a:lnTo>
                  <a:cubicBezTo>
                    <a:pt x="18796" y="5778500"/>
                    <a:pt x="0" y="5759704"/>
                    <a:pt x="0" y="5736590"/>
                  </a:cubicBezTo>
                  <a:close/>
                </a:path>
              </a:pathLst>
            </a:custGeom>
            <a:solidFill>
              <a:srgbClr val="F2F2F2"/>
            </a:solidFill>
          </p:spPr>
          <p:txBody>
            <a:bodyPr/>
            <a:lstStyle/>
            <a:p>
              <a:endParaRPr lang="en-US"/>
            </a:p>
          </p:txBody>
        </p:sp>
      </p:grpSp>
      <p:grpSp>
        <p:nvGrpSpPr>
          <p:cNvPr id="9" name="Group 9"/>
          <p:cNvGrpSpPr/>
          <p:nvPr/>
        </p:nvGrpSpPr>
        <p:grpSpPr>
          <a:xfrm>
            <a:off x="522982" y="1524597"/>
            <a:ext cx="17032486" cy="4656088"/>
            <a:chOff x="0" y="0"/>
            <a:chExt cx="22458363" cy="5778500"/>
          </a:xfrm>
        </p:grpSpPr>
        <p:sp>
          <p:nvSpPr>
            <p:cNvPr id="10" name="Freeform 10"/>
            <p:cNvSpPr/>
            <p:nvPr/>
          </p:nvSpPr>
          <p:spPr>
            <a:xfrm>
              <a:off x="0" y="0"/>
              <a:ext cx="22458426" cy="5778500"/>
            </a:xfrm>
            <a:custGeom>
              <a:avLst/>
              <a:gdLst/>
              <a:ahLst/>
              <a:cxnLst/>
              <a:rect l="l" t="t" r="r" b="b"/>
              <a:pathLst>
                <a:path w="22458426" h="5778500">
                  <a:moveTo>
                    <a:pt x="0" y="41910"/>
                  </a:moveTo>
                  <a:cubicBezTo>
                    <a:pt x="0" y="18796"/>
                    <a:pt x="18796" y="0"/>
                    <a:pt x="41910" y="0"/>
                  </a:cubicBezTo>
                  <a:lnTo>
                    <a:pt x="22416515" y="0"/>
                  </a:lnTo>
                  <a:cubicBezTo>
                    <a:pt x="22439629" y="0"/>
                    <a:pt x="22458426" y="18796"/>
                    <a:pt x="22458426" y="41910"/>
                  </a:cubicBezTo>
                  <a:lnTo>
                    <a:pt x="22458426" y="5736590"/>
                  </a:lnTo>
                  <a:cubicBezTo>
                    <a:pt x="22458426" y="5759704"/>
                    <a:pt x="22439629" y="5778500"/>
                    <a:pt x="22416515" y="5778500"/>
                  </a:cubicBezTo>
                  <a:lnTo>
                    <a:pt x="41910" y="5778500"/>
                  </a:lnTo>
                  <a:cubicBezTo>
                    <a:pt x="18796" y="5778500"/>
                    <a:pt x="0" y="5759704"/>
                    <a:pt x="0" y="5736590"/>
                  </a:cubicBezTo>
                  <a:close/>
                </a:path>
              </a:pathLst>
            </a:custGeom>
            <a:solidFill>
              <a:srgbClr val="F2F2F2"/>
            </a:solidFill>
          </p:spPr>
          <p:txBody>
            <a:bodyPr/>
            <a:lstStyle/>
            <a:p>
              <a:endParaRPr lang="en-US"/>
            </a:p>
          </p:txBody>
        </p:sp>
      </p:grpSp>
      <p:sp>
        <p:nvSpPr>
          <p:cNvPr id="11" name="TextBox 11"/>
          <p:cNvSpPr txBox="1"/>
          <p:nvPr/>
        </p:nvSpPr>
        <p:spPr>
          <a:xfrm>
            <a:off x="931366" y="1710035"/>
            <a:ext cx="14902485" cy="4279182"/>
          </a:xfrm>
          <a:prstGeom prst="rect">
            <a:avLst/>
          </a:prstGeom>
        </p:spPr>
        <p:txBody>
          <a:bodyPr lIns="0" tIns="0" rIns="0" bIns="0" rtlCol="0" anchor="t">
            <a:spAutoFit/>
          </a:bodyPr>
          <a:lstStyle/>
          <a:p>
            <a:pPr algn="l">
              <a:lnSpc>
                <a:spcPts val="2656"/>
              </a:lnSpc>
            </a:pPr>
            <a:r>
              <a:rPr lang="en-US" sz="1644" dirty="0">
                <a:solidFill>
                  <a:srgbClr val="504C49"/>
                </a:solidFill>
                <a:latin typeface="Consolas"/>
                <a:ea typeface="Consolas"/>
                <a:cs typeface="Consolas"/>
                <a:sym typeface="Consolas"/>
              </a:rPr>
              <a:t>import </a:t>
            </a:r>
            <a:r>
              <a:rPr lang="en-US" sz="1644" dirty="0" err="1">
                <a:solidFill>
                  <a:srgbClr val="504C49"/>
                </a:solidFill>
                <a:latin typeface="Consolas"/>
                <a:ea typeface="Consolas"/>
                <a:cs typeface="Consolas"/>
                <a:sym typeface="Consolas"/>
              </a:rPr>
              <a:t>axios</a:t>
            </a:r>
            <a:r>
              <a:rPr lang="en-US" sz="1644" dirty="0">
                <a:solidFill>
                  <a:srgbClr val="504C49"/>
                </a:solidFill>
                <a:latin typeface="Consolas"/>
                <a:ea typeface="Consolas"/>
                <a:cs typeface="Consolas"/>
                <a:sym typeface="Consolas"/>
              </a:rPr>
              <a:t> from '</a:t>
            </a:r>
            <a:r>
              <a:rPr lang="en-US" sz="1644" dirty="0" err="1">
                <a:solidFill>
                  <a:srgbClr val="504C49"/>
                </a:solidFill>
                <a:latin typeface="Consolas"/>
                <a:ea typeface="Consolas"/>
                <a:cs typeface="Consolas"/>
                <a:sym typeface="Consolas"/>
              </a:rPr>
              <a:t>axios</a:t>
            </a:r>
            <a:r>
              <a:rPr lang="en-US" sz="1644" dirty="0">
                <a:solidFill>
                  <a:srgbClr val="504C49"/>
                </a:solidFill>
                <a:latin typeface="Consolas"/>
                <a:ea typeface="Consolas"/>
                <a:cs typeface="Consolas"/>
                <a:sym typeface="Consolas"/>
              </a:rPr>
              <a:t>';</a:t>
            </a:r>
          </a:p>
          <a:p>
            <a:pPr algn="l">
              <a:lnSpc>
                <a:spcPts val="2656"/>
              </a:lnSpc>
            </a:pPr>
            <a:r>
              <a:rPr lang="en-US" sz="1644" dirty="0">
                <a:solidFill>
                  <a:srgbClr val="504C49"/>
                </a:solidFill>
                <a:latin typeface="Consolas"/>
                <a:ea typeface="Consolas"/>
                <a:cs typeface="Consolas"/>
                <a:sym typeface="Consolas"/>
              </a:rPr>
              <a:t>async function </a:t>
            </a:r>
            <a:r>
              <a:rPr lang="en-US" sz="1644" dirty="0" err="1">
                <a:solidFill>
                  <a:srgbClr val="504C49"/>
                </a:solidFill>
                <a:latin typeface="Consolas"/>
                <a:ea typeface="Consolas"/>
                <a:cs typeface="Consolas"/>
                <a:sym typeface="Consolas"/>
              </a:rPr>
              <a:t>getUserData</a:t>
            </a:r>
            <a:r>
              <a:rPr lang="en-US" sz="1644" dirty="0">
                <a:solidFill>
                  <a:srgbClr val="504C49"/>
                </a:solidFill>
                <a:latin typeface="Consolas"/>
                <a:ea typeface="Consolas"/>
                <a:cs typeface="Consolas"/>
                <a:sym typeface="Consolas"/>
              </a:rPr>
              <a:t>(</a:t>
            </a:r>
            <a:r>
              <a:rPr lang="en-US" sz="1644" dirty="0" err="1">
                <a:solidFill>
                  <a:srgbClr val="504C49"/>
                </a:solidFill>
                <a:latin typeface="Consolas"/>
                <a:ea typeface="Consolas"/>
                <a:cs typeface="Consolas"/>
                <a:sym typeface="Consolas"/>
              </a:rPr>
              <a:t>userId</a:t>
            </a:r>
            <a:r>
              <a:rPr lang="en-US" sz="1644" dirty="0">
                <a:solidFill>
                  <a:srgbClr val="504C49"/>
                </a:solidFill>
                <a:latin typeface="Consolas"/>
                <a:ea typeface="Consolas"/>
                <a:cs typeface="Consolas"/>
                <a:sym typeface="Consolas"/>
              </a:rPr>
              <a:t>) {  </a:t>
            </a:r>
          </a:p>
          <a:p>
            <a:pPr algn="l">
              <a:lnSpc>
                <a:spcPts val="2656"/>
              </a:lnSpc>
            </a:pPr>
            <a:r>
              <a:rPr lang="en-US" sz="1644" dirty="0">
                <a:solidFill>
                  <a:srgbClr val="504C49"/>
                </a:solidFill>
                <a:latin typeface="Consolas"/>
                <a:ea typeface="Consolas"/>
                <a:cs typeface="Consolas"/>
                <a:sym typeface="Consolas"/>
              </a:rPr>
              <a:t>  try {    </a:t>
            </a:r>
          </a:p>
          <a:p>
            <a:pPr algn="l">
              <a:lnSpc>
                <a:spcPts val="2656"/>
              </a:lnSpc>
            </a:pPr>
            <a:r>
              <a:rPr lang="en-US" sz="1644" dirty="0">
                <a:solidFill>
                  <a:srgbClr val="504C49"/>
                </a:solidFill>
                <a:latin typeface="Consolas"/>
                <a:ea typeface="Consolas"/>
                <a:cs typeface="Consolas"/>
                <a:sym typeface="Consolas"/>
              </a:rPr>
              <a:t>         const response = await </a:t>
            </a:r>
            <a:r>
              <a:rPr lang="en-US" sz="1644" dirty="0" err="1">
                <a:solidFill>
                  <a:srgbClr val="504C49"/>
                </a:solidFill>
                <a:latin typeface="Consolas"/>
                <a:ea typeface="Consolas"/>
                <a:cs typeface="Consolas"/>
                <a:sym typeface="Consolas"/>
              </a:rPr>
              <a:t>axios.get</a:t>
            </a:r>
            <a:r>
              <a:rPr lang="en-US" sz="1644" dirty="0">
                <a:solidFill>
                  <a:srgbClr val="504C49"/>
                </a:solidFill>
                <a:latin typeface="Consolas"/>
                <a:ea typeface="Consolas"/>
                <a:cs typeface="Consolas"/>
                <a:sym typeface="Consolas"/>
              </a:rPr>
              <a:t>(`https://</a:t>
            </a:r>
            <a:r>
              <a:rPr lang="en-US" sz="1644" dirty="0" err="1">
                <a:solidFill>
                  <a:srgbClr val="504C49"/>
                </a:solidFill>
                <a:latin typeface="Consolas"/>
                <a:ea typeface="Consolas"/>
                <a:cs typeface="Consolas"/>
                <a:sym typeface="Consolas"/>
              </a:rPr>
              <a:t>api.example.com</a:t>
            </a:r>
            <a:r>
              <a:rPr lang="en-US" sz="1644" dirty="0">
                <a:solidFill>
                  <a:srgbClr val="504C49"/>
                </a:solidFill>
                <a:latin typeface="Consolas"/>
                <a:ea typeface="Consolas"/>
                <a:cs typeface="Consolas"/>
                <a:sym typeface="Consolas"/>
              </a:rPr>
              <a:t>/users/${</a:t>
            </a:r>
            <a:r>
              <a:rPr lang="en-US" sz="1644" dirty="0" err="1">
                <a:solidFill>
                  <a:srgbClr val="504C49"/>
                </a:solidFill>
                <a:latin typeface="Consolas"/>
                <a:ea typeface="Consolas"/>
                <a:cs typeface="Consolas"/>
                <a:sym typeface="Consolas"/>
              </a:rPr>
              <a:t>userId</a:t>
            </a:r>
            <a:r>
              <a:rPr lang="en-US" sz="1644" dirty="0">
                <a:solidFill>
                  <a:srgbClr val="504C49"/>
                </a:solidFill>
                <a:latin typeface="Consolas"/>
                <a:ea typeface="Consolas"/>
                <a:cs typeface="Consolas"/>
                <a:sym typeface="Consolas"/>
              </a:rPr>
              <a:t>}`);    </a:t>
            </a:r>
          </a:p>
          <a:p>
            <a:pPr algn="l">
              <a:lnSpc>
                <a:spcPts val="2656"/>
              </a:lnSpc>
            </a:pPr>
            <a:r>
              <a:rPr lang="en-US" sz="1644" dirty="0">
                <a:solidFill>
                  <a:srgbClr val="504C49"/>
                </a:solidFill>
                <a:latin typeface="Consolas"/>
                <a:ea typeface="Consolas"/>
                <a:cs typeface="Consolas"/>
                <a:sym typeface="Consolas"/>
              </a:rPr>
              <a:t>         </a:t>
            </a:r>
            <a:r>
              <a:rPr lang="en-US" sz="1644" dirty="0" err="1">
                <a:solidFill>
                  <a:srgbClr val="504C49"/>
                </a:solidFill>
                <a:latin typeface="Consolas"/>
                <a:ea typeface="Consolas"/>
                <a:cs typeface="Consolas"/>
                <a:sym typeface="Consolas"/>
              </a:rPr>
              <a:t>console.log</a:t>
            </a:r>
            <a:r>
              <a:rPr lang="en-US" sz="1644" dirty="0">
                <a:solidFill>
                  <a:srgbClr val="504C49"/>
                </a:solidFill>
                <a:latin typeface="Consolas"/>
                <a:ea typeface="Consolas"/>
                <a:cs typeface="Consolas"/>
                <a:sym typeface="Consolas"/>
              </a:rPr>
              <a:t>('User data:', </a:t>
            </a:r>
            <a:r>
              <a:rPr lang="en-US" sz="1644" dirty="0" err="1">
                <a:solidFill>
                  <a:srgbClr val="504C49"/>
                </a:solidFill>
                <a:latin typeface="Consolas"/>
                <a:ea typeface="Consolas"/>
                <a:cs typeface="Consolas"/>
                <a:sym typeface="Consolas"/>
              </a:rPr>
              <a:t>response.data</a:t>
            </a:r>
            <a:r>
              <a:rPr lang="en-US" sz="1644" dirty="0">
                <a:solidFill>
                  <a:srgbClr val="504C49"/>
                </a:solidFill>
                <a:latin typeface="Consolas"/>
                <a:ea typeface="Consolas"/>
                <a:cs typeface="Consolas"/>
                <a:sym typeface="Consolas"/>
              </a:rPr>
              <a:t>);    </a:t>
            </a:r>
          </a:p>
          <a:p>
            <a:pPr algn="l">
              <a:lnSpc>
                <a:spcPts val="2656"/>
              </a:lnSpc>
            </a:pPr>
            <a:r>
              <a:rPr lang="en-US" sz="1644" dirty="0">
                <a:solidFill>
                  <a:srgbClr val="504C49"/>
                </a:solidFill>
                <a:latin typeface="Consolas"/>
                <a:ea typeface="Consolas"/>
                <a:cs typeface="Consolas"/>
                <a:sym typeface="Consolas"/>
              </a:rPr>
              <a:t>         return </a:t>
            </a:r>
            <a:r>
              <a:rPr lang="en-US" sz="1644" dirty="0" err="1">
                <a:solidFill>
                  <a:srgbClr val="504C49"/>
                </a:solidFill>
                <a:latin typeface="Consolas"/>
                <a:ea typeface="Consolas"/>
                <a:cs typeface="Consolas"/>
                <a:sym typeface="Consolas"/>
              </a:rPr>
              <a:t>response.data</a:t>
            </a:r>
            <a:r>
              <a:rPr lang="en-US" sz="1644" dirty="0">
                <a:solidFill>
                  <a:srgbClr val="504C49"/>
                </a:solidFill>
                <a:latin typeface="Consolas"/>
                <a:ea typeface="Consolas"/>
                <a:cs typeface="Consolas"/>
                <a:sym typeface="Consolas"/>
              </a:rPr>
              <a:t>;  </a:t>
            </a:r>
          </a:p>
          <a:p>
            <a:pPr algn="l">
              <a:lnSpc>
                <a:spcPts val="2656"/>
              </a:lnSpc>
            </a:pPr>
            <a:r>
              <a:rPr lang="en-US" sz="1644" dirty="0">
                <a:solidFill>
                  <a:srgbClr val="504C49"/>
                </a:solidFill>
                <a:latin typeface="Consolas"/>
                <a:ea typeface="Consolas"/>
                <a:cs typeface="Consolas"/>
                <a:sym typeface="Consolas"/>
              </a:rPr>
              <a:t>      } </a:t>
            </a:r>
          </a:p>
          <a:p>
            <a:pPr algn="l">
              <a:lnSpc>
                <a:spcPts val="2656"/>
              </a:lnSpc>
            </a:pPr>
            <a:r>
              <a:rPr lang="en-US" sz="1644" dirty="0">
                <a:solidFill>
                  <a:srgbClr val="504C49"/>
                </a:solidFill>
                <a:latin typeface="Consolas"/>
                <a:ea typeface="Consolas"/>
                <a:cs typeface="Consolas"/>
                <a:sym typeface="Consolas"/>
              </a:rPr>
              <a:t>  catch (error) {    </a:t>
            </a:r>
          </a:p>
          <a:p>
            <a:pPr algn="l">
              <a:lnSpc>
                <a:spcPts val="2656"/>
              </a:lnSpc>
            </a:pPr>
            <a:r>
              <a:rPr lang="en-US" sz="1644" dirty="0">
                <a:solidFill>
                  <a:srgbClr val="504C49"/>
                </a:solidFill>
                <a:latin typeface="Consolas"/>
                <a:ea typeface="Consolas"/>
                <a:cs typeface="Consolas"/>
                <a:sym typeface="Consolas"/>
              </a:rPr>
              <a:t>         </a:t>
            </a:r>
            <a:r>
              <a:rPr lang="en-US" sz="1644" dirty="0" err="1">
                <a:solidFill>
                  <a:srgbClr val="504C49"/>
                </a:solidFill>
                <a:latin typeface="Consolas"/>
                <a:ea typeface="Consolas"/>
                <a:cs typeface="Consolas"/>
                <a:sym typeface="Consolas"/>
              </a:rPr>
              <a:t>console.error</a:t>
            </a:r>
            <a:r>
              <a:rPr lang="en-US" sz="1644" dirty="0">
                <a:solidFill>
                  <a:srgbClr val="504C49"/>
                </a:solidFill>
                <a:latin typeface="Consolas"/>
                <a:ea typeface="Consolas"/>
                <a:cs typeface="Consolas"/>
                <a:sym typeface="Consolas"/>
              </a:rPr>
              <a:t>('Error fetching user data:', error);    </a:t>
            </a:r>
          </a:p>
          <a:p>
            <a:pPr algn="l">
              <a:lnSpc>
                <a:spcPts val="2656"/>
              </a:lnSpc>
            </a:pPr>
            <a:r>
              <a:rPr lang="en-US" sz="1644" dirty="0">
                <a:solidFill>
                  <a:srgbClr val="504C49"/>
                </a:solidFill>
                <a:latin typeface="Consolas"/>
                <a:ea typeface="Consolas"/>
                <a:cs typeface="Consolas"/>
                <a:sym typeface="Consolas"/>
              </a:rPr>
              <a:t>         throw error;  </a:t>
            </a:r>
          </a:p>
          <a:p>
            <a:pPr algn="l">
              <a:lnSpc>
                <a:spcPts val="2656"/>
              </a:lnSpc>
            </a:pPr>
            <a:r>
              <a:rPr lang="en-US" sz="1644" dirty="0">
                <a:solidFill>
                  <a:srgbClr val="504C49"/>
                </a:solidFill>
                <a:latin typeface="Consolas"/>
                <a:ea typeface="Consolas"/>
                <a:cs typeface="Consolas"/>
                <a:sym typeface="Consolas"/>
              </a:rPr>
              <a:t>      }</a:t>
            </a:r>
          </a:p>
          <a:p>
            <a:pPr algn="l">
              <a:lnSpc>
                <a:spcPts val="2656"/>
              </a:lnSpc>
            </a:pPr>
            <a:r>
              <a:rPr lang="en-US" sz="1644" dirty="0">
                <a:solidFill>
                  <a:srgbClr val="504C49"/>
                </a:solidFill>
                <a:latin typeface="Consolas"/>
                <a:ea typeface="Consolas"/>
                <a:cs typeface="Consolas"/>
                <a:sym typeface="Consolas"/>
              </a:rPr>
              <a:t>  }</a:t>
            </a:r>
          </a:p>
          <a:p>
            <a:pPr algn="l">
              <a:lnSpc>
                <a:spcPts val="2656"/>
              </a:lnSpc>
            </a:pPr>
            <a:r>
              <a:rPr lang="en-US" sz="1644" dirty="0" err="1">
                <a:solidFill>
                  <a:srgbClr val="504C49"/>
                </a:solidFill>
                <a:latin typeface="Consolas"/>
                <a:ea typeface="Consolas"/>
                <a:cs typeface="Consolas"/>
                <a:sym typeface="Consolas"/>
              </a:rPr>
              <a:t>getUserData</a:t>
            </a:r>
            <a:r>
              <a:rPr lang="en-US" sz="1644" dirty="0">
                <a:solidFill>
                  <a:srgbClr val="504C49"/>
                </a:solidFill>
                <a:latin typeface="Consolas"/>
                <a:ea typeface="Consolas"/>
                <a:cs typeface="Consolas"/>
                <a:sym typeface="Consolas"/>
              </a:rPr>
              <a:t>(123); </a:t>
            </a:r>
          </a:p>
        </p:txBody>
      </p:sp>
      <p:sp>
        <p:nvSpPr>
          <p:cNvPr id="12" name="TextBox 12"/>
          <p:cNvSpPr txBox="1"/>
          <p:nvPr/>
        </p:nvSpPr>
        <p:spPr>
          <a:xfrm>
            <a:off x="732532" y="6277124"/>
            <a:ext cx="2954239" cy="346025"/>
          </a:xfrm>
          <a:prstGeom prst="rect">
            <a:avLst/>
          </a:prstGeom>
        </p:spPr>
        <p:txBody>
          <a:bodyPr lIns="0" tIns="0" rIns="0" bIns="0" rtlCol="0" anchor="t">
            <a:spAutoFit/>
          </a:bodyPr>
          <a:lstStyle/>
          <a:p>
            <a:pPr algn="l">
              <a:lnSpc>
                <a:spcPts val="2562"/>
              </a:lnSpc>
            </a:pPr>
            <a:r>
              <a:rPr lang="en-US" sz="2000">
                <a:solidFill>
                  <a:srgbClr val="201B18"/>
                </a:solidFill>
                <a:latin typeface="Arimo"/>
                <a:ea typeface="Arimo"/>
                <a:cs typeface="Arimo"/>
                <a:sym typeface="Arimo"/>
              </a:rPr>
              <a:t>Making API Calls in JS:</a:t>
            </a:r>
          </a:p>
        </p:txBody>
      </p:sp>
      <p:sp>
        <p:nvSpPr>
          <p:cNvPr id="13" name="TextBox 13"/>
          <p:cNvSpPr txBox="1"/>
          <p:nvPr/>
        </p:nvSpPr>
        <p:spPr>
          <a:xfrm>
            <a:off x="732532" y="6870352"/>
            <a:ext cx="16822936" cy="746224"/>
          </a:xfrm>
          <a:prstGeom prst="rect">
            <a:avLst/>
          </a:prstGeom>
        </p:spPr>
        <p:txBody>
          <a:bodyPr lIns="0" tIns="0" rIns="0" bIns="0" rtlCol="0" anchor="t">
            <a:spAutoFit/>
          </a:bodyPr>
          <a:lstStyle/>
          <a:p>
            <a:pPr algn="l">
              <a:lnSpc>
                <a:spcPts val="2625"/>
              </a:lnSpc>
            </a:pPr>
            <a:r>
              <a:rPr lang="en-US" sz="1625">
                <a:solidFill>
                  <a:srgbClr val="504C49"/>
                </a:solidFill>
                <a:latin typeface="Source Serif Pro"/>
                <a:ea typeface="Source Serif Pro"/>
                <a:cs typeface="Source Serif Pro"/>
                <a:sym typeface="Source Serif Pro"/>
              </a:rPr>
              <a:t>Axios is a promise-based HTTP client for making API requests from a browser or Node.js. It simplifies sending asynchronous HTTP requests to REST endpoints and handling their responses.</a:t>
            </a:r>
          </a:p>
        </p:txBody>
      </p:sp>
      <p:sp>
        <p:nvSpPr>
          <p:cNvPr id="14" name="TextBox 14"/>
          <p:cNvSpPr txBox="1"/>
          <p:nvPr/>
        </p:nvSpPr>
        <p:spPr>
          <a:xfrm>
            <a:off x="732532" y="7785347"/>
            <a:ext cx="16822936" cy="755749"/>
          </a:xfrm>
          <a:prstGeom prst="rect">
            <a:avLst/>
          </a:prstGeom>
        </p:spPr>
        <p:txBody>
          <a:bodyPr lIns="0" tIns="0" rIns="0" bIns="0" rtlCol="0" anchor="t">
            <a:spAutoFit/>
          </a:bodyPr>
          <a:lstStyle/>
          <a:p>
            <a:pPr marL="245070" lvl="1" indent="-122535" algn="l">
              <a:lnSpc>
                <a:spcPts val="2625"/>
              </a:lnSpc>
              <a:buFont typeface="Arial"/>
              <a:buChar char="•"/>
            </a:pPr>
            <a:r>
              <a:rPr lang="en-US" sz="1625" b="1">
                <a:solidFill>
                  <a:srgbClr val="504C49"/>
                </a:solidFill>
                <a:latin typeface="Source Serif Pro Bold"/>
                <a:ea typeface="Source Serif Pro Bold"/>
                <a:cs typeface="Source Serif Pro Bold"/>
                <a:sym typeface="Source Serif Pro Bold"/>
              </a:rPr>
              <a:t>Request</a:t>
            </a:r>
            <a:r>
              <a:rPr lang="en-US" sz="1625">
                <a:solidFill>
                  <a:srgbClr val="504C49"/>
                </a:solidFill>
                <a:latin typeface="Source Serif Pro"/>
                <a:ea typeface="Source Serif Pro"/>
                <a:cs typeface="Source Serif Pro"/>
                <a:sym typeface="Source Serif Pro"/>
              </a:rPr>
              <a:t>: The axios.get() method sends an HTTP GET request to the specified URL. For other HTTP methods like POST, PUT, or DELETE, you would use axios.post(), axios.put(), or axios.delete() respectively.</a:t>
            </a:r>
          </a:p>
        </p:txBody>
      </p:sp>
      <p:sp>
        <p:nvSpPr>
          <p:cNvPr id="15" name="TextBox 15"/>
          <p:cNvSpPr txBox="1"/>
          <p:nvPr/>
        </p:nvSpPr>
        <p:spPr>
          <a:xfrm>
            <a:off x="732532" y="8547646"/>
            <a:ext cx="16822936" cy="755749"/>
          </a:xfrm>
          <a:prstGeom prst="rect">
            <a:avLst/>
          </a:prstGeom>
        </p:spPr>
        <p:txBody>
          <a:bodyPr lIns="0" tIns="0" rIns="0" bIns="0" rtlCol="0" anchor="t">
            <a:spAutoFit/>
          </a:bodyPr>
          <a:lstStyle/>
          <a:p>
            <a:pPr marL="245070" lvl="1" indent="-122535" algn="l">
              <a:lnSpc>
                <a:spcPts val="2625"/>
              </a:lnSpc>
              <a:buFont typeface="Arial"/>
              <a:buChar char="•"/>
            </a:pPr>
            <a:r>
              <a:rPr lang="en-US" sz="1625" b="1">
                <a:solidFill>
                  <a:srgbClr val="504C49"/>
                </a:solidFill>
                <a:latin typeface="Source Serif Pro Bold"/>
                <a:ea typeface="Source Serif Pro Bold"/>
                <a:cs typeface="Source Serif Pro Bold"/>
                <a:sym typeface="Source Serif Pro Bold"/>
              </a:rPr>
              <a:t>Response Handling</a:t>
            </a:r>
            <a:r>
              <a:rPr lang="en-US" sz="1625">
                <a:solidFill>
                  <a:srgbClr val="504C49"/>
                </a:solidFill>
                <a:latin typeface="Source Serif Pro"/>
                <a:ea typeface="Source Serif Pro"/>
                <a:cs typeface="Source Serif Pro"/>
                <a:sym typeface="Source Serif Pro"/>
              </a:rPr>
              <a:t>: The await keyword pauses execution until the promise returned by axios.get() is resolved, allowing us to process the response object. The actual data payload is typically found in response.data.</a:t>
            </a:r>
          </a:p>
        </p:txBody>
      </p:sp>
      <p:sp>
        <p:nvSpPr>
          <p:cNvPr id="16" name="TextBox 16"/>
          <p:cNvSpPr txBox="1"/>
          <p:nvPr/>
        </p:nvSpPr>
        <p:spPr>
          <a:xfrm>
            <a:off x="732532" y="9309944"/>
            <a:ext cx="16822936" cy="411212"/>
          </a:xfrm>
          <a:prstGeom prst="rect">
            <a:avLst/>
          </a:prstGeom>
        </p:spPr>
        <p:txBody>
          <a:bodyPr lIns="0" tIns="0" rIns="0" bIns="0" rtlCol="0" anchor="t">
            <a:spAutoFit/>
          </a:bodyPr>
          <a:lstStyle/>
          <a:p>
            <a:pPr marL="245070" lvl="1" indent="-122535" algn="l">
              <a:lnSpc>
                <a:spcPts val="2625"/>
              </a:lnSpc>
              <a:buFont typeface="Arial"/>
              <a:buChar char="•"/>
            </a:pPr>
            <a:r>
              <a:rPr lang="en-US" sz="1625" b="1">
                <a:solidFill>
                  <a:srgbClr val="504C49"/>
                </a:solidFill>
                <a:latin typeface="Source Serif Pro Bold"/>
                <a:ea typeface="Source Serif Pro Bold"/>
                <a:cs typeface="Source Serif Pro Bold"/>
                <a:sym typeface="Source Serif Pro Bold"/>
              </a:rPr>
              <a:t>Error Handling</a:t>
            </a:r>
            <a:r>
              <a:rPr lang="en-US" sz="1625">
                <a:solidFill>
                  <a:srgbClr val="504C49"/>
                </a:solidFill>
                <a:latin typeface="Source Serif Pro"/>
                <a:ea typeface="Source Serif Pro"/>
                <a:cs typeface="Source Serif Pro"/>
                <a:sym typeface="Source Serif Pro"/>
              </a:rPr>
              <a:t>: The try...catch block is crucial for gracefully managing potential errors.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7F3F0"/>
            </a:solidFill>
          </p:spPr>
          <p:txBody>
            <a:bodyPr/>
            <a:lstStyle/>
            <a:p>
              <a:endParaRPr lang="en-US"/>
            </a:p>
          </p:txBody>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p:spPr>
          <p:txBody>
            <a:bodyPr/>
            <a:lstStyle/>
            <a:p>
              <a:endParaRPr lang="en-US"/>
            </a:p>
          </p:txBody>
        </p:sp>
      </p:grpSp>
      <p:sp>
        <p:nvSpPr>
          <p:cNvPr id="6" name="TextBox 6"/>
          <p:cNvSpPr txBox="1"/>
          <p:nvPr/>
        </p:nvSpPr>
        <p:spPr>
          <a:xfrm>
            <a:off x="954286" y="958603"/>
            <a:ext cx="10495509" cy="899666"/>
          </a:xfrm>
          <a:prstGeom prst="rect">
            <a:avLst/>
          </a:prstGeom>
        </p:spPr>
        <p:txBody>
          <a:bodyPr lIns="0" tIns="0" rIns="0" bIns="0" rtlCol="0" anchor="t">
            <a:spAutoFit/>
          </a:bodyPr>
          <a:lstStyle/>
          <a:p>
            <a:pPr algn="l">
              <a:lnSpc>
                <a:spcPts val="6687"/>
              </a:lnSpc>
            </a:pPr>
            <a:r>
              <a:rPr lang="en-US" sz="5312">
                <a:solidFill>
                  <a:srgbClr val="201B18"/>
                </a:solidFill>
                <a:latin typeface="Arimo"/>
                <a:ea typeface="Arimo"/>
                <a:cs typeface="Arimo"/>
                <a:sym typeface="Arimo"/>
              </a:rPr>
              <a:t>REST vs. SOAP: Key Differences</a:t>
            </a:r>
          </a:p>
        </p:txBody>
      </p:sp>
      <p:sp>
        <p:nvSpPr>
          <p:cNvPr id="7" name="TextBox 7"/>
          <p:cNvSpPr txBox="1"/>
          <p:nvPr/>
        </p:nvSpPr>
        <p:spPr>
          <a:xfrm>
            <a:off x="954286" y="2501801"/>
            <a:ext cx="7842647" cy="549325"/>
          </a:xfrm>
          <a:prstGeom prst="rect">
            <a:avLst/>
          </a:prstGeom>
        </p:spPr>
        <p:txBody>
          <a:bodyPr lIns="0" tIns="0" rIns="0" bIns="0" rtlCol="0" anchor="t">
            <a:spAutoFit/>
          </a:bodyPr>
          <a:lstStyle/>
          <a:p>
            <a:pPr algn="l">
              <a:lnSpc>
                <a:spcPts val="3999"/>
              </a:lnSpc>
            </a:pPr>
            <a:r>
              <a:rPr lang="en-US" sz="3187">
                <a:solidFill>
                  <a:srgbClr val="201B18"/>
                </a:solidFill>
                <a:latin typeface="Arimo"/>
                <a:ea typeface="Arimo"/>
                <a:cs typeface="Arimo"/>
                <a:sym typeface="Arimo"/>
              </a:rPr>
              <a:t>REST (Representational State Transfer)</a:t>
            </a:r>
          </a:p>
        </p:txBody>
      </p:sp>
      <p:sp>
        <p:nvSpPr>
          <p:cNvPr id="8" name="TextBox 8"/>
          <p:cNvSpPr txBox="1"/>
          <p:nvPr/>
        </p:nvSpPr>
        <p:spPr>
          <a:xfrm>
            <a:off x="954286" y="3247579"/>
            <a:ext cx="7857084" cy="1384846"/>
          </a:xfrm>
          <a:prstGeom prst="rect">
            <a:avLst/>
          </a:prstGeom>
        </p:spPr>
        <p:txBody>
          <a:bodyPr lIns="0" tIns="0" rIns="0" bIns="0" rtlCol="0" anchor="t">
            <a:spAutoFit/>
          </a:bodyPr>
          <a:lstStyle/>
          <a:p>
            <a:pPr algn="l">
              <a:lnSpc>
                <a:spcPts val="3374"/>
              </a:lnSpc>
            </a:pPr>
            <a:r>
              <a:rPr lang="en-US" sz="2125">
                <a:solidFill>
                  <a:srgbClr val="504C49"/>
                </a:solidFill>
                <a:latin typeface="Source Serif Pro"/>
                <a:ea typeface="Source Serif Pro"/>
                <a:cs typeface="Source Serif Pro"/>
                <a:sym typeface="Source Serif Pro"/>
              </a:rPr>
              <a:t>A flexible and lightweight architectural style that relies on standard HTTP methods. It's often preferred for web applications due to its simplicity and scalability.</a:t>
            </a:r>
          </a:p>
        </p:txBody>
      </p:sp>
      <p:sp>
        <p:nvSpPr>
          <p:cNvPr id="9" name="TextBox 9"/>
          <p:cNvSpPr txBox="1"/>
          <p:nvPr/>
        </p:nvSpPr>
        <p:spPr>
          <a:xfrm>
            <a:off x="954286" y="4801492"/>
            <a:ext cx="7857084" cy="948630"/>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Architectural Style:</a:t>
            </a:r>
            <a:r>
              <a:rPr lang="en-US" sz="2125">
                <a:solidFill>
                  <a:srgbClr val="504C49"/>
                </a:solidFill>
                <a:latin typeface="Source Serif Pro"/>
                <a:ea typeface="Source Serif Pro"/>
                <a:cs typeface="Source Serif Pro"/>
                <a:sym typeface="Source Serif Pro"/>
              </a:rPr>
              <a:t> Not a protocol, but a set of guidelines.</a:t>
            </a:r>
          </a:p>
        </p:txBody>
      </p:sp>
      <p:sp>
        <p:nvSpPr>
          <p:cNvPr id="10" name="TextBox 10"/>
          <p:cNvSpPr txBox="1"/>
          <p:nvPr/>
        </p:nvSpPr>
        <p:spPr>
          <a:xfrm>
            <a:off x="954286" y="5769322"/>
            <a:ext cx="7857084" cy="948630"/>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Communication:</a:t>
            </a:r>
            <a:r>
              <a:rPr lang="en-US" sz="2125">
                <a:solidFill>
                  <a:srgbClr val="504C49"/>
                </a:solidFill>
                <a:latin typeface="Source Serif Pro"/>
                <a:ea typeface="Source Serif Pro"/>
                <a:cs typeface="Source Serif Pro"/>
                <a:sym typeface="Source Serif Pro"/>
              </a:rPr>
              <a:t> Uses standard HTTP methods (GET, POST, PUT, DELETE).</a:t>
            </a:r>
          </a:p>
        </p:txBody>
      </p:sp>
      <p:sp>
        <p:nvSpPr>
          <p:cNvPr id="11" name="TextBox 11"/>
          <p:cNvSpPr txBox="1"/>
          <p:nvPr/>
        </p:nvSpPr>
        <p:spPr>
          <a:xfrm>
            <a:off x="954286" y="6737151"/>
            <a:ext cx="7857084" cy="948630"/>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Data Format:</a:t>
            </a:r>
            <a:r>
              <a:rPr lang="en-US" sz="2125">
                <a:solidFill>
                  <a:srgbClr val="504C49"/>
                </a:solidFill>
                <a:latin typeface="Source Serif Pro"/>
                <a:ea typeface="Source Serif Pro"/>
                <a:cs typeface="Source Serif Pro"/>
                <a:sym typeface="Source Serif Pro"/>
              </a:rPr>
              <a:t> Supports multiple formats (JSON, XML, plain text, HTML).</a:t>
            </a:r>
          </a:p>
        </p:txBody>
      </p:sp>
      <p:sp>
        <p:nvSpPr>
          <p:cNvPr id="12" name="TextBox 12"/>
          <p:cNvSpPr txBox="1"/>
          <p:nvPr/>
        </p:nvSpPr>
        <p:spPr>
          <a:xfrm>
            <a:off x="954286" y="7704981"/>
            <a:ext cx="7857084" cy="512415"/>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Statefulness:</a:t>
            </a:r>
            <a:r>
              <a:rPr lang="en-US" sz="2125">
                <a:solidFill>
                  <a:srgbClr val="504C49"/>
                </a:solidFill>
                <a:latin typeface="Source Serif Pro"/>
                <a:ea typeface="Source Serif Pro"/>
                <a:cs typeface="Source Serif Pro"/>
                <a:sym typeface="Source Serif Pro"/>
              </a:rPr>
              <a:t> Typically stateless, making it scalable.</a:t>
            </a:r>
          </a:p>
        </p:txBody>
      </p:sp>
      <p:sp>
        <p:nvSpPr>
          <p:cNvPr id="13" name="TextBox 13"/>
          <p:cNvSpPr txBox="1"/>
          <p:nvPr/>
        </p:nvSpPr>
        <p:spPr>
          <a:xfrm>
            <a:off x="954286" y="8236595"/>
            <a:ext cx="7857084" cy="948630"/>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Complexity:</a:t>
            </a:r>
            <a:r>
              <a:rPr lang="en-US" sz="2125">
                <a:solidFill>
                  <a:srgbClr val="504C49"/>
                </a:solidFill>
                <a:latin typeface="Source Serif Pro"/>
                <a:ea typeface="Source Serif Pro"/>
                <a:cs typeface="Source Serif Pro"/>
                <a:sym typeface="Source Serif Pro"/>
              </a:rPr>
              <a:t> Generally simpler to implement and consume.</a:t>
            </a:r>
          </a:p>
        </p:txBody>
      </p:sp>
      <p:sp>
        <p:nvSpPr>
          <p:cNvPr id="14" name="TextBox 14"/>
          <p:cNvSpPr txBox="1"/>
          <p:nvPr/>
        </p:nvSpPr>
        <p:spPr>
          <a:xfrm>
            <a:off x="9486156" y="2501801"/>
            <a:ext cx="7532638" cy="549325"/>
          </a:xfrm>
          <a:prstGeom prst="rect">
            <a:avLst/>
          </a:prstGeom>
        </p:spPr>
        <p:txBody>
          <a:bodyPr lIns="0" tIns="0" rIns="0" bIns="0" rtlCol="0" anchor="t">
            <a:spAutoFit/>
          </a:bodyPr>
          <a:lstStyle/>
          <a:p>
            <a:pPr algn="l">
              <a:lnSpc>
                <a:spcPts val="3999"/>
              </a:lnSpc>
            </a:pPr>
            <a:r>
              <a:rPr lang="en-US" sz="3187">
                <a:solidFill>
                  <a:srgbClr val="201B18"/>
                </a:solidFill>
                <a:latin typeface="Arimo"/>
                <a:ea typeface="Arimo"/>
                <a:cs typeface="Arimo"/>
                <a:sym typeface="Arimo"/>
              </a:rPr>
              <a:t>SOAP (Simple Object Access Protocol)</a:t>
            </a:r>
          </a:p>
        </p:txBody>
      </p:sp>
      <p:sp>
        <p:nvSpPr>
          <p:cNvPr id="15" name="TextBox 15"/>
          <p:cNvSpPr txBox="1"/>
          <p:nvPr/>
        </p:nvSpPr>
        <p:spPr>
          <a:xfrm>
            <a:off x="9486156" y="3247579"/>
            <a:ext cx="7857084" cy="1384846"/>
          </a:xfrm>
          <a:prstGeom prst="rect">
            <a:avLst/>
          </a:prstGeom>
        </p:spPr>
        <p:txBody>
          <a:bodyPr lIns="0" tIns="0" rIns="0" bIns="0" rtlCol="0" anchor="t">
            <a:spAutoFit/>
          </a:bodyPr>
          <a:lstStyle/>
          <a:p>
            <a:pPr algn="l">
              <a:lnSpc>
                <a:spcPts val="3374"/>
              </a:lnSpc>
            </a:pPr>
            <a:r>
              <a:rPr lang="en-US" sz="2125">
                <a:solidFill>
                  <a:srgbClr val="504C49"/>
                </a:solidFill>
                <a:latin typeface="Source Serif Pro"/>
                <a:ea typeface="Source Serif Pro"/>
                <a:cs typeface="Source Serif Pro"/>
                <a:sym typeface="Source Serif Pro"/>
              </a:rPr>
              <a:t>A robust, XML-based messaging protocol. It offers extensive features for security, transactions, and error handling, often used in enterprise environments.</a:t>
            </a:r>
          </a:p>
        </p:txBody>
      </p:sp>
      <p:sp>
        <p:nvSpPr>
          <p:cNvPr id="16" name="TextBox 16"/>
          <p:cNvSpPr txBox="1"/>
          <p:nvPr/>
        </p:nvSpPr>
        <p:spPr>
          <a:xfrm>
            <a:off x="9486156" y="4801492"/>
            <a:ext cx="7857084" cy="512415"/>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Protocol:</a:t>
            </a:r>
            <a:r>
              <a:rPr lang="en-US" sz="2125">
                <a:solidFill>
                  <a:srgbClr val="504C49"/>
                </a:solidFill>
                <a:latin typeface="Source Serif Pro"/>
                <a:ea typeface="Source Serif Pro"/>
                <a:cs typeface="Source Serif Pro"/>
                <a:sym typeface="Source Serif Pro"/>
              </a:rPr>
              <a:t> A strict, XML-based messaging protocol.</a:t>
            </a:r>
          </a:p>
        </p:txBody>
      </p:sp>
      <p:sp>
        <p:nvSpPr>
          <p:cNvPr id="17" name="TextBox 17"/>
          <p:cNvSpPr txBox="1"/>
          <p:nvPr/>
        </p:nvSpPr>
        <p:spPr>
          <a:xfrm>
            <a:off x="9486156" y="5333108"/>
            <a:ext cx="7857084" cy="948630"/>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Communication:</a:t>
            </a:r>
            <a:r>
              <a:rPr lang="en-US" sz="2125">
                <a:solidFill>
                  <a:srgbClr val="504C49"/>
                </a:solidFill>
                <a:latin typeface="Source Serif Pro"/>
                <a:ea typeface="Source Serif Pro"/>
                <a:cs typeface="Source Serif Pro"/>
                <a:sym typeface="Source Serif Pro"/>
              </a:rPr>
              <a:t> Can use various transport protocols (HTTP, SMTP, TCP, JMS).</a:t>
            </a:r>
          </a:p>
        </p:txBody>
      </p:sp>
      <p:sp>
        <p:nvSpPr>
          <p:cNvPr id="18" name="TextBox 18"/>
          <p:cNvSpPr txBox="1"/>
          <p:nvPr/>
        </p:nvSpPr>
        <p:spPr>
          <a:xfrm>
            <a:off x="9486156" y="6300936"/>
            <a:ext cx="7857084" cy="512415"/>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Data Format:</a:t>
            </a:r>
            <a:r>
              <a:rPr lang="en-US" sz="2125">
                <a:solidFill>
                  <a:srgbClr val="504C49"/>
                </a:solidFill>
                <a:latin typeface="Source Serif Pro"/>
                <a:ea typeface="Source Serif Pro"/>
                <a:cs typeface="Source Serif Pro"/>
                <a:sym typeface="Source Serif Pro"/>
              </a:rPr>
              <a:t> Primarily uses XML for all messaging.</a:t>
            </a:r>
          </a:p>
        </p:txBody>
      </p:sp>
      <p:sp>
        <p:nvSpPr>
          <p:cNvPr id="19" name="TextBox 19"/>
          <p:cNvSpPr txBox="1"/>
          <p:nvPr/>
        </p:nvSpPr>
        <p:spPr>
          <a:xfrm>
            <a:off x="9486156" y="6832550"/>
            <a:ext cx="7857084" cy="512415"/>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Statefulness:</a:t>
            </a:r>
            <a:r>
              <a:rPr lang="en-US" sz="2125">
                <a:solidFill>
                  <a:srgbClr val="504C49"/>
                </a:solidFill>
                <a:latin typeface="Source Serif Pro"/>
                <a:ea typeface="Source Serif Pro"/>
                <a:cs typeface="Source Serif Pro"/>
                <a:sym typeface="Source Serif Pro"/>
              </a:rPr>
              <a:t> Can be stateful or stateless.</a:t>
            </a:r>
          </a:p>
        </p:txBody>
      </p:sp>
      <p:sp>
        <p:nvSpPr>
          <p:cNvPr id="20" name="TextBox 20"/>
          <p:cNvSpPr txBox="1"/>
          <p:nvPr/>
        </p:nvSpPr>
        <p:spPr>
          <a:xfrm>
            <a:off x="9486156" y="7364165"/>
            <a:ext cx="7857084" cy="948630"/>
          </a:xfrm>
          <a:prstGeom prst="rect">
            <a:avLst/>
          </a:prstGeom>
        </p:spPr>
        <p:txBody>
          <a:bodyPr lIns="0" tIns="0" rIns="0" bIns="0" rtlCol="0" anchor="t">
            <a:spAutoFit/>
          </a:bodyPr>
          <a:lstStyle/>
          <a:p>
            <a:pPr marL="320477" lvl="1" indent="-160238" algn="l">
              <a:lnSpc>
                <a:spcPts val="3374"/>
              </a:lnSpc>
              <a:buFont typeface="Arial"/>
              <a:buChar char="•"/>
            </a:pPr>
            <a:r>
              <a:rPr lang="en-US" sz="2125" b="1">
                <a:solidFill>
                  <a:srgbClr val="504C49"/>
                </a:solidFill>
                <a:latin typeface="Source Serif Pro Bold"/>
                <a:ea typeface="Source Serif Pro Bold"/>
                <a:cs typeface="Source Serif Pro Bold"/>
                <a:sym typeface="Source Serif Pro Bold"/>
              </a:rPr>
              <a:t>Complexity:</a:t>
            </a:r>
            <a:r>
              <a:rPr lang="en-US" sz="2125">
                <a:solidFill>
                  <a:srgbClr val="504C49"/>
                </a:solidFill>
                <a:latin typeface="Source Serif Pro"/>
                <a:ea typeface="Source Serif Pro"/>
                <a:cs typeface="Source Serif Pro"/>
                <a:sym typeface="Source Serif Pro"/>
              </a:rPr>
              <a:t> More complex due to its rigid structure and WSDL.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TotalTime>
  <Words>1245</Words>
  <Application>Microsoft Macintosh PowerPoint</Application>
  <PresentationFormat>Custom</PresentationFormat>
  <Paragraphs>161</Paragraphs>
  <Slides>11</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Consolas</vt:lpstr>
      <vt:lpstr>Arial</vt:lpstr>
      <vt:lpstr>Arimo</vt:lpstr>
      <vt:lpstr>Source Serif Pro Bold</vt:lpstr>
      <vt:lpstr>Source Serif Pro</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API-Application-Programming.pptx</dc:title>
  <cp:lastModifiedBy>Adeeb Ahmed Khan [CCE - 2021]</cp:lastModifiedBy>
  <cp:revision>3</cp:revision>
  <dcterms:created xsi:type="dcterms:W3CDTF">2006-08-16T00:00:00Z</dcterms:created>
  <dcterms:modified xsi:type="dcterms:W3CDTF">2025-11-09T15:40:43Z</dcterms:modified>
  <dc:identifier>DAG4Nl7_j4Q</dc:identifier>
</cp:coreProperties>
</file>