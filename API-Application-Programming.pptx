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charset="1" panose="020B0604020202020204"/>
      <p:regular r:id="rId21"/>
    </p:embeddedFont>
    <p:embeddedFont>
      <p:font typeface="Source Serif Pro Bold" charset="1" panose="02040803050405020204"/>
      <p:regular r:id="rId23"/>
    </p:embeddedFont>
    <p:embeddedFont>
      <p:font typeface="Source Serif Pro" charset="1" panose="02040603050405020204"/>
      <p:regular r:id="rId24"/>
    </p:embeddedFont>
    <p:embeddedFont>
      <p:font typeface="Consolas" charset="1" panose="020B060902020403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fonts/font27.fntdata" Type="http://schemas.openxmlformats.org/officeDocument/2006/relationships/font"/><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0" y="0"/>
            <a:ext cx="4572000" cy="10287000"/>
            <a:chOff x="0" y="0"/>
            <a:chExt cx="6096000" cy="13716000"/>
          </a:xfrm>
        </p:grpSpPr>
        <p:sp>
          <p:nvSpPr>
            <p:cNvPr name="Freeform 7" id="7" descr="preencoded.png"/>
            <p:cNvSpPr/>
            <p:nvPr/>
          </p:nvSpPr>
          <p:spPr>
            <a:xfrm flipH="false" flipV="false" rot="0">
              <a:off x="0" y="0"/>
              <a:ext cx="6096000" cy="13716000"/>
            </a:xfrm>
            <a:custGeom>
              <a:avLst/>
              <a:gdLst/>
              <a:ahLst/>
              <a:cxnLst/>
              <a:rect r="r" b="b" t="t" l="l"/>
              <a:pathLst>
                <a:path h="13716000" w="6096000">
                  <a:moveTo>
                    <a:pt x="0" y="0"/>
                  </a:moveTo>
                  <a:lnTo>
                    <a:pt x="6096000" y="0"/>
                  </a:lnTo>
                  <a:lnTo>
                    <a:pt x="6096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5564238" y="1671935"/>
            <a:ext cx="11731526" cy="3648968"/>
          </a:xfrm>
          <a:prstGeom prst="rect">
            <a:avLst/>
          </a:prstGeom>
        </p:spPr>
        <p:txBody>
          <a:bodyPr anchor="t" rtlCol="false" tIns="0" lIns="0" bIns="0" rIns="0">
            <a:spAutoFit/>
          </a:bodyPr>
          <a:lstStyle/>
          <a:p>
            <a:pPr algn="l">
              <a:lnSpc>
                <a:spcPts val="13937"/>
              </a:lnSpc>
            </a:pPr>
            <a:r>
              <a:rPr lang="en-US" sz="11124">
                <a:solidFill>
                  <a:srgbClr val="201B18"/>
                </a:solidFill>
                <a:latin typeface="Arimo"/>
                <a:ea typeface="Arimo"/>
                <a:cs typeface="Arimo"/>
                <a:sym typeface="Arimo"/>
              </a:rPr>
              <a:t>API: Application Programming </a:t>
            </a:r>
          </a:p>
        </p:txBody>
      </p:sp>
      <p:sp>
        <p:nvSpPr>
          <p:cNvPr name="TextBox 9" id="9"/>
          <p:cNvSpPr txBox="true"/>
          <p:nvPr/>
        </p:nvSpPr>
        <p:spPr>
          <a:xfrm rot="0">
            <a:off x="5564238" y="5641330"/>
            <a:ext cx="11731526" cy="1876871"/>
          </a:xfrm>
          <a:prstGeom prst="rect">
            <a:avLst/>
          </a:prstGeom>
        </p:spPr>
        <p:txBody>
          <a:bodyPr anchor="t" rtlCol="false" tIns="0" lIns="0" bIns="0" rIns="0">
            <a:spAutoFit/>
          </a:bodyPr>
          <a:lstStyle/>
          <a:p>
            <a:pPr algn="l">
              <a:lnSpc>
                <a:spcPts val="13937"/>
              </a:lnSpc>
            </a:pPr>
            <a:r>
              <a:rPr lang="en-US" sz="11124">
                <a:solidFill>
                  <a:srgbClr val="201B18"/>
                </a:solidFill>
                <a:latin typeface="Arimo"/>
                <a:ea typeface="Arimo"/>
                <a:cs typeface="Arimo"/>
                <a:sym typeface="Arimo"/>
              </a:rPr>
              <a:t>Interface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3045024"/>
            <a:ext cx="7088237" cy="943124"/>
          </a:xfrm>
          <a:prstGeom prst="rect">
            <a:avLst/>
          </a:prstGeom>
        </p:spPr>
        <p:txBody>
          <a:bodyPr anchor="t" rtlCol="false" tIns="0" lIns="0" bIns="0" rIns="0">
            <a:spAutoFit/>
          </a:bodyPr>
          <a:lstStyle/>
          <a:p>
            <a:pPr algn="l">
              <a:lnSpc>
                <a:spcPts val="6937"/>
              </a:lnSpc>
            </a:pPr>
            <a:r>
              <a:rPr lang="en-US" sz="5562">
                <a:solidFill>
                  <a:srgbClr val="201B18"/>
                </a:solidFill>
                <a:latin typeface="Arimo"/>
                <a:ea typeface="Arimo"/>
                <a:cs typeface="Arimo"/>
                <a:sym typeface="Arimo"/>
              </a:rPr>
              <a:t>What is an API?</a:t>
            </a:r>
          </a:p>
        </p:txBody>
      </p:sp>
      <p:sp>
        <p:nvSpPr>
          <p:cNvPr name="TextBox 7" id="7"/>
          <p:cNvSpPr txBox="true"/>
          <p:nvPr/>
        </p:nvSpPr>
        <p:spPr>
          <a:xfrm rot="0">
            <a:off x="992238" y="4327624"/>
            <a:ext cx="16303526" cy="992981"/>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API</a:t>
            </a:r>
            <a:r>
              <a:rPr lang="en-US" sz="2187">
                <a:solidFill>
                  <a:srgbClr val="504C49"/>
                </a:solidFill>
                <a:latin typeface="Source Serif Pro"/>
                <a:ea typeface="Source Serif Pro"/>
                <a:cs typeface="Source Serif Pro"/>
                <a:sym typeface="Source Serif Pro"/>
              </a:rPr>
              <a:t> stands for </a:t>
            </a:r>
            <a:r>
              <a:rPr lang="en-US" sz="2187" b="true">
                <a:solidFill>
                  <a:srgbClr val="504C49"/>
                </a:solidFill>
                <a:latin typeface="Source Serif Pro Bold"/>
                <a:ea typeface="Source Serif Pro Bold"/>
                <a:cs typeface="Source Serif Pro Bold"/>
                <a:sym typeface="Source Serif Pro Bold"/>
              </a:rPr>
              <a:t>Application Programming Interface</a:t>
            </a:r>
            <a:r>
              <a:rPr lang="en-US" sz="2187">
                <a:solidFill>
                  <a:srgbClr val="504C49"/>
                </a:solidFill>
                <a:latin typeface="Source Serif Pro"/>
                <a:ea typeface="Source Serif Pro"/>
                <a:cs typeface="Source Serif Pro"/>
                <a:sym typeface="Source Serif Pro"/>
              </a:rPr>
              <a:t>, it acts ass a bridge that enables two applications to communicate and exchange data seamlessly.</a:t>
            </a:r>
          </a:p>
        </p:txBody>
      </p:sp>
      <p:sp>
        <p:nvSpPr>
          <p:cNvPr name="TextBox 8" id="8"/>
          <p:cNvSpPr txBox="true"/>
          <p:nvPr/>
        </p:nvSpPr>
        <p:spPr>
          <a:xfrm rot="0">
            <a:off x="1417439" y="5872757"/>
            <a:ext cx="15878324" cy="992981"/>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Think of an API like a waiter in a restaurant: you place your order (request), the waiter communicates with the kitchen (server), processes your request, and returns your meal (response).</a:t>
            </a:r>
          </a:p>
        </p:txBody>
      </p:sp>
      <p:grpSp>
        <p:nvGrpSpPr>
          <p:cNvPr name="Group 9" id="9"/>
          <p:cNvGrpSpPr/>
          <p:nvPr/>
        </p:nvGrpSpPr>
        <p:grpSpPr>
          <a:xfrm rot="0">
            <a:off x="992238" y="5639544"/>
            <a:ext cx="38100" cy="1545134"/>
            <a:chOff x="0" y="0"/>
            <a:chExt cx="50800" cy="2060178"/>
          </a:xfrm>
        </p:grpSpPr>
        <p:sp>
          <p:nvSpPr>
            <p:cNvPr name="Freeform 10" id="10"/>
            <p:cNvSpPr/>
            <p:nvPr/>
          </p:nvSpPr>
          <p:spPr>
            <a:xfrm flipH="false" flipV="false" rot="0">
              <a:off x="0" y="0"/>
              <a:ext cx="50800" cy="2060194"/>
            </a:xfrm>
            <a:custGeom>
              <a:avLst/>
              <a:gdLst/>
              <a:ahLst/>
              <a:cxnLst/>
              <a:rect r="r" b="b" t="t" l="l"/>
              <a:pathLst>
                <a:path h="2060194" w="50800">
                  <a:moveTo>
                    <a:pt x="0" y="0"/>
                  </a:moveTo>
                  <a:lnTo>
                    <a:pt x="50800" y="0"/>
                  </a:lnTo>
                  <a:lnTo>
                    <a:pt x="50800" y="2060194"/>
                  </a:lnTo>
                  <a:lnTo>
                    <a:pt x="0" y="2060194"/>
                  </a:lnTo>
                  <a:close/>
                </a:path>
              </a:pathLst>
            </a:custGeom>
            <a:solidFill>
              <a:srgbClr val="3E2513"/>
            </a:solidFill>
          </p:spPr>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2411165"/>
            <a:ext cx="8135391" cy="943124"/>
          </a:xfrm>
          <a:prstGeom prst="rect">
            <a:avLst/>
          </a:prstGeom>
        </p:spPr>
        <p:txBody>
          <a:bodyPr anchor="t" rtlCol="false" tIns="0" lIns="0" bIns="0" rIns="0">
            <a:spAutoFit/>
          </a:bodyPr>
          <a:lstStyle/>
          <a:p>
            <a:pPr algn="l">
              <a:lnSpc>
                <a:spcPts val="6937"/>
              </a:lnSpc>
            </a:pPr>
            <a:r>
              <a:rPr lang="en-US" sz="5562">
                <a:solidFill>
                  <a:srgbClr val="201B18"/>
                </a:solidFill>
                <a:latin typeface="Arimo"/>
                <a:ea typeface="Arimo"/>
                <a:cs typeface="Arimo"/>
                <a:sym typeface="Arimo"/>
              </a:rPr>
              <a:t>Why APIs Are Essential</a:t>
            </a:r>
          </a:p>
        </p:txBody>
      </p:sp>
      <p:grpSp>
        <p:nvGrpSpPr>
          <p:cNvPr name="Group 7" id="7"/>
          <p:cNvGrpSpPr/>
          <p:nvPr/>
        </p:nvGrpSpPr>
        <p:grpSpPr>
          <a:xfrm rot="0">
            <a:off x="992238" y="3779490"/>
            <a:ext cx="5245447" cy="2994571"/>
            <a:chOff x="0" y="0"/>
            <a:chExt cx="6993930" cy="3992762"/>
          </a:xfrm>
        </p:grpSpPr>
        <p:sp>
          <p:nvSpPr>
            <p:cNvPr name="Freeform 8" id="8"/>
            <p:cNvSpPr/>
            <p:nvPr/>
          </p:nvSpPr>
          <p:spPr>
            <a:xfrm flipH="false" flipV="false" rot="0">
              <a:off x="0" y="0"/>
              <a:ext cx="6993890" cy="3992753"/>
            </a:xfrm>
            <a:custGeom>
              <a:avLst/>
              <a:gdLst/>
              <a:ahLst/>
              <a:cxnLst/>
              <a:rect r="r" b="b" t="t" l="l"/>
              <a:pathLst>
                <a:path h="3992753" w="6993890">
                  <a:moveTo>
                    <a:pt x="0" y="56642"/>
                  </a:moveTo>
                  <a:cubicBezTo>
                    <a:pt x="0" y="25400"/>
                    <a:pt x="25400" y="0"/>
                    <a:pt x="56642" y="0"/>
                  </a:cubicBezTo>
                  <a:lnTo>
                    <a:pt x="6937248" y="0"/>
                  </a:lnTo>
                  <a:cubicBezTo>
                    <a:pt x="6968617" y="0"/>
                    <a:pt x="6993890" y="25400"/>
                    <a:pt x="6993890" y="56642"/>
                  </a:cubicBezTo>
                  <a:lnTo>
                    <a:pt x="6993890" y="3936111"/>
                  </a:lnTo>
                  <a:cubicBezTo>
                    <a:pt x="6993890" y="3967480"/>
                    <a:pt x="6968490" y="3992753"/>
                    <a:pt x="6937248" y="3992753"/>
                  </a:cubicBezTo>
                  <a:lnTo>
                    <a:pt x="56642" y="3992753"/>
                  </a:lnTo>
                  <a:cubicBezTo>
                    <a:pt x="25273" y="3992753"/>
                    <a:pt x="0" y="3967353"/>
                    <a:pt x="0" y="3936111"/>
                  </a:cubicBezTo>
                  <a:close/>
                </a:path>
              </a:pathLst>
            </a:custGeom>
            <a:solidFill>
              <a:srgbClr val="F9F7F7"/>
            </a:solidFill>
          </p:spPr>
        </p:sp>
      </p:grpSp>
      <p:sp>
        <p:nvSpPr>
          <p:cNvPr name="TextBox 9" id="9"/>
          <p:cNvSpPr txBox="true"/>
          <p:nvPr/>
        </p:nvSpPr>
        <p:spPr>
          <a:xfrm rot="0">
            <a:off x="1275755" y="4024907"/>
            <a:ext cx="3544044"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System Integration</a:t>
            </a:r>
          </a:p>
        </p:txBody>
      </p:sp>
      <p:sp>
        <p:nvSpPr>
          <p:cNvPr name="TextBox 10" id="10"/>
          <p:cNvSpPr txBox="true"/>
          <p:nvPr/>
        </p:nvSpPr>
        <p:spPr>
          <a:xfrm rot="0">
            <a:off x="1275755" y="4590306"/>
            <a:ext cx="4678412" cy="1900237"/>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Connect different applications and services to work together seamlessly without manual intervention.</a:t>
            </a:r>
          </a:p>
        </p:txBody>
      </p:sp>
      <p:grpSp>
        <p:nvGrpSpPr>
          <p:cNvPr name="Group 11" id="11"/>
          <p:cNvGrpSpPr/>
          <p:nvPr/>
        </p:nvGrpSpPr>
        <p:grpSpPr>
          <a:xfrm rot="0">
            <a:off x="6521202" y="3779490"/>
            <a:ext cx="5245447" cy="2994571"/>
            <a:chOff x="0" y="0"/>
            <a:chExt cx="6993930" cy="3992762"/>
          </a:xfrm>
        </p:grpSpPr>
        <p:sp>
          <p:nvSpPr>
            <p:cNvPr name="Freeform 12" id="12"/>
            <p:cNvSpPr/>
            <p:nvPr/>
          </p:nvSpPr>
          <p:spPr>
            <a:xfrm flipH="false" flipV="false" rot="0">
              <a:off x="0" y="0"/>
              <a:ext cx="6993890" cy="3992753"/>
            </a:xfrm>
            <a:custGeom>
              <a:avLst/>
              <a:gdLst/>
              <a:ahLst/>
              <a:cxnLst/>
              <a:rect r="r" b="b" t="t" l="l"/>
              <a:pathLst>
                <a:path h="3992753" w="6993890">
                  <a:moveTo>
                    <a:pt x="0" y="56642"/>
                  </a:moveTo>
                  <a:cubicBezTo>
                    <a:pt x="0" y="25400"/>
                    <a:pt x="25400" y="0"/>
                    <a:pt x="56642" y="0"/>
                  </a:cubicBezTo>
                  <a:lnTo>
                    <a:pt x="6937248" y="0"/>
                  </a:lnTo>
                  <a:cubicBezTo>
                    <a:pt x="6968617" y="0"/>
                    <a:pt x="6993890" y="25400"/>
                    <a:pt x="6993890" y="56642"/>
                  </a:cubicBezTo>
                  <a:lnTo>
                    <a:pt x="6993890" y="3936111"/>
                  </a:lnTo>
                  <a:cubicBezTo>
                    <a:pt x="6993890" y="3967480"/>
                    <a:pt x="6968490" y="3992753"/>
                    <a:pt x="6937248" y="3992753"/>
                  </a:cubicBezTo>
                  <a:lnTo>
                    <a:pt x="56642" y="3992753"/>
                  </a:lnTo>
                  <a:cubicBezTo>
                    <a:pt x="25273" y="3992753"/>
                    <a:pt x="0" y="3967353"/>
                    <a:pt x="0" y="3936111"/>
                  </a:cubicBezTo>
                  <a:close/>
                </a:path>
              </a:pathLst>
            </a:custGeom>
            <a:solidFill>
              <a:srgbClr val="F9F7F7"/>
            </a:solidFill>
          </p:spPr>
        </p:sp>
      </p:grpSp>
      <p:sp>
        <p:nvSpPr>
          <p:cNvPr name="TextBox 13" id="13"/>
          <p:cNvSpPr txBox="true"/>
          <p:nvPr/>
        </p:nvSpPr>
        <p:spPr>
          <a:xfrm rot="0">
            <a:off x="6804720" y="4024907"/>
            <a:ext cx="3544044"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Code Reusability</a:t>
            </a:r>
          </a:p>
        </p:txBody>
      </p:sp>
      <p:sp>
        <p:nvSpPr>
          <p:cNvPr name="TextBox 14" id="14"/>
          <p:cNvSpPr txBox="true"/>
          <p:nvPr/>
        </p:nvSpPr>
        <p:spPr>
          <a:xfrm rot="0">
            <a:off x="6804720" y="4590306"/>
            <a:ext cx="4678412" cy="1446610"/>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Leverage existing functionality and services instead of rebuilding everything from scratch.</a:t>
            </a:r>
          </a:p>
        </p:txBody>
      </p:sp>
      <p:grpSp>
        <p:nvGrpSpPr>
          <p:cNvPr name="Group 15" id="15"/>
          <p:cNvGrpSpPr/>
          <p:nvPr/>
        </p:nvGrpSpPr>
        <p:grpSpPr>
          <a:xfrm rot="0">
            <a:off x="12050166" y="3779490"/>
            <a:ext cx="5245447" cy="2994571"/>
            <a:chOff x="0" y="0"/>
            <a:chExt cx="6993930" cy="3992762"/>
          </a:xfrm>
        </p:grpSpPr>
        <p:sp>
          <p:nvSpPr>
            <p:cNvPr name="Freeform 16" id="16"/>
            <p:cNvSpPr/>
            <p:nvPr/>
          </p:nvSpPr>
          <p:spPr>
            <a:xfrm flipH="false" flipV="false" rot="0">
              <a:off x="0" y="0"/>
              <a:ext cx="6993890" cy="3992753"/>
            </a:xfrm>
            <a:custGeom>
              <a:avLst/>
              <a:gdLst/>
              <a:ahLst/>
              <a:cxnLst/>
              <a:rect r="r" b="b" t="t" l="l"/>
              <a:pathLst>
                <a:path h="3992753" w="6993890">
                  <a:moveTo>
                    <a:pt x="0" y="56642"/>
                  </a:moveTo>
                  <a:cubicBezTo>
                    <a:pt x="0" y="25400"/>
                    <a:pt x="25400" y="0"/>
                    <a:pt x="56642" y="0"/>
                  </a:cubicBezTo>
                  <a:lnTo>
                    <a:pt x="6937248" y="0"/>
                  </a:lnTo>
                  <a:cubicBezTo>
                    <a:pt x="6968617" y="0"/>
                    <a:pt x="6993890" y="25400"/>
                    <a:pt x="6993890" y="56642"/>
                  </a:cubicBezTo>
                  <a:lnTo>
                    <a:pt x="6993890" y="3936111"/>
                  </a:lnTo>
                  <a:cubicBezTo>
                    <a:pt x="6993890" y="3967480"/>
                    <a:pt x="6968490" y="3992753"/>
                    <a:pt x="6937248" y="3992753"/>
                  </a:cubicBezTo>
                  <a:lnTo>
                    <a:pt x="56642" y="3992753"/>
                  </a:lnTo>
                  <a:cubicBezTo>
                    <a:pt x="25273" y="3992753"/>
                    <a:pt x="0" y="3967353"/>
                    <a:pt x="0" y="3936111"/>
                  </a:cubicBezTo>
                  <a:close/>
                </a:path>
              </a:pathLst>
            </a:custGeom>
            <a:solidFill>
              <a:srgbClr val="F9F7F7"/>
            </a:solidFill>
          </p:spPr>
        </p:sp>
      </p:grpSp>
      <p:sp>
        <p:nvSpPr>
          <p:cNvPr name="TextBox 17" id="17"/>
          <p:cNvSpPr txBox="true"/>
          <p:nvPr/>
        </p:nvSpPr>
        <p:spPr>
          <a:xfrm rot="0">
            <a:off x="12333685" y="4024907"/>
            <a:ext cx="3841551"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Secure Data Exchange</a:t>
            </a:r>
          </a:p>
        </p:txBody>
      </p:sp>
      <p:sp>
        <p:nvSpPr>
          <p:cNvPr name="TextBox 18" id="18"/>
          <p:cNvSpPr txBox="true"/>
          <p:nvPr/>
        </p:nvSpPr>
        <p:spPr>
          <a:xfrm rot="0">
            <a:off x="12333685" y="4590306"/>
            <a:ext cx="4678413" cy="1900237"/>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Control access and permissions while protecting sensitive information through authentication.</a:t>
            </a:r>
          </a:p>
        </p:txBody>
      </p:sp>
      <p:sp>
        <p:nvSpPr>
          <p:cNvPr name="TextBox 19" id="19"/>
          <p:cNvSpPr txBox="true"/>
          <p:nvPr/>
        </p:nvSpPr>
        <p:spPr>
          <a:xfrm rot="0">
            <a:off x="992238" y="7026325"/>
            <a:ext cx="16303526" cy="792361"/>
          </a:xfrm>
          <a:prstGeom prst="rect">
            <a:avLst/>
          </a:prstGeom>
        </p:spPr>
        <p:txBody>
          <a:bodyPr anchor="t" rtlCol="false" tIns="0" lIns="0" bIns="0" rIns="0">
            <a:spAutoFit/>
          </a:bodyPr>
          <a:lstStyle/>
          <a:p>
            <a:pPr algn="l">
              <a:lnSpc>
                <a:spcPts val="2812"/>
              </a:lnSpc>
            </a:pPr>
            <a:r>
              <a:rPr lang="en-US" sz="1750" b="true">
                <a:solidFill>
                  <a:srgbClr val="504C49"/>
                </a:solidFill>
                <a:latin typeface="Source Serif Pro Bold"/>
                <a:ea typeface="Source Serif Pro Bold"/>
                <a:cs typeface="Source Serif Pro Bold"/>
                <a:sym typeface="Source Serif Pro Bold"/>
              </a:rPr>
              <a:t>Real-world examples:</a:t>
            </a:r>
            <a:r>
              <a:rPr lang="en-US" sz="1750">
                <a:solidFill>
                  <a:srgbClr val="504C49"/>
                </a:solidFill>
                <a:latin typeface="Source Serif Pro"/>
                <a:ea typeface="Source Serif Pro"/>
                <a:cs typeface="Source Serif Pro"/>
                <a:sym typeface="Source Serif Pro"/>
              </a:rPr>
              <a:t> Zomato integrates Google Maps API for location services, Spotify uses music streaming APIs, and "Login with Google" relies on authentication APIs.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525661" y="384422"/>
            <a:ext cx="7708552" cy="497830"/>
          </a:xfrm>
          <a:prstGeom prst="rect">
            <a:avLst/>
          </a:prstGeom>
        </p:spPr>
        <p:txBody>
          <a:bodyPr anchor="t" rtlCol="false" tIns="0" lIns="0" bIns="0" rIns="0">
            <a:spAutoFit/>
          </a:bodyPr>
          <a:lstStyle/>
          <a:p>
            <a:pPr algn="l">
              <a:lnSpc>
                <a:spcPts val="3687"/>
              </a:lnSpc>
            </a:pPr>
            <a:r>
              <a:rPr lang="en-US" sz="2937">
                <a:solidFill>
                  <a:srgbClr val="201B18"/>
                </a:solidFill>
                <a:latin typeface="Arimo"/>
                <a:ea typeface="Arimo"/>
                <a:cs typeface="Arimo"/>
                <a:sym typeface="Arimo"/>
              </a:rPr>
              <a:t>How APIs Work: Request-Response Model</a:t>
            </a:r>
          </a:p>
        </p:txBody>
      </p:sp>
      <p:sp>
        <p:nvSpPr>
          <p:cNvPr name="TextBox 7" id="7"/>
          <p:cNvSpPr txBox="true"/>
          <p:nvPr/>
        </p:nvSpPr>
        <p:spPr>
          <a:xfrm rot="0">
            <a:off x="525661" y="1134964"/>
            <a:ext cx="17236679" cy="287834"/>
          </a:xfrm>
          <a:prstGeom prst="rect">
            <a:avLst/>
          </a:prstGeom>
        </p:spPr>
        <p:txBody>
          <a:bodyPr anchor="t" rtlCol="false" tIns="0" lIns="0" bIns="0" rIns="0">
            <a:spAutoFit/>
          </a:bodyPr>
          <a:lstStyle/>
          <a:p>
            <a:pPr algn="l">
              <a:lnSpc>
                <a:spcPts val="1874"/>
              </a:lnSpc>
            </a:pPr>
            <a:r>
              <a:rPr lang="en-US" sz="1124">
                <a:solidFill>
                  <a:srgbClr val="504C49"/>
                </a:solidFill>
                <a:latin typeface="Source Serif Pro"/>
                <a:ea typeface="Source Serif Pro"/>
                <a:cs typeface="Source Serif Pro"/>
                <a:sym typeface="Source Serif Pro"/>
              </a:rPr>
              <a:t>APIs follow a predictable flow where the client makes a request, the server processes it, and returns a response.</a:t>
            </a:r>
          </a:p>
        </p:txBody>
      </p:sp>
      <p:grpSp>
        <p:nvGrpSpPr>
          <p:cNvPr name="Group 8" id="8"/>
          <p:cNvGrpSpPr>
            <a:grpSpLocks noChangeAspect="true"/>
          </p:cNvGrpSpPr>
          <p:nvPr/>
        </p:nvGrpSpPr>
        <p:grpSpPr>
          <a:xfrm rot="0">
            <a:off x="1562721" y="1718073"/>
            <a:ext cx="15162559" cy="8147367"/>
            <a:chOff x="0" y="0"/>
            <a:chExt cx="22849682" cy="12277923"/>
          </a:xfrm>
        </p:grpSpPr>
        <p:sp>
          <p:nvSpPr>
            <p:cNvPr name="Freeform 9" id="9" descr="preencoded.png"/>
            <p:cNvSpPr/>
            <p:nvPr/>
          </p:nvSpPr>
          <p:spPr>
            <a:xfrm flipH="false" flipV="false" rot="0">
              <a:off x="0" y="0"/>
              <a:ext cx="22849712" cy="12277979"/>
            </a:xfrm>
            <a:custGeom>
              <a:avLst/>
              <a:gdLst/>
              <a:ahLst/>
              <a:cxnLst/>
              <a:rect r="r" b="b" t="t" l="l"/>
              <a:pathLst>
                <a:path h="12277979" w="22849712">
                  <a:moveTo>
                    <a:pt x="0" y="0"/>
                  </a:moveTo>
                  <a:lnTo>
                    <a:pt x="22849712" y="0"/>
                  </a:lnTo>
                  <a:lnTo>
                    <a:pt x="22849712" y="12277979"/>
                  </a:lnTo>
                  <a:lnTo>
                    <a:pt x="0" y="12277979"/>
                  </a:lnTo>
                  <a:lnTo>
                    <a:pt x="0" y="0"/>
                  </a:lnTo>
                  <a:close/>
                </a:path>
              </a:pathLst>
            </a:custGeom>
            <a:blipFill>
              <a:blip r:embed="rId3"/>
              <a:stretch>
                <a:fillRect l="0" t="-17" r="0" b="-16"/>
              </a:stretch>
            </a:blipFill>
          </p:spPr>
        </p:sp>
      </p:grpSp>
      <p:sp>
        <p:nvSpPr>
          <p:cNvPr name="TextBox 10" id="10"/>
          <p:cNvSpPr txBox="true"/>
          <p:nvPr/>
        </p:nvSpPr>
        <p:spPr>
          <a:xfrm rot="0">
            <a:off x="1206464" y="2595526"/>
            <a:ext cx="3878210" cy="503826"/>
          </a:xfrm>
          <a:prstGeom prst="rect">
            <a:avLst/>
          </a:prstGeom>
        </p:spPr>
        <p:txBody>
          <a:bodyPr anchor="t" rtlCol="false" tIns="0" lIns="0" bIns="0" rIns="0">
            <a:spAutoFit/>
          </a:bodyPr>
          <a:lstStyle/>
          <a:p>
            <a:pPr algn="r">
              <a:lnSpc>
                <a:spcPts val="2062"/>
              </a:lnSpc>
            </a:pPr>
            <a:r>
              <a:rPr lang="en-US" sz="1687">
                <a:solidFill>
                  <a:srgbClr val="504C49"/>
                </a:solidFill>
                <a:latin typeface="Arimo"/>
                <a:ea typeface="Arimo"/>
                <a:cs typeface="Arimo"/>
                <a:sym typeface="Arimo"/>
              </a:rPr>
              <a:t>Client Request</a:t>
            </a:r>
          </a:p>
        </p:txBody>
      </p:sp>
      <p:sp>
        <p:nvSpPr>
          <p:cNvPr name="TextBox 11" id="11"/>
          <p:cNvSpPr txBox="true"/>
          <p:nvPr/>
        </p:nvSpPr>
        <p:spPr>
          <a:xfrm rot="0">
            <a:off x="982389" y="3237244"/>
            <a:ext cx="4102284" cy="775641"/>
          </a:xfrm>
          <a:prstGeom prst="rect">
            <a:avLst/>
          </a:prstGeom>
        </p:spPr>
        <p:txBody>
          <a:bodyPr anchor="t" rtlCol="false" tIns="0" lIns="0" bIns="0" rIns="0">
            <a:spAutoFit/>
          </a:bodyPr>
          <a:lstStyle/>
          <a:p>
            <a:pPr algn="r">
              <a:lnSpc>
                <a:spcPts val="1687"/>
              </a:lnSpc>
            </a:pPr>
            <a:r>
              <a:rPr lang="en-US" sz="1312">
                <a:solidFill>
                  <a:srgbClr val="504C49"/>
                </a:solidFill>
                <a:latin typeface="Source Serif Pro"/>
                <a:ea typeface="Source Serif Pro"/>
                <a:cs typeface="Source Serif Pro"/>
                <a:sym typeface="Source Serif Pro"/>
              </a:rPr>
              <a:t>Initiates HTTP request to the API gateway.</a:t>
            </a:r>
          </a:p>
        </p:txBody>
      </p:sp>
      <p:sp>
        <p:nvSpPr>
          <p:cNvPr name="TextBox 12" id="12"/>
          <p:cNvSpPr txBox="true"/>
          <p:nvPr/>
        </p:nvSpPr>
        <p:spPr>
          <a:xfrm rot="0">
            <a:off x="13203057" y="3711589"/>
            <a:ext cx="3878210" cy="503826"/>
          </a:xfrm>
          <a:prstGeom prst="rect">
            <a:avLst/>
          </a:prstGeom>
        </p:spPr>
        <p:txBody>
          <a:bodyPr anchor="t" rtlCol="false" tIns="0" lIns="0" bIns="0" rIns="0">
            <a:spAutoFit/>
          </a:bodyPr>
          <a:lstStyle/>
          <a:p>
            <a:pPr algn="l">
              <a:lnSpc>
                <a:spcPts val="2062"/>
              </a:lnSpc>
            </a:pPr>
            <a:r>
              <a:rPr lang="en-US" sz="1687">
                <a:solidFill>
                  <a:srgbClr val="504C49"/>
                </a:solidFill>
                <a:latin typeface="Arimo"/>
                <a:ea typeface="Arimo"/>
                <a:cs typeface="Arimo"/>
                <a:sym typeface="Arimo"/>
              </a:rPr>
              <a:t>API Gateway</a:t>
            </a:r>
          </a:p>
        </p:txBody>
      </p:sp>
      <p:sp>
        <p:nvSpPr>
          <p:cNvPr name="TextBox 13" id="13"/>
          <p:cNvSpPr txBox="true"/>
          <p:nvPr/>
        </p:nvSpPr>
        <p:spPr>
          <a:xfrm rot="0">
            <a:off x="13203057" y="4353306"/>
            <a:ext cx="4102284" cy="1163462"/>
          </a:xfrm>
          <a:prstGeom prst="rect">
            <a:avLst/>
          </a:prstGeom>
        </p:spPr>
        <p:txBody>
          <a:bodyPr anchor="t" rtlCol="false" tIns="0" lIns="0" bIns="0" rIns="0">
            <a:spAutoFit/>
          </a:bodyPr>
          <a:lstStyle/>
          <a:p>
            <a:pPr algn="l">
              <a:lnSpc>
                <a:spcPts val="1687"/>
              </a:lnSpc>
            </a:pPr>
            <a:r>
              <a:rPr lang="en-US" sz="1312">
                <a:solidFill>
                  <a:srgbClr val="504C49"/>
                </a:solidFill>
                <a:latin typeface="Source Serif Pro"/>
                <a:ea typeface="Source Serif Pro"/>
                <a:cs typeface="Source Serif Pro"/>
                <a:sym typeface="Source Serif Pro"/>
              </a:rPr>
              <a:t>Validates, routes, and forwards the request to server.</a:t>
            </a:r>
          </a:p>
        </p:txBody>
      </p:sp>
      <p:sp>
        <p:nvSpPr>
          <p:cNvPr name="TextBox 14" id="14"/>
          <p:cNvSpPr txBox="true"/>
          <p:nvPr/>
        </p:nvSpPr>
        <p:spPr>
          <a:xfrm rot="0">
            <a:off x="1206464" y="5056035"/>
            <a:ext cx="3878210" cy="503826"/>
          </a:xfrm>
          <a:prstGeom prst="rect">
            <a:avLst/>
          </a:prstGeom>
        </p:spPr>
        <p:txBody>
          <a:bodyPr anchor="t" rtlCol="false" tIns="0" lIns="0" bIns="0" rIns="0">
            <a:spAutoFit/>
          </a:bodyPr>
          <a:lstStyle/>
          <a:p>
            <a:pPr algn="r">
              <a:lnSpc>
                <a:spcPts val="2062"/>
              </a:lnSpc>
            </a:pPr>
            <a:r>
              <a:rPr lang="en-US" sz="1687">
                <a:solidFill>
                  <a:srgbClr val="504C49"/>
                </a:solidFill>
                <a:latin typeface="Arimo"/>
                <a:ea typeface="Arimo"/>
                <a:cs typeface="Arimo"/>
                <a:sym typeface="Arimo"/>
              </a:rPr>
              <a:t>Server Processing</a:t>
            </a:r>
          </a:p>
        </p:txBody>
      </p:sp>
      <p:sp>
        <p:nvSpPr>
          <p:cNvPr name="TextBox 15" id="15"/>
          <p:cNvSpPr txBox="true"/>
          <p:nvPr/>
        </p:nvSpPr>
        <p:spPr>
          <a:xfrm rot="0">
            <a:off x="982389" y="5697752"/>
            <a:ext cx="4102284" cy="1163464"/>
          </a:xfrm>
          <a:prstGeom prst="rect">
            <a:avLst/>
          </a:prstGeom>
        </p:spPr>
        <p:txBody>
          <a:bodyPr anchor="t" rtlCol="false" tIns="0" lIns="0" bIns="0" rIns="0">
            <a:spAutoFit/>
          </a:bodyPr>
          <a:lstStyle/>
          <a:p>
            <a:pPr algn="r">
              <a:lnSpc>
                <a:spcPts val="1687"/>
              </a:lnSpc>
            </a:pPr>
            <a:r>
              <a:rPr lang="en-US" sz="1312">
                <a:solidFill>
                  <a:srgbClr val="504C49"/>
                </a:solidFill>
                <a:latin typeface="Source Serif Pro"/>
                <a:ea typeface="Source Serif Pro"/>
                <a:cs typeface="Source Serif Pro"/>
                <a:sym typeface="Source Serif Pro"/>
              </a:rPr>
              <a:t>Handles logic, calls services, and queries the database.</a:t>
            </a:r>
          </a:p>
        </p:txBody>
      </p:sp>
      <p:sp>
        <p:nvSpPr>
          <p:cNvPr name="TextBox 16" id="16"/>
          <p:cNvSpPr txBox="true"/>
          <p:nvPr/>
        </p:nvSpPr>
        <p:spPr>
          <a:xfrm rot="0">
            <a:off x="13203057" y="6250909"/>
            <a:ext cx="3878210" cy="503826"/>
          </a:xfrm>
          <a:prstGeom prst="rect">
            <a:avLst/>
          </a:prstGeom>
        </p:spPr>
        <p:txBody>
          <a:bodyPr anchor="t" rtlCol="false" tIns="0" lIns="0" bIns="0" rIns="0">
            <a:spAutoFit/>
          </a:bodyPr>
          <a:lstStyle/>
          <a:p>
            <a:pPr algn="l">
              <a:lnSpc>
                <a:spcPts val="2062"/>
              </a:lnSpc>
            </a:pPr>
            <a:r>
              <a:rPr lang="en-US" sz="1687">
                <a:solidFill>
                  <a:srgbClr val="504C49"/>
                </a:solidFill>
                <a:latin typeface="Arimo"/>
                <a:ea typeface="Arimo"/>
                <a:cs typeface="Arimo"/>
                <a:sym typeface="Arimo"/>
              </a:rPr>
              <a:t>Database</a:t>
            </a:r>
          </a:p>
        </p:txBody>
      </p:sp>
      <p:sp>
        <p:nvSpPr>
          <p:cNvPr name="TextBox 17" id="17"/>
          <p:cNvSpPr txBox="true"/>
          <p:nvPr/>
        </p:nvSpPr>
        <p:spPr>
          <a:xfrm rot="0">
            <a:off x="13203057" y="6892627"/>
            <a:ext cx="4102284" cy="775642"/>
          </a:xfrm>
          <a:prstGeom prst="rect">
            <a:avLst/>
          </a:prstGeom>
        </p:spPr>
        <p:txBody>
          <a:bodyPr anchor="t" rtlCol="false" tIns="0" lIns="0" bIns="0" rIns="0">
            <a:spAutoFit/>
          </a:bodyPr>
          <a:lstStyle/>
          <a:p>
            <a:pPr algn="l">
              <a:lnSpc>
                <a:spcPts val="1687"/>
              </a:lnSpc>
            </a:pPr>
            <a:r>
              <a:rPr lang="en-US" sz="1312">
                <a:solidFill>
                  <a:srgbClr val="504C49"/>
                </a:solidFill>
                <a:latin typeface="Source Serif Pro"/>
                <a:ea typeface="Source Serif Pro"/>
                <a:cs typeface="Source Serif Pro"/>
                <a:sym typeface="Source Serif Pro"/>
              </a:rPr>
              <a:t>Retrieves or stores data and returns results to server.</a:t>
            </a:r>
          </a:p>
        </p:txBody>
      </p:sp>
      <p:sp>
        <p:nvSpPr>
          <p:cNvPr name="TextBox 18" id="18"/>
          <p:cNvSpPr txBox="true"/>
          <p:nvPr/>
        </p:nvSpPr>
        <p:spPr>
          <a:xfrm rot="0">
            <a:off x="1206464" y="7467725"/>
            <a:ext cx="3878210" cy="503826"/>
          </a:xfrm>
          <a:prstGeom prst="rect">
            <a:avLst/>
          </a:prstGeom>
        </p:spPr>
        <p:txBody>
          <a:bodyPr anchor="t" rtlCol="false" tIns="0" lIns="0" bIns="0" rIns="0">
            <a:spAutoFit/>
          </a:bodyPr>
          <a:lstStyle/>
          <a:p>
            <a:pPr algn="r">
              <a:lnSpc>
                <a:spcPts val="2062"/>
              </a:lnSpc>
            </a:pPr>
            <a:r>
              <a:rPr lang="en-US" sz="1687">
                <a:solidFill>
                  <a:srgbClr val="504C49"/>
                </a:solidFill>
                <a:latin typeface="Arimo"/>
                <a:ea typeface="Arimo"/>
                <a:cs typeface="Arimo"/>
                <a:sym typeface="Arimo"/>
              </a:rPr>
              <a:t>Response Flow</a:t>
            </a:r>
          </a:p>
        </p:txBody>
      </p:sp>
      <p:sp>
        <p:nvSpPr>
          <p:cNvPr name="TextBox 19" id="19"/>
          <p:cNvSpPr txBox="true"/>
          <p:nvPr/>
        </p:nvSpPr>
        <p:spPr>
          <a:xfrm rot="0">
            <a:off x="982389" y="8109444"/>
            <a:ext cx="4102284" cy="775641"/>
          </a:xfrm>
          <a:prstGeom prst="rect">
            <a:avLst/>
          </a:prstGeom>
        </p:spPr>
        <p:txBody>
          <a:bodyPr anchor="t" rtlCol="false" tIns="0" lIns="0" bIns="0" rIns="0">
            <a:spAutoFit/>
          </a:bodyPr>
          <a:lstStyle/>
          <a:p>
            <a:pPr algn="r">
              <a:lnSpc>
                <a:spcPts val="1687"/>
              </a:lnSpc>
            </a:pPr>
            <a:r>
              <a:rPr lang="en-US" sz="1312">
                <a:solidFill>
                  <a:srgbClr val="504C49"/>
                </a:solidFill>
                <a:latin typeface="Source Serif Pro"/>
                <a:ea typeface="Source Serif Pro"/>
                <a:cs typeface="Source Serif Pro"/>
                <a:sym typeface="Source Serif Pro"/>
              </a:rPr>
              <a:t>Server returns response via gateway back to client.</a:t>
            </a:r>
          </a:p>
        </p:txBody>
      </p:sp>
      <p:sp>
        <p:nvSpPr>
          <p:cNvPr name="TextBox 20" id="20"/>
          <p:cNvSpPr txBox="true"/>
          <p:nvPr/>
        </p:nvSpPr>
        <p:spPr>
          <a:xfrm rot="0">
            <a:off x="525661" y="10930979"/>
            <a:ext cx="17236679" cy="230238"/>
          </a:xfrm>
          <a:prstGeom prst="rect">
            <a:avLst/>
          </a:prstGeom>
        </p:spPr>
        <p:txBody>
          <a:bodyPr anchor="t" rtlCol="false" tIns="0" lIns="0" bIns="0" rIns="0">
            <a:spAutoFit/>
          </a:bodyPr>
          <a:lstStyle/>
          <a:p>
            <a:pPr algn="l">
              <a:lnSpc>
                <a:spcPts val="1500"/>
              </a:lnSpc>
            </a:pPr>
            <a:r>
              <a:rPr lang="en-US" sz="937" b="true">
                <a:solidFill>
                  <a:srgbClr val="504C49"/>
                </a:solidFill>
                <a:latin typeface="Source Serif Pro Bold"/>
                <a:ea typeface="Source Serif Pro Bold"/>
                <a:cs typeface="Source Serif Pro Bold"/>
                <a:sym typeface="Source Serif Pro Bold"/>
              </a:rPr>
              <a:t>Example Request:</a:t>
            </a:r>
          </a:p>
        </p:txBody>
      </p:sp>
      <p:grpSp>
        <p:nvGrpSpPr>
          <p:cNvPr name="Group 21" id="21"/>
          <p:cNvGrpSpPr/>
          <p:nvPr/>
        </p:nvGrpSpPr>
        <p:grpSpPr>
          <a:xfrm rot="0">
            <a:off x="525661" y="11330136"/>
            <a:ext cx="17236679" cy="465236"/>
            <a:chOff x="0" y="0"/>
            <a:chExt cx="22982238" cy="620315"/>
          </a:xfrm>
        </p:grpSpPr>
        <p:sp>
          <p:nvSpPr>
            <p:cNvPr name="Freeform 22" id="22"/>
            <p:cNvSpPr/>
            <p:nvPr/>
          </p:nvSpPr>
          <p:spPr>
            <a:xfrm flipH="false" flipV="false" rot="0">
              <a:off x="0" y="0"/>
              <a:ext cx="22982301" cy="620395"/>
            </a:xfrm>
            <a:custGeom>
              <a:avLst/>
              <a:gdLst/>
              <a:ahLst/>
              <a:cxnLst/>
              <a:rect r="r" b="b" t="t" l="l"/>
              <a:pathLst>
                <a:path h="620395" w="22982301">
                  <a:moveTo>
                    <a:pt x="0" y="30099"/>
                  </a:moveTo>
                  <a:cubicBezTo>
                    <a:pt x="0" y="13462"/>
                    <a:pt x="13462" y="0"/>
                    <a:pt x="30099" y="0"/>
                  </a:cubicBezTo>
                  <a:lnTo>
                    <a:pt x="22952202" y="0"/>
                  </a:lnTo>
                  <a:cubicBezTo>
                    <a:pt x="22968840" y="0"/>
                    <a:pt x="22982301" y="13462"/>
                    <a:pt x="22982301" y="30099"/>
                  </a:cubicBezTo>
                  <a:lnTo>
                    <a:pt x="22982301" y="590296"/>
                  </a:lnTo>
                  <a:cubicBezTo>
                    <a:pt x="22982301" y="606933"/>
                    <a:pt x="22968840" y="620395"/>
                    <a:pt x="22952202" y="620395"/>
                  </a:cubicBezTo>
                  <a:lnTo>
                    <a:pt x="30099" y="620395"/>
                  </a:lnTo>
                  <a:cubicBezTo>
                    <a:pt x="13462" y="620268"/>
                    <a:pt x="0" y="606806"/>
                    <a:pt x="0" y="590296"/>
                  </a:cubicBezTo>
                  <a:close/>
                </a:path>
              </a:pathLst>
            </a:custGeom>
            <a:solidFill>
              <a:srgbClr val="F2F2F2"/>
            </a:solidFill>
          </p:spPr>
        </p:sp>
      </p:grpSp>
      <p:grpSp>
        <p:nvGrpSpPr>
          <p:cNvPr name="Group 23" id="23"/>
          <p:cNvGrpSpPr/>
          <p:nvPr/>
        </p:nvGrpSpPr>
        <p:grpSpPr>
          <a:xfrm rot="0">
            <a:off x="518220" y="11330136"/>
            <a:ext cx="17251561" cy="465236"/>
            <a:chOff x="0" y="0"/>
            <a:chExt cx="23002082" cy="620315"/>
          </a:xfrm>
        </p:grpSpPr>
        <p:sp>
          <p:nvSpPr>
            <p:cNvPr name="Freeform 24" id="24"/>
            <p:cNvSpPr/>
            <p:nvPr/>
          </p:nvSpPr>
          <p:spPr>
            <a:xfrm flipH="false" flipV="false" rot="0">
              <a:off x="0" y="0"/>
              <a:ext cx="23002112" cy="620395"/>
            </a:xfrm>
            <a:custGeom>
              <a:avLst/>
              <a:gdLst/>
              <a:ahLst/>
              <a:cxnLst/>
              <a:rect r="r" b="b" t="t" l="l"/>
              <a:pathLst>
                <a:path h="620395" w="23002112">
                  <a:moveTo>
                    <a:pt x="0" y="30099"/>
                  </a:moveTo>
                  <a:cubicBezTo>
                    <a:pt x="0" y="13462"/>
                    <a:pt x="13462" y="0"/>
                    <a:pt x="30099" y="0"/>
                  </a:cubicBezTo>
                  <a:lnTo>
                    <a:pt x="22972013" y="0"/>
                  </a:lnTo>
                  <a:cubicBezTo>
                    <a:pt x="22988651" y="0"/>
                    <a:pt x="23002112" y="13462"/>
                    <a:pt x="23002112" y="30099"/>
                  </a:cubicBezTo>
                  <a:lnTo>
                    <a:pt x="23002112" y="590296"/>
                  </a:lnTo>
                  <a:cubicBezTo>
                    <a:pt x="23002112" y="606933"/>
                    <a:pt x="22988651" y="620395"/>
                    <a:pt x="22972013" y="620395"/>
                  </a:cubicBezTo>
                  <a:lnTo>
                    <a:pt x="30099" y="620395"/>
                  </a:lnTo>
                  <a:cubicBezTo>
                    <a:pt x="13462" y="620268"/>
                    <a:pt x="0" y="606806"/>
                    <a:pt x="0" y="590296"/>
                  </a:cubicBezTo>
                  <a:close/>
                </a:path>
              </a:pathLst>
            </a:custGeom>
            <a:solidFill>
              <a:srgbClr val="F2F2F2"/>
            </a:solidFill>
          </p:spPr>
        </p:sp>
      </p:grpSp>
      <p:sp>
        <p:nvSpPr>
          <p:cNvPr name="TextBox 25" id="25"/>
          <p:cNvSpPr txBox="true"/>
          <p:nvPr/>
        </p:nvSpPr>
        <p:spPr>
          <a:xfrm rot="0">
            <a:off x="668387" y="11366450"/>
            <a:ext cx="16951226" cy="316409"/>
          </a:xfrm>
          <a:prstGeom prst="rect">
            <a:avLst/>
          </a:prstGeom>
        </p:spPr>
        <p:txBody>
          <a:bodyPr anchor="t" rtlCol="false" tIns="0" lIns="0" bIns="0" rIns="0">
            <a:spAutoFit/>
          </a:bodyPr>
          <a:lstStyle/>
          <a:p>
            <a:pPr algn="l">
              <a:lnSpc>
                <a:spcPts val="1874"/>
              </a:lnSpc>
            </a:pPr>
            <a:r>
              <a:rPr lang="en-US" sz="1124">
                <a:solidFill>
                  <a:srgbClr val="504C49"/>
                </a:solidFill>
                <a:latin typeface="Consolas"/>
                <a:ea typeface="Consolas"/>
                <a:cs typeface="Consolas"/>
                <a:sym typeface="Consolas"/>
              </a:rPr>
              <a:t>GET https://api.github.com/users/octocat</a:t>
            </a:r>
          </a:p>
        </p:txBody>
      </p:sp>
      <p:sp>
        <p:nvSpPr>
          <p:cNvPr name="TextBox 26" id="26"/>
          <p:cNvSpPr txBox="true"/>
          <p:nvPr/>
        </p:nvSpPr>
        <p:spPr>
          <a:xfrm rot="0">
            <a:off x="525661" y="11926192"/>
            <a:ext cx="17236679" cy="230238"/>
          </a:xfrm>
          <a:prstGeom prst="rect">
            <a:avLst/>
          </a:prstGeom>
        </p:spPr>
        <p:txBody>
          <a:bodyPr anchor="t" rtlCol="false" tIns="0" lIns="0" bIns="0" rIns="0">
            <a:spAutoFit/>
          </a:bodyPr>
          <a:lstStyle/>
          <a:p>
            <a:pPr algn="l">
              <a:lnSpc>
                <a:spcPts val="1500"/>
              </a:lnSpc>
            </a:pPr>
            <a:r>
              <a:rPr lang="en-US" sz="937" b="true">
                <a:solidFill>
                  <a:srgbClr val="504C49"/>
                </a:solidFill>
                <a:latin typeface="Source Serif Pro Bold"/>
                <a:ea typeface="Source Serif Pro Bold"/>
                <a:cs typeface="Source Serif Pro Bold"/>
                <a:sym typeface="Source Serif Pro Bold"/>
              </a:rPr>
              <a:t>Example Response:</a:t>
            </a:r>
          </a:p>
        </p:txBody>
      </p:sp>
      <p:grpSp>
        <p:nvGrpSpPr>
          <p:cNvPr name="Group 27" id="27"/>
          <p:cNvGrpSpPr/>
          <p:nvPr/>
        </p:nvGrpSpPr>
        <p:grpSpPr>
          <a:xfrm rot="0">
            <a:off x="525661" y="12325350"/>
            <a:ext cx="17236679" cy="465236"/>
            <a:chOff x="0" y="0"/>
            <a:chExt cx="22982238" cy="620315"/>
          </a:xfrm>
        </p:grpSpPr>
        <p:sp>
          <p:nvSpPr>
            <p:cNvPr name="Freeform 28" id="28"/>
            <p:cNvSpPr/>
            <p:nvPr/>
          </p:nvSpPr>
          <p:spPr>
            <a:xfrm flipH="false" flipV="false" rot="0">
              <a:off x="0" y="0"/>
              <a:ext cx="22982301" cy="620395"/>
            </a:xfrm>
            <a:custGeom>
              <a:avLst/>
              <a:gdLst/>
              <a:ahLst/>
              <a:cxnLst/>
              <a:rect r="r" b="b" t="t" l="l"/>
              <a:pathLst>
                <a:path h="620395" w="22982301">
                  <a:moveTo>
                    <a:pt x="0" y="30099"/>
                  </a:moveTo>
                  <a:cubicBezTo>
                    <a:pt x="0" y="13462"/>
                    <a:pt x="13462" y="0"/>
                    <a:pt x="30099" y="0"/>
                  </a:cubicBezTo>
                  <a:lnTo>
                    <a:pt x="22952202" y="0"/>
                  </a:lnTo>
                  <a:cubicBezTo>
                    <a:pt x="22968840" y="0"/>
                    <a:pt x="22982301" y="13462"/>
                    <a:pt x="22982301" y="30099"/>
                  </a:cubicBezTo>
                  <a:lnTo>
                    <a:pt x="22982301" y="590296"/>
                  </a:lnTo>
                  <a:cubicBezTo>
                    <a:pt x="22982301" y="606933"/>
                    <a:pt x="22968840" y="620395"/>
                    <a:pt x="22952202" y="620395"/>
                  </a:cubicBezTo>
                  <a:lnTo>
                    <a:pt x="30099" y="620395"/>
                  </a:lnTo>
                  <a:cubicBezTo>
                    <a:pt x="13462" y="620268"/>
                    <a:pt x="0" y="606806"/>
                    <a:pt x="0" y="590296"/>
                  </a:cubicBezTo>
                  <a:close/>
                </a:path>
              </a:pathLst>
            </a:custGeom>
            <a:solidFill>
              <a:srgbClr val="F2F2F2"/>
            </a:solidFill>
          </p:spPr>
        </p:sp>
      </p:grpSp>
      <p:grpSp>
        <p:nvGrpSpPr>
          <p:cNvPr name="Group 29" id="29"/>
          <p:cNvGrpSpPr/>
          <p:nvPr/>
        </p:nvGrpSpPr>
        <p:grpSpPr>
          <a:xfrm rot="0">
            <a:off x="518220" y="12325350"/>
            <a:ext cx="17251561" cy="465236"/>
            <a:chOff x="0" y="0"/>
            <a:chExt cx="23002082" cy="620315"/>
          </a:xfrm>
        </p:grpSpPr>
        <p:sp>
          <p:nvSpPr>
            <p:cNvPr name="Freeform 30" id="30"/>
            <p:cNvSpPr/>
            <p:nvPr/>
          </p:nvSpPr>
          <p:spPr>
            <a:xfrm flipH="false" flipV="false" rot="0">
              <a:off x="0" y="0"/>
              <a:ext cx="23002112" cy="620395"/>
            </a:xfrm>
            <a:custGeom>
              <a:avLst/>
              <a:gdLst/>
              <a:ahLst/>
              <a:cxnLst/>
              <a:rect r="r" b="b" t="t" l="l"/>
              <a:pathLst>
                <a:path h="620395" w="23002112">
                  <a:moveTo>
                    <a:pt x="0" y="30099"/>
                  </a:moveTo>
                  <a:cubicBezTo>
                    <a:pt x="0" y="13462"/>
                    <a:pt x="13462" y="0"/>
                    <a:pt x="30099" y="0"/>
                  </a:cubicBezTo>
                  <a:lnTo>
                    <a:pt x="22972013" y="0"/>
                  </a:lnTo>
                  <a:cubicBezTo>
                    <a:pt x="22988651" y="0"/>
                    <a:pt x="23002112" y="13462"/>
                    <a:pt x="23002112" y="30099"/>
                  </a:cubicBezTo>
                  <a:lnTo>
                    <a:pt x="23002112" y="590296"/>
                  </a:lnTo>
                  <a:cubicBezTo>
                    <a:pt x="23002112" y="606933"/>
                    <a:pt x="22988651" y="620395"/>
                    <a:pt x="22972013" y="620395"/>
                  </a:cubicBezTo>
                  <a:lnTo>
                    <a:pt x="30099" y="620395"/>
                  </a:lnTo>
                  <a:cubicBezTo>
                    <a:pt x="13462" y="620268"/>
                    <a:pt x="0" y="606806"/>
                    <a:pt x="0" y="590296"/>
                  </a:cubicBezTo>
                  <a:close/>
                </a:path>
              </a:pathLst>
            </a:custGeom>
            <a:solidFill>
              <a:srgbClr val="F2F2F2"/>
            </a:solidFill>
          </p:spPr>
        </p:sp>
      </p:grpSp>
      <p:sp>
        <p:nvSpPr>
          <p:cNvPr name="TextBox 31" id="31"/>
          <p:cNvSpPr txBox="true"/>
          <p:nvPr/>
        </p:nvSpPr>
        <p:spPr>
          <a:xfrm rot="0">
            <a:off x="668387" y="12361664"/>
            <a:ext cx="16951226" cy="316409"/>
          </a:xfrm>
          <a:prstGeom prst="rect">
            <a:avLst/>
          </a:prstGeom>
        </p:spPr>
        <p:txBody>
          <a:bodyPr anchor="t" rtlCol="false" tIns="0" lIns="0" bIns="0" rIns="0">
            <a:spAutoFit/>
          </a:bodyPr>
          <a:lstStyle/>
          <a:p>
            <a:pPr algn="l">
              <a:lnSpc>
                <a:spcPts val="1874"/>
              </a:lnSpc>
            </a:pPr>
            <a:r>
              <a:rPr lang="en-US" sz="1124">
                <a:solidFill>
                  <a:srgbClr val="504C49"/>
                </a:solidFill>
                <a:latin typeface="Consolas"/>
                <a:ea typeface="Consolas"/>
                <a:cs typeface="Consolas"/>
                <a:sym typeface="Consolas"/>
              </a:rPr>
              <a:t>{ "login": "octocat", "id": 1, "name": "The Octocat"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2079426"/>
            <a:ext cx="7088237" cy="943124"/>
          </a:xfrm>
          <a:prstGeom prst="rect">
            <a:avLst/>
          </a:prstGeom>
        </p:spPr>
        <p:txBody>
          <a:bodyPr anchor="t" rtlCol="false" tIns="0" lIns="0" bIns="0" rIns="0">
            <a:spAutoFit/>
          </a:bodyPr>
          <a:lstStyle/>
          <a:p>
            <a:pPr algn="l">
              <a:lnSpc>
                <a:spcPts val="6937"/>
              </a:lnSpc>
            </a:pPr>
            <a:r>
              <a:rPr lang="en-US" sz="5562">
                <a:solidFill>
                  <a:srgbClr val="201B18"/>
                </a:solidFill>
                <a:latin typeface="Arimo"/>
                <a:ea typeface="Arimo"/>
                <a:cs typeface="Arimo"/>
                <a:sym typeface="Arimo"/>
              </a:rPr>
              <a:t>Endpoints</a:t>
            </a:r>
          </a:p>
        </p:txBody>
      </p:sp>
      <p:sp>
        <p:nvSpPr>
          <p:cNvPr name="TextBox 7" id="7"/>
          <p:cNvSpPr txBox="true"/>
          <p:nvPr/>
        </p:nvSpPr>
        <p:spPr>
          <a:xfrm rot="0">
            <a:off x="992238" y="3503860"/>
            <a:ext cx="16303526" cy="992981"/>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An endpoint is a specific URL that performs a particular function. Think of endpoints like different service counters at a bank, where each counter handles one specific task.</a:t>
            </a:r>
          </a:p>
        </p:txBody>
      </p:sp>
      <p:sp>
        <p:nvSpPr>
          <p:cNvPr name="TextBox 8" id="8"/>
          <p:cNvSpPr txBox="true"/>
          <p:nvPr/>
        </p:nvSpPr>
        <p:spPr>
          <a:xfrm rot="0">
            <a:off x="992238" y="5061198"/>
            <a:ext cx="3544044" cy="481012"/>
          </a:xfrm>
          <a:prstGeom prst="rect">
            <a:avLst/>
          </a:prstGeom>
        </p:spPr>
        <p:txBody>
          <a:bodyPr anchor="t" rtlCol="false" tIns="0" lIns="0" bIns="0" rIns="0">
            <a:spAutoFit/>
          </a:bodyPr>
          <a:lstStyle/>
          <a:p>
            <a:pPr algn="l">
              <a:lnSpc>
                <a:spcPts val="3437"/>
              </a:lnSpc>
            </a:pPr>
            <a:r>
              <a:rPr lang="en-US" sz="2750">
                <a:solidFill>
                  <a:srgbClr val="201B18"/>
                </a:solidFill>
                <a:latin typeface="Arimo"/>
                <a:ea typeface="Arimo"/>
                <a:cs typeface="Arimo"/>
                <a:sym typeface="Arimo"/>
              </a:rPr>
              <a:t>Endpoint Structure</a:t>
            </a:r>
          </a:p>
        </p:txBody>
      </p:sp>
      <p:sp>
        <p:nvSpPr>
          <p:cNvPr name="TextBox 9" id="9"/>
          <p:cNvSpPr txBox="true"/>
          <p:nvPr/>
        </p:nvSpPr>
        <p:spPr>
          <a:xfrm rot="0">
            <a:off x="992238" y="5740003"/>
            <a:ext cx="7805886" cy="992981"/>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Base URL:</a:t>
            </a:r>
            <a:r>
              <a:rPr lang="en-US" sz="2187">
                <a:solidFill>
                  <a:srgbClr val="504C49"/>
                </a:solidFill>
                <a:latin typeface="Source Serif Pro"/>
                <a:ea typeface="Source Serif Pro"/>
                <a:cs typeface="Source Serif Pro"/>
                <a:sym typeface="Source Serif Pro"/>
              </a:rPr>
              <a:t>https://api.github.com</a:t>
            </a:r>
          </a:p>
        </p:txBody>
      </p:sp>
      <p:sp>
        <p:nvSpPr>
          <p:cNvPr name="TextBox 10" id="10"/>
          <p:cNvSpPr txBox="true"/>
          <p:nvPr/>
        </p:nvSpPr>
        <p:spPr>
          <a:xfrm rot="0">
            <a:off x="992238" y="6902351"/>
            <a:ext cx="7805886" cy="992981"/>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Complete Endpoint:</a:t>
            </a:r>
            <a:r>
              <a:rPr lang="en-US" sz="2187">
                <a:solidFill>
                  <a:srgbClr val="504C49"/>
                </a:solidFill>
                <a:latin typeface="Source Serif Pro"/>
                <a:ea typeface="Source Serif Pro"/>
                <a:cs typeface="Source Serif Pro"/>
                <a:sym typeface="Source Serif Pro"/>
              </a:rPr>
              <a:t>https://api.github.com/users/octocat</a:t>
            </a:r>
          </a:p>
        </p:txBody>
      </p:sp>
      <p:sp>
        <p:nvSpPr>
          <p:cNvPr name="TextBox 11" id="11"/>
          <p:cNvSpPr txBox="true"/>
          <p:nvPr/>
        </p:nvSpPr>
        <p:spPr>
          <a:xfrm rot="0">
            <a:off x="9499401" y="5693866"/>
            <a:ext cx="7805886" cy="992981"/>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Path:</a:t>
            </a:r>
            <a:r>
              <a:rPr lang="en-US" sz="2187">
                <a:solidFill>
                  <a:srgbClr val="504C49"/>
                </a:solidFill>
                <a:latin typeface="Source Serif Pro"/>
                <a:ea typeface="Source Serif Pro"/>
                <a:cs typeface="Source Serif Pro"/>
                <a:sym typeface="Source Serif Pro"/>
              </a:rPr>
              <a:t>/users/octocat</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94010" y="654844"/>
            <a:ext cx="6386512" cy="845790"/>
          </a:xfrm>
          <a:prstGeom prst="rect">
            <a:avLst/>
          </a:prstGeom>
        </p:spPr>
        <p:txBody>
          <a:bodyPr anchor="t" rtlCol="false" tIns="0" lIns="0" bIns="0" rIns="0">
            <a:spAutoFit/>
          </a:bodyPr>
          <a:lstStyle/>
          <a:p>
            <a:pPr algn="l">
              <a:lnSpc>
                <a:spcPts val="6249"/>
              </a:lnSpc>
            </a:pPr>
            <a:r>
              <a:rPr lang="en-US" sz="4999">
                <a:solidFill>
                  <a:srgbClr val="201B18"/>
                </a:solidFill>
                <a:latin typeface="Arimo"/>
                <a:ea typeface="Arimo"/>
                <a:cs typeface="Arimo"/>
                <a:sym typeface="Arimo"/>
              </a:rPr>
              <a:t>REST APIs</a:t>
            </a:r>
          </a:p>
        </p:txBody>
      </p:sp>
      <p:sp>
        <p:nvSpPr>
          <p:cNvPr name="TextBox 7" id="7"/>
          <p:cNvSpPr txBox="true"/>
          <p:nvPr/>
        </p:nvSpPr>
        <p:spPr>
          <a:xfrm rot="0">
            <a:off x="894010" y="1935212"/>
            <a:ext cx="16499979" cy="1301800"/>
          </a:xfrm>
          <a:prstGeom prst="rect">
            <a:avLst/>
          </a:prstGeom>
        </p:spPr>
        <p:txBody>
          <a:bodyPr anchor="t" rtlCol="false" tIns="0" lIns="0" bIns="0" rIns="0">
            <a:spAutoFit/>
          </a:bodyPr>
          <a:lstStyle/>
          <a:p>
            <a:pPr algn="l">
              <a:lnSpc>
                <a:spcPts val="3187"/>
              </a:lnSpc>
            </a:pPr>
            <a:r>
              <a:rPr lang="en-US" sz="2000" b="true">
                <a:solidFill>
                  <a:srgbClr val="504C49"/>
                </a:solidFill>
                <a:latin typeface="Source Serif Pro Bold"/>
                <a:ea typeface="Source Serif Pro Bold"/>
                <a:cs typeface="Source Serif Pro Bold"/>
                <a:sym typeface="Source Serif Pro Bold"/>
              </a:rPr>
              <a:t>REST</a:t>
            </a:r>
            <a:r>
              <a:rPr lang="en-US" sz="2000">
                <a:solidFill>
                  <a:srgbClr val="504C49"/>
                </a:solidFill>
                <a:latin typeface="Source Serif Pro"/>
                <a:ea typeface="Source Serif Pro"/>
                <a:cs typeface="Source Serif Pro"/>
                <a:sym typeface="Source Serif Pro"/>
              </a:rPr>
              <a:t> (Representational State Transfer) is an architectural style for designing networked applications. It leverages standard HTTP methods to enable communication between client and server, focusing on resources and their representation. REST APIs are stateless, scalable, and built on the principles of the web.</a:t>
            </a:r>
          </a:p>
        </p:txBody>
      </p:sp>
      <p:sp>
        <p:nvSpPr>
          <p:cNvPr name="TextBox 8" id="8"/>
          <p:cNvSpPr txBox="true"/>
          <p:nvPr/>
        </p:nvSpPr>
        <p:spPr>
          <a:xfrm rot="0">
            <a:off x="894010" y="3581995"/>
            <a:ext cx="5225355" cy="676721"/>
          </a:xfrm>
          <a:prstGeom prst="rect">
            <a:avLst/>
          </a:prstGeom>
        </p:spPr>
        <p:txBody>
          <a:bodyPr anchor="t" rtlCol="false" tIns="0" lIns="0" bIns="0" rIns="0">
            <a:spAutoFit/>
          </a:bodyPr>
          <a:lstStyle/>
          <a:p>
            <a:pPr algn="l">
              <a:lnSpc>
                <a:spcPts val="5000"/>
              </a:lnSpc>
            </a:pPr>
            <a:r>
              <a:rPr lang="en-US" sz="4000">
                <a:solidFill>
                  <a:srgbClr val="201B18"/>
                </a:solidFill>
                <a:latin typeface="Arimo"/>
                <a:ea typeface="Arimo"/>
                <a:cs typeface="Arimo"/>
                <a:sym typeface="Arimo"/>
              </a:rPr>
              <a:t>Core REST Principles</a:t>
            </a:r>
          </a:p>
        </p:txBody>
      </p:sp>
      <p:grpSp>
        <p:nvGrpSpPr>
          <p:cNvPr name="Group 9" id="9"/>
          <p:cNvGrpSpPr/>
          <p:nvPr/>
        </p:nvGrpSpPr>
        <p:grpSpPr>
          <a:xfrm rot="0">
            <a:off x="879722" y="4627512"/>
            <a:ext cx="8150870" cy="2374404"/>
            <a:chOff x="0" y="0"/>
            <a:chExt cx="10867827" cy="3165872"/>
          </a:xfrm>
        </p:grpSpPr>
        <p:sp>
          <p:nvSpPr>
            <p:cNvPr name="Freeform 10" id="10"/>
            <p:cNvSpPr/>
            <p:nvPr/>
          </p:nvSpPr>
          <p:spPr>
            <a:xfrm flipH="false" flipV="false" rot="0">
              <a:off x="19050" y="19050"/>
              <a:ext cx="10829672" cy="3127756"/>
            </a:xfrm>
            <a:custGeom>
              <a:avLst/>
              <a:gdLst/>
              <a:ahLst/>
              <a:cxnLst/>
              <a:rect r="r" b="b" t="t" l="l"/>
              <a:pathLst>
                <a:path h="3127756" w="10829672">
                  <a:moveTo>
                    <a:pt x="0" y="182880"/>
                  </a:moveTo>
                  <a:cubicBezTo>
                    <a:pt x="0" y="81915"/>
                    <a:pt x="82550" y="0"/>
                    <a:pt x="184404" y="0"/>
                  </a:cubicBezTo>
                  <a:lnTo>
                    <a:pt x="10645267" y="0"/>
                  </a:lnTo>
                  <a:cubicBezTo>
                    <a:pt x="10747122" y="0"/>
                    <a:pt x="10829672" y="81915"/>
                    <a:pt x="10829672" y="182880"/>
                  </a:cubicBezTo>
                  <a:lnTo>
                    <a:pt x="10829672" y="2944876"/>
                  </a:lnTo>
                  <a:cubicBezTo>
                    <a:pt x="10829672" y="3045841"/>
                    <a:pt x="10747122" y="3127756"/>
                    <a:pt x="10645267" y="3127756"/>
                  </a:cubicBezTo>
                  <a:lnTo>
                    <a:pt x="184404" y="3127756"/>
                  </a:lnTo>
                  <a:cubicBezTo>
                    <a:pt x="82550" y="3127756"/>
                    <a:pt x="0" y="3045841"/>
                    <a:pt x="0" y="2944876"/>
                  </a:cubicBezTo>
                  <a:close/>
                </a:path>
              </a:pathLst>
            </a:custGeom>
            <a:solidFill>
              <a:srgbClr val="FFFFFF"/>
            </a:solidFill>
          </p:spPr>
        </p:sp>
        <p:sp>
          <p:nvSpPr>
            <p:cNvPr name="Freeform 11" id="11"/>
            <p:cNvSpPr/>
            <p:nvPr/>
          </p:nvSpPr>
          <p:spPr>
            <a:xfrm flipH="false" flipV="false" rot="0">
              <a:off x="0" y="0"/>
              <a:ext cx="10867772" cy="3165856"/>
            </a:xfrm>
            <a:custGeom>
              <a:avLst/>
              <a:gdLst/>
              <a:ahLst/>
              <a:cxnLst/>
              <a:rect r="r" b="b" t="t" l="l"/>
              <a:pathLst>
                <a:path h="3165856" w="10867772">
                  <a:moveTo>
                    <a:pt x="0" y="201930"/>
                  </a:moveTo>
                  <a:cubicBezTo>
                    <a:pt x="0" y="90297"/>
                    <a:pt x="91313" y="0"/>
                    <a:pt x="203454" y="0"/>
                  </a:cubicBezTo>
                  <a:lnTo>
                    <a:pt x="10664317" y="0"/>
                  </a:lnTo>
                  <a:lnTo>
                    <a:pt x="10664317" y="19050"/>
                  </a:lnTo>
                  <a:lnTo>
                    <a:pt x="10664317" y="0"/>
                  </a:lnTo>
                  <a:cubicBezTo>
                    <a:pt x="10776586" y="0"/>
                    <a:pt x="10867772" y="90297"/>
                    <a:pt x="10867772" y="201930"/>
                  </a:cubicBezTo>
                  <a:lnTo>
                    <a:pt x="10848722" y="201930"/>
                  </a:lnTo>
                  <a:lnTo>
                    <a:pt x="10867772" y="201930"/>
                  </a:lnTo>
                  <a:lnTo>
                    <a:pt x="10867772" y="2963926"/>
                  </a:lnTo>
                  <a:lnTo>
                    <a:pt x="10848722" y="2963926"/>
                  </a:lnTo>
                  <a:lnTo>
                    <a:pt x="10867772" y="2963926"/>
                  </a:lnTo>
                  <a:cubicBezTo>
                    <a:pt x="10867772" y="3075559"/>
                    <a:pt x="10776458" y="3165856"/>
                    <a:pt x="10664317" y="3165856"/>
                  </a:cubicBezTo>
                  <a:lnTo>
                    <a:pt x="10664317" y="3146806"/>
                  </a:lnTo>
                  <a:lnTo>
                    <a:pt x="10664317" y="3165856"/>
                  </a:lnTo>
                  <a:lnTo>
                    <a:pt x="203454" y="3165856"/>
                  </a:lnTo>
                  <a:lnTo>
                    <a:pt x="203454" y="3146806"/>
                  </a:lnTo>
                  <a:lnTo>
                    <a:pt x="203454" y="3165856"/>
                  </a:lnTo>
                  <a:cubicBezTo>
                    <a:pt x="91313" y="3165856"/>
                    <a:pt x="0" y="3075559"/>
                    <a:pt x="0" y="2963926"/>
                  </a:cubicBezTo>
                  <a:lnTo>
                    <a:pt x="0" y="201930"/>
                  </a:lnTo>
                  <a:lnTo>
                    <a:pt x="19050" y="201930"/>
                  </a:lnTo>
                  <a:lnTo>
                    <a:pt x="0" y="201930"/>
                  </a:lnTo>
                  <a:moveTo>
                    <a:pt x="38100" y="201930"/>
                  </a:moveTo>
                  <a:lnTo>
                    <a:pt x="38100" y="2963926"/>
                  </a:lnTo>
                  <a:lnTo>
                    <a:pt x="19050" y="2963926"/>
                  </a:lnTo>
                  <a:lnTo>
                    <a:pt x="38100" y="2963926"/>
                  </a:lnTo>
                  <a:cubicBezTo>
                    <a:pt x="38100" y="3054223"/>
                    <a:pt x="112014" y="3127756"/>
                    <a:pt x="203454" y="3127756"/>
                  </a:cubicBezTo>
                  <a:lnTo>
                    <a:pt x="10664317" y="3127756"/>
                  </a:lnTo>
                  <a:cubicBezTo>
                    <a:pt x="10755885" y="3127756"/>
                    <a:pt x="10829672" y="3054223"/>
                    <a:pt x="10829672" y="2963926"/>
                  </a:cubicBezTo>
                  <a:lnTo>
                    <a:pt x="10829672" y="201930"/>
                  </a:lnTo>
                  <a:cubicBezTo>
                    <a:pt x="10829672" y="111633"/>
                    <a:pt x="10755757" y="38100"/>
                    <a:pt x="10664317" y="38100"/>
                  </a:cubicBezTo>
                  <a:lnTo>
                    <a:pt x="203454" y="38100"/>
                  </a:lnTo>
                  <a:lnTo>
                    <a:pt x="203454" y="19050"/>
                  </a:lnTo>
                  <a:lnTo>
                    <a:pt x="203454" y="38100"/>
                  </a:lnTo>
                  <a:cubicBezTo>
                    <a:pt x="112014" y="38100"/>
                    <a:pt x="38100" y="111633"/>
                    <a:pt x="38100" y="201930"/>
                  </a:cubicBezTo>
                  <a:close/>
                </a:path>
              </a:pathLst>
            </a:custGeom>
            <a:solidFill>
              <a:srgbClr val="D8D4D4"/>
            </a:solidFill>
          </p:spPr>
        </p:sp>
      </p:grpSp>
      <p:grpSp>
        <p:nvGrpSpPr>
          <p:cNvPr name="Group 12" id="12"/>
          <p:cNvGrpSpPr/>
          <p:nvPr/>
        </p:nvGrpSpPr>
        <p:grpSpPr>
          <a:xfrm rot="0">
            <a:off x="865435" y="4641800"/>
            <a:ext cx="114300" cy="2345829"/>
            <a:chOff x="0" y="0"/>
            <a:chExt cx="152400" cy="3127772"/>
          </a:xfrm>
        </p:grpSpPr>
        <p:sp>
          <p:nvSpPr>
            <p:cNvPr name="Freeform 13" id="13"/>
            <p:cNvSpPr/>
            <p:nvPr/>
          </p:nvSpPr>
          <p:spPr>
            <a:xfrm flipH="false" flipV="false" rot="0">
              <a:off x="0" y="0"/>
              <a:ext cx="152400" cy="3127756"/>
            </a:xfrm>
            <a:custGeom>
              <a:avLst/>
              <a:gdLst/>
              <a:ahLst/>
              <a:cxnLst/>
              <a:rect r="r" b="b" t="t" l="l"/>
              <a:pathLst>
                <a:path h="3127756" w="152400">
                  <a:moveTo>
                    <a:pt x="0" y="51054"/>
                  </a:moveTo>
                  <a:cubicBezTo>
                    <a:pt x="0" y="22860"/>
                    <a:pt x="22860" y="0"/>
                    <a:pt x="51054" y="0"/>
                  </a:cubicBezTo>
                  <a:lnTo>
                    <a:pt x="101346" y="0"/>
                  </a:lnTo>
                  <a:cubicBezTo>
                    <a:pt x="129540" y="0"/>
                    <a:pt x="152400" y="22860"/>
                    <a:pt x="152400" y="51054"/>
                  </a:cubicBezTo>
                  <a:lnTo>
                    <a:pt x="152400" y="3076702"/>
                  </a:lnTo>
                  <a:cubicBezTo>
                    <a:pt x="152400" y="3104896"/>
                    <a:pt x="129540" y="3127756"/>
                    <a:pt x="101346" y="3127756"/>
                  </a:cubicBezTo>
                  <a:lnTo>
                    <a:pt x="51054" y="3127756"/>
                  </a:lnTo>
                  <a:cubicBezTo>
                    <a:pt x="22860" y="3127756"/>
                    <a:pt x="0" y="3104896"/>
                    <a:pt x="0" y="3076702"/>
                  </a:cubicBezTo>
                  <a:close/>
                </a:path>
              </a:pathLst>
            </a:custGeom>
            <a:solidFill>
              <a:srgbClr val="3E2513"/>
            </a:solidFill>
          </p:spPr>
        </p:sp>
      </p:grpSp>
      <p:sp>
        <p:nvSpPr>
          <p:cNvPr name="TextBox 14" id="14"/>
          <p:cNvSpPr txBox="true"/>
          <p:nvPr/>
        </p:nvSpPr>
        <p:spPr>
          <a:xfrm rot="0">
            <a:off x="1263700" y="4897190"/>
            <a:ext cx="4111229" cy="427733"/>
          </a:xfrm>
          <a:prstGeom prst="rect">
            <a:avLst/>
          </a:prstGeom>
        </p:spPr>
        <p:txBody>
          <a:bodyPr anchor="t" rtlCol="false" tIns="0" lIns="0" bIns="0" rIns="0">
            <a:spAutoFit/>
          </a:bodyPr>
          <a:lstStyle/>
          <a:p>
            <a:pPr algn="l">
              <a:lnSpc>
                <a:spcPts val="3124"/>
              </a:lnSpc>
            </a:pPr>
            <a:r>
              <a:rPr lang="en-US" sz="2499">
                <a:solidFill>
                  <a:srgbClr val="504C49"/>
                </a:solidFill>
                <a:latin typeface="Arimo"/>
                <a:ea typeface="Arimo"/>
                <a:cs typeface="Arimo"/>
                <a:sym typeface="Arimo"/>
              </a:rPr>
              <a:t>Client-Server Architecture</a:t>
            </a:r>
          </a:p>
        </p:txBody>
      </p:sp>
      <p:sp>
        <p:nvSpPr>
          <p:cNvPr name="TextBox 15" id="15"/>
          <p:cNvSpPr txBox="true"/>
          <p:nvPr/>
        </p:nvSpPr>
        <p:spPr>
          <a:xfrm rot="0">
            <a:off x="1263700" y="5401866"/>
            <a:ext cx="7468641" cy="893266"/>
          </a:xfrm>
          <a:prstGeom prst="rect">
            <a:avLst/>
          </a:prstGeom>
        </p:spPr>
        <p:txBody>
          <a:bodyPr anchor="t" rtlCol="false" tIns="0" lIns="0" bIns="0" rIns="0">
            <a:spAutoFit/>
          </a:bodyPr>
          <a:lstStyle/>
          <a:p>
            <a:pPr algn="l">
              <a:lnSpc>
                <a:spcPts val="3187"/>
              </a:lnSpc>
            </a:pPr>
            <a:r>
              <a:rPr lang="en-US" sz="2000">
                <a:solidFill>
                  <a:srgbClr val="504C49"/>
                </a:solidFill>
                <a:latin typeface="Source Serif Pro"/>
                <a:ea typeface="Source Serif Pro"/>
                <a:cs typeface="Source Serif Pro"/>
                <a:sym typeface="Source Serif Pro"/>
              </a:rPr>
              <a:t>Separation of concerns between the client (UI) and the server (data storage), improving portability and scalability.</a:t>
            </a:r>
          </a:p>
        </p:txBody>
      </p:sp>
      <p:grpSp>
        <p:nvGrpSpPr>
          <p:cNvPr name="Group 16" id="16"/>
          <p:cNvGrpSpPr/>
          <p:nvPr/>
        </p:nvGrpSpPr>
        <p:grpSpPr>
          <a:xfrm rot="0">
            <a:off x="9257408" y="4627512"/>
            <a:ext cx="8150870" cy="2374404"/>
            <a:chOff x="0" y="0"/>
            <a:chExt cx="10867827" cy="3165872"/>
          </a:xfrm>
        </p:grpSpPr>
        <p:sp>
          <p:nvSpPr>
            <p:cNvPr name="Freeform 17" id="17"/>
            <p:cNvSpPr/>
            <p:nvPr/>
          </p:nvSpPr>
          <p:spPr>
            <a:xfrm flipH="false" flipV="false" rot="0">
              <a:off x="19050" y="19050"/>
              <a:ext cx="10829672" cy="3127756"/>
            </a:xfrm>
            <a:custGeom>
              <a:avLst/>
              <a:gdLst/>
              <a:ahLst/>
              <a:cxnLst/>
              <a:rect r="r" b="b" t="t" l="l"/>
              <a:pathLst>
                <a:path h="3127756" w="10829672">
                  <a:moveTo>
                    <a:pt x="0" y="182880"/>
                  </a:moveTo>
                  <a:cubicBezTo>
                    <a:pt x="0" y="81915"/>
                    <a:pt x="82550" y="0"/>
                    <a:pt x="184404" y="0"/>
                  </a:cubicBezTo>
                  <a:lnTo>
                    <a:pt x="10645267" y="0"/>
                  </a:lnTo>
                  <a:cubicBezTo>
                    <a:pt x="10747122" y="0"/>
                    <a:pt x="10829672" y="81915"/>
                    <a:pt x="10829672" y="182880"/>
                  </a:cubicBezTo>
                  <a:lnTo>
                    <a:pt x="10829672" y="2944876"/>
                  </a:lnTo>
                  <a:cubicBezTo>
                    <a:pt x="10829672" y="3045841"/>
                    <a:pt x="10747122" y="3127756"/>
                    <a:pt x="10645267" y="3127756"/>
                  </a:cubicBezTo>
                  <a:lnTo>
                    <a:pt x="184404" y="3127756"/>
                  </a:lnTo>
                  <a:cubicBezTo>
                    <a:pt x="82550" y="3127756"/>
                    <a:pt x="0" y="3045841"/>
                    <a:pt x="0" y="2944876"/>
                  </a:cubicBezTo>
                  <a:close/>
                </a:path>
              </a:pathLst>
            </a:custGeom>
            <a:solidFill>
              <a:srgbClr val="FFFFFF"/>
            </a:solidFill>
          </p:spPr>
        </p:sp>
        <p:sp>
          <p:nvSpPr>
            <p:cNvPr name="Freeform 18" id="18"/>
            <p:cNvSpPr/>
            <p:nvPr/>
          </p:nvSpPr>
          <p:spPr>
            <a:xfrm flipH="false" flipV="false" rot="0">
              <a:off x="0" y="0"/>
              <a:ext cx="10867772" cy="3165856"/>
            </a:xfrm>
            <a:custGeom>
              <a:avLst/>
              <a:gdLst/>
              <a:ahLst/>
              <a:cxnLst/>
              <a:rect r="r" b="b" t="t" l="l"/>
              <a:pathLst>
                <a:path h="3165856" w="10867772">
                  <a:moveTo>
                    <a:pt x="0" y="201930"/>
                  </a:moveTo>
                  <a:cubicBezTo>
                    <a:pt x="0" y="90297"/>
                    <a:pt x="91313" y="0"/>
                    <a:pt x="203454" y="0"/>
                  </a:cubicBezTo>
                  <a:lnTo>
                    <a:pt x="10664317" y="0"/>
                  </a:lnTo>
                  <a:lnTo>
                    <a:pt x="10664317" y="19050"/>
                  </a:lnTo>
                  <a:lnTo>
                    <a:pt x="10664317" y="0"/>
                  </a:lnTo>
                  <a:cubicBezTo>
                    <a:pt x="10776586" y="0"/>
                    <a:pt x="10867772" y="90297"/>
                    <a:pt x="10867772" y="201930"/>
                  </a:cubicBezTo>
                  <a:lnTo>
                    <a:pt x="10848722" y="201930"/>
                  </a:lnTo>
                  <a:lnTo>
                    <a:pt x="10867772" y="201930"/>
                  </a:lnTo>
                  <a:lnTo>
                    <a:pt x="10867772" y="2963926"/>
                  </a:lnTo>
                  <a:lnTo>
                    <a:pt x="10848722" y="2963926"/>
                  </a:lnTo>
                  <a:lnTo>
                    <a:pt x="10867772" y="2963926"/>
                  </a:lnTo>
                  <a:cubicBezTo>
                    <a:pt x="10867772" y="3075559"/>
                    <a:pt x="10776458" y="3165856"/>
                    <a:pt x="10664317" y="3165856"/>
                  </a:cubicBezTo>
                  <a:lnTo>
                    <a:pt x="10664317" y="3146806"/>
                  </a:lnTo>
                  <a:lnTo>
                    <a:pt x="10664317" y="3165856"/>
                  </a:lnTo>
                  <a:lnTo>
                    <a:pt x="203454" y="3165856"/>
                  </a:lnTo>
                  <a:lnTo>
                    <a:pt x="203454" y="3146806"/>
                  </a:lnTo>
                  <a:lnTo>
                    <a:pt x="203454" y="3165856"/>
                  </a:lnTo>
                  <a:cubicBezTo>
                    <a:pt x="91313" y="3165856"/>
                    <a:pt x="0" y="3075559"/>
                    <a:pt x="0" y="2963926"/>
                  </a:cubicBezTo>
                  <a:lnTo>
                    <a:pt x="0" y="201930"/>
                  </a:lnTo>
                  <a:lnTo>
                    <a:pt x="19050" y="201930"/>
                  </a:lnTo>
                  <a:lnTo>
                    <a:pt x="0" y="201930"/>
                  </a:lnTo>
                  <a:moveTo>
                    <a:pt x="38100" y="201930"/>
                  </a:moveTo>
                  <a:lnTo>
                    <a:pt x="38100" y="2963926"/>
                  </a:lnTo>
                  <a:lnTo>
                    <a:pt x="19050" y="2963926"/>
                  </a:lnTo>
                  <a:lnTo>
                    <a:pt x="38100" y="2963926"/>
                  </a:lnTo>
                  <a:cubicBezTo>
                    <a:pt x="38100" y="3054223"/>
                    <a:pt x="112014" y="3127756"/>
                    <a:pt x="203454" y="3127756"/>
                  </a:cubicBezTo>
                  <a:lnTo>
                    <a:pt x="10664317" y="3127756"/>
                  </a:lnTo>
                  <a:cubicBezTo>
                    <a:pt x="10755885" y="3127756"/>
                    <a:pt x="10829672" y="3054223"/>
                    <a:pt x="10829672" y="2963926"/>
                  </a:cubicBezTo>
                  <a:lnTo>
                    <a:pt x="10829672" y="201930"/>
                  </a:lnTo>
                  <a:cubicBezTo>
                    <a:pt x="10829672" y="111633"/>
                    <a:pt x="10755757" y="38100"/>
                    <a:pt x="10664317" y="38100"/>
                  </a:cubicBezTo>
                  <a:lnTo>
                    <a:pt x="203454" y="38100"/>
                  </a:lnTo>
                  <a:lnTo>
                    <a:pt x="203454" y="19050"/>
                  </a:lnTo>
                  <a:lnTo>
                    <a:pt x="203454" y="38100"/>
                  </a:lnTo>
                  <a:cubicBezTo>
                    <a:pt x="112014" y="38100"/>
                    <a:pt x="38100" y="111633"/>
                    <a:pt x="38100" y="201930"/>
                  </a:cubicBezTo>
                  <a:close/>
                </a:path>
              </a:pathLst>
            </a:custGeom>
            <a:solidFill>
              <a:srgbClr val="D8D4D4"/>
            </a:solidFill>
          </p:spPr>
        </p:sp>
      </p:grpSp>
      <p:grpSp>
        <p:nvGrpSpPr>
          <p:cNvPr name="Group 19" id="19"/>
          <p:cNvGrpSpPr/>
          <p:nvPr/>
        </p:nvGrpSpPr>
        <p:grpSpPr>
          <a:xfrm rot="0">
            <a:off x="9243120" y="4641800"/>
            <a:ext cx="114300" cy="2345829"/>
            <a:chOff x="0" y="0"/>
            <a:chExt cx="152400" cy="3127772"/>
          </a:xfrm>
        </p:grpSpPr>
        <p:sp>
          <p:nvSpPr>
            <p:cNvPr name="Freeform 20" id="20"/>
            <p:cNvSpPr/>
            <p:nvPr/>
          </p:nvSpPr>
          <p:spPr>
            <a:xfrm flipH="false" flipV="false" rot="0">
              <a:off x="0" y="0"/>
              <a:ext cx="152400" cy="3127756"/>
            </a:xfrm>
            <a:custGeom>
              <a:avLst/>
              <a:gdLst/>
              <a:ahLst/>
              <a:cxnLst/>
              <a:rect r="r" b="b" t="t" l="l"/>
              <a:pathLst>
                <a:path h="3127756" w="152400">
                  <a:moveTo>
                    <a:pt x="0" y="51054"/>
                  </a:moveTo>
                  <a:cubicBezTo>
                    <a:pt x="0" y="22860"/>
                    <a:pt x="22860" y="0"/>
                    <a:pt x="51054" y="0"/>
                  </a:cubicBezTo>
                  <a:lnTo>
                    <a:pt x="101346" y="0"/>
                  </a:lnTo>
                  <a:cubicBezTo>
                    <a:pt x="129540" y="0"/>
                    <a:pt x="152400" y="22860"/>
                    <a:pt x="152400" y="51054"/>
                  </a:cubicBezTo>
                  <a:lnTo>
                    <a:pt x="152400" y="3076702"/>
                  </a:lnTo>
                  <a:cubicBezTo>
                    <a:pt x="152400" y="3104896"/>
                    <a:pt x="129540" y="3127756"/>
                    <a:pt x="101346" y="3127756"/>
                  </a:cubicBezTo>
                  <a:lnTo>
                    <a:pt x="51054" y="3127756"/>
                  </a:lnTo>
                  <a:cubicBezTo>
                    <a:pt x="22860" y="3127756"/>
                    <a:pt x="0" y="3104896"/>
                    <a:pt x="0" y="3076702"/>
                  </a:cubicBezTo>
                  <a:close/>
                </a:path>
              </a:pathLst>
            </a:custGeom>
            <a:solidFill>
              <a:srgbClr val="3E2513"/>
            </a:solidFill>
          </p:spPr>
        </p:sp>
      </p:grpSp>
      <p:sp>
        <p:nvSpPr>
          <p:cNvPr name="TextBox 21" id="21"/>
          <p:cNvSpPr txBox="true"/>
          <p:nvPr/>
        </p:nvSpPr>
        <p:spPr>
          <a:xfrm rot="0">
            <a:off x="9641384" y="4897190"/>
            <a:ext cx="3193256" cy="427733"/>
          </a:xfrm>
          <a:prstGeom prst="rect">
            <a:avLst/>
          </a:prstGeom>
        </p:spPr>
        <p:txBody>
          <a:bodyPr anchor="t" rtlCol="false" tIns="0" lIns="0" bIns="0" rIns="0">
            <a:spAutoFit/>
          </a:bodyPr>
          <a:lstStyle/>
          <a:p>
            <a:pPr algn="l">
              <a:lnSpc>
                <a:spcPts val="3124"/>
              </a:lnSpc>
            </a:pPr>
            <a:r>
              <a:rPr lang="en-US" sz="2499">
                <a:solidFill>
                  <a:srgbClr val="504C49"/>
                </a:solidFill>
                <a:latin typeface="Arimo"/>
                <a:ea typeface="Arimo"/>
                <a:cs typeface="Arimo"/>
                <a:sym typeface="Arimo"/>
              </a:rPr>
              <a:t>Statelessness</a:t>
            </a:r>
          </a:p>
        </p:txBody>
      </p:sp>
      <p:sp>
        <p:nvSpPr>
          <p:cNvPr name="TextBox 22" id="22"/>
          <p:cNvSpPr txBox="true"/>
          <p:nvPr/>
        </p:nvSpPr>
        <p:spPr>
          <a:xfrm rot="0">
            <a:off x="9641384" y="5401866"/>
            <a:ext cx="7468641" cy="1301800"/>
          </a:xfrm>
          <a:prstGeom prst="rect">
            <a:avLst/>
          </a:prstGeom>
        </p:spPr>
        <p:txBody>
          <a:bodyPr anchor="t" rtlCol="false" tIns="0" lIns="0" bIns="0" rIns="0">
            <a:spAutoFit/>
          </a:bodyPr>
          <a:lstStyle/>
          <a:p>
            <a:pPr algn="l">
              <a:lnSpc>
                <a:spcPts val="3187"/>
              </a:lnSpc>
            </a:pPr>
            <a:r>
              <a:rPr lang="en-US" sz="2000">
                <a:solidFill>
                  <a:srgbClr val="504C49"/>
                </a:solidFill>
                <a:latin typeface="Source Serif Pro"/>
                <a:ea typeface="Source Serif Pro"/>
                <a:cs typeface="Source Serif Pro"/>
                <a:sym typeface="Source Serif Pro"/>
              </a:rPr>
              <a:t>Each request from a client to a server must contain all the information needed to understand the request. The server will not store any client context between requests.</a:t>
            </a:r>
          </a:p>
        </p:txBody>
      </p:sp>
      <p:grpSp>
        <p:nvGrpSpPr>
          <p:cNvPr name="Group 23" id="23"/>
          <p:cNvGrpSpPr/>
          <p:nvPr/>
        </p:nvGrpSpPr>
        <p:grpSpPr>
          <a:xfrm rot="0">
            <a:off x="879722" y="7228731"/>
            <a:ext cx="8150870" cy="2374404"/>
            <a:chOff x="0" y="0"/>
            <a:chExt cx="10867827" cy="3165872"/>
          </a:xfrm>
        </p:grpSpPr>
        <p:sp>
          <p:nvSpPr>
            <p:cNvPr name="Freeform 24" id="24"/>
            <p:cNvSpPr/>
            <p:nvPr/>
          </p:nvSpPr>
          <p:spPr>
            <a:xfrm flipH="false" flipV="false" rot="0">
              <a:off x="19050" y="19050"/>
              <a:ext cx="10829672" cy="3127756"/>
            </a:xfrm>
            <a:custGeom>
              <a:avLst/>
              <a:gdLst/>
              <a:ahLst/>
              <a:cxnLst/>
              <a:rect r="r" b="b" t="t" l="l"/>
              <a:pathLst>
                <a:path h="3127756" w="10829672">
                  <a:moveTo>
                    <a:pt x="0" y="182880"/>
                  </a:moveTo>
                  <a:cubicBezTo>
                    <a:pt x="0" y="81915"/>
                    <a:pt x="82550" y="0"/>
                    <a:pt x="184404" y="0"/>
                  </a:cubicBezTo>
                  <a:lnTo>
                    <a:pt x="10645267" y="0"/>
                  </a:lnTo>
                  <a:cubicBezTo>
                    <a:pt x="10747122" y="0"/>
                    <a:pt x="10829672" y="81915"/>
                    <a:pt x="10829672" y="182880"/>
                  </a:cubicBezTo>
                  <a:lnTo>
                    <a:pt x="10829672" y="2944876"/>
                  </a:lnTo>
                  <a:cubicBezTo>
                    <a:pt x="10829672" y="3045841"/>
                    <a:pt x="10747122" y="3127756"/>
                    <a:pt x="10645267" y="3127756"/>
                  </a:cubicBezTo>
                  <a:lnTo>
                    <a:pt x="184404" y="3127756"/>
                  </a:lnTo>
                  <a:cubicBezTo>
                    <a:pt x="82550" y="3127756"/>
                    <a:pt x="0" y="3045841"/>
                    <a:pt x="0" y="2944876"/>
                  </a:cubicBezTo>
                  <a:close/>
                </a:path>
              </a:pathLst>
            </a:custGeom>
            <a:solidFill>
              <a:srgbClr val="FFFFFF"/>
            </a:solidFill>
          </p:spPr>
        </p:sp>
        <p:sp>
          <p:nvSpPr>
            <p:cNvPr name="Freeform 25" id="25"/>
            <p:cNvSpPr/>
            <p:nvPr/>
          </p:nvSpPr>
          <p:spPr>
            <a:xfrm flipH="false" flipV="false" rot="0">
              <a:off x="0" y="0"/>
              <a:ext cx="10867772" cy="3165856"/>
            </a:xfrm>
            <a:custGeom>
              <a:avLst/>
              <a:gdLst/>
              <a:ahLst/>
              <a:cxnLst/>
              <a:rect r="r" b="b" t="t" l="l"/>
              <a:pathLst>
                <a:path h="3165856" w="10867772">
                  <a:moveTo>
                    <a:pt x="0" y="201930"/>
                  </a:moveTo>
                  <a:cubicBezTo>
                    <a:pt x="0" y="90297"/>
                    <a:pt x="91313" y="0"/>
                    <a:pt x="203454" y="0"/>
                  </a:cubicBezTo>
                  <a:lnTo>
                    <a:pt x="10664317" y="0"/>
                  </a:lnTo>
                  <a:lnTo>
                    <a:pt x="10664317" y="19050"/>
                  </a:lnTo>
                  <a:lnTo>
                    <a:pt x="10664317" y="0"/>
                  </a:lnTo>
                  <a:cubicBezTo>
                    <a:pt x="10776586" y="0"/>
                    <a:pt x="10867772" y="90297"/>
                    <a:pt x="10867772" y="201930"/>
                  </a:cubicBezTo>
                  <a:lnTo>
                    <a:pt x="10848722" y="201930"/>
                  </a:lnTo>
                  <a:lnTo>
                    <a:pt x="10867772" y="201930"/>
                  </a:lnTo>
                  <a:lnTo>
                    <a:pt x="10867772" y="2963926"/>
                  </a:lnTo>
                  <a:lnTo>
                    <a:pt x="10848722" y="2963926"/>
                  </a:lnTo>
                  <a:lnTo>
                    <a:pt x="10867772" y="2963926"/>
                  </a:lnTo>
                  <a:cubicBezTo>
                    <a:pt x="10867772" y="3075559"/>
                    <a:pt x="10776458" y="3165856"/>
                    <a:pt x="10664317" y="3165856"/>
                  </a:cubicBezTo>
                  <a:lnTo>
                    <a:pt x="10664317" y="3146806"/>
                  </a:lnTo>
                  <a:lnTo>
                    <a:pt x="10664317" y="3165856"/>
                  </a:lnTo>
                  <a:lnTo>
                    <a:pt x="203454" y="3165856"/>
                  </a:lnTo>
                  <a:lnTo>
                    <a:pt x="203454" y="3146806"/>
                  </a:lnTo>
                  <a:lnTo>
                    <a:pt x="203454" y="3165856"/>
                  </a:lnTo>
                  <a:cubicBezTo>
                    <a:pt x="91313" y="3165856"/>
                    <a:pt x="0" y="3075559"/>
                    <a:pt x="0" y="2963926"/>
                  </a:cubicBezTo>
                  <a:lnTo>
                    <a:pt x="0" y="201930"/>
                  </a:lnTo>
                  <a:lnTo>
                    <a:pt x="19050" y="201930"/>
                  </a:lnTo>
                  <a:lnTo>
                    <a:pt x="0" y="201930"/>
                  </a:lnTo>
                  <a:moveTo>
                    <a:pt x="38100" y="201930"/>
                  </a:moveTo>
                  <a:lnTo>
                    <a:pt x="38100" y="2963926"/>
                  </a:lnTo>
                  <a:lnTo>
                    <a:pt x="19050" y="2963926"/>
                  </a:lnTo>
                  <a:lnTo>
                    <a:pt x="38100" y="2963926"/>
                  </a:lnTo>
                  <a:cubicBezTo>
                    <a:pt x="38100" y="3054223"/>
                    <a:pt x="112014" y="3127756"/>
                    <a:pt x="203454" y="3127756"/>
                  </a:cubicBezTo>
                  <a:lnTo>
                    <a:pt x="10664317" y="3127756"/>
                  </a:lnTo>
                  <a:cubicBezTo>
                    <a:pt x="10755885" y="3127756"/>
                    <a:pt x="10829672" y="3054223"/>
                    <a:pt x="10829672" y="2963926"/>
                  </a:cubicBezTo>
                  <a:lnTo>
                    <a:pt x="10829672" y="201930"/>
                  </a:lnTo>
                  <a:cubicBezTo>
                    <a:pt x="10829672" y="111633"/>
                    <a:pt x="10755757" y="38100"/>
                    <a:pt x="10664317" y="38100"/>
                  </a:cubicBezTo>
                  <a:lnTo>
                    <a:pt x="203454" y="38100"/>
                  </a:lnTo>
                  <a:lnTo>
                    <a:pt x="203454" y="19050"/>
                  </a:lnTo>
                  <a:lnTo>
                    <a:pt x="203454" y="38100"/>
                  </a:lnTo>
                  <a:cubicBezTo>
                    <a:pt x="112014" y="38100"/>
                    <a:pt x="38100" y="111633"/>
                    <a:pt x="38100" y="201930"/>
                  </a:cubicBezTo>
                  <a:close/>
                </a:path>
              </a:pathLst>
            </a:custGeom>
            <a:solidFill>
              <a:srgbClr val="D8D4D4"/>
            </a:solidFill>
          </p:spPr>
        </p:sp>
      </p:grpSp>
      <p:grpSp>
        <p:nvGrpSpPr>
          <p:cNvPr name="Group 26" id="26"/>
          <p:cNvGrpSpPr/>
          <p:nvPr/>
        </p:nvGrpSpPr>
        <p:grpSpPr>
          <a:xfrm rot="0">
            <a:off x="865435" y="7243019"/>
            <a:ext cx="114300" cy="2345829"/>
            <a:chOff x="0" y="0"/>
            <a:chExt cx="152400" cy="3127772"/>
          </a:xfrm>
        </p:grpSpPr>
        <p:sp>
          <p:nvSpPr>
            <p:cNvPr name="Freeform 27" id="27"/>
            <p:cNvSpPr/>
            <p:nvPr/>
          </p:nvSpPr>
          <p:spPr>
            <a:xfrm flipH="false" flipV="false" rot="0">
              <a:off x="0" y="0"/>
              <a:ext cx="152400" cy="3127756"/>
            </a:xfrm>
            <a:custGeom>
              <a:avLst/>
              <a:gdLst/>
              <a:ahLst/>
              <a:cxnLst/>
              <a:rect r="r" b="b" t="t" l="l"/>
              <a:pathLst>
                <a:path h="3127756" w="152400">
                  <a:moveTo>
                    <a:pt x="0" y="51054"/>
                  </a:moveTo>
                  <a:cubicBezTo>
                    <a:pt x="0" y="22860"/>
                    <a:pt x="22860" y="0"/>
                    <a:pt x="51054" y="0"/>
                  </a:cubicBezTo>
                  <a:lnTo>
                    <a:pt x="101346" y="0"/>
                  </a:lnTo>
                  <a:cubicBezTo>
                    <a:pt x="129540" y="0"/>
                    <a:pt x="152400" y="22860"/>
                    <a:pt x="152400" y="51054"/>
                  </a:cubicBezTo>
                  <a:lnTo>
                    <a:pt x="152400" y="3076702"/>
                  </a:lnTo>
                  <a:cubicBezTo>
                    <a:pt x="152400" y="3104896"/>
                    <a:pt x="129540" y="3127756"/>
                    <a:pt x="101346" y="3127756"/>
                  </a:cubicBezTo>
                  <a:lnTo>
                    <a:pt x="51054" y="3127756"/>
                  </a:lnTo>
                  <a:cubicBezTo>
                    <a:pt x="22860" y="3127756"/>
                    <a:pt x="0" y="3104896"/>
                    <a:pt x="0" y="3076702"/>
                  </a:cubicBezTo>
                  <a:close/>
                </a:path>
              </a:pathLst>
            </a:custGeom>
            <a:solidFill>
              <a:srgbClr val="3E2513"/>
            </a:solidFill>
          </p:spPr>
        </p:sp>
      </p:grpSp>
      <p:sp>
        <p:nvSpPr>
          <p:cNvPr name="TextBox 28" id="28"/>
          <p:cNvSpPr txBox="true"/>
          <p:nvPr/>
        </p:nvSpPr>
        <p:spPr>
          <a:xfrm rot="0">
            <a:off x="1263700" y="7498407"/>
            <a:ext cx="3193256" cy="427733"/>
          </a:xfrm>
          <a:prstGeom prst="rect">
            <a:avLst/>
          </a:prstGeom>
        </p:spPr>
        <p:txBody>
          <a:bodyPr anchor="t" rtlCol="false" tIns="0" lIns="0" bIns="0" rIns="0">
            <a:spAutoFit/>
          </a:bodyPr>
          <a:lstStyle/>
          <a:p>
            <a:pPr algn="l">
              <a:lnSpc>
                <a:spcPts val="3124"/>
              </a:lnSpc>
            </a:pPr>
            <a:r>
              <a:rPr lang="en-US" sz="2499">
                <a:solidFill>
                  <a:srgbClr val="504C49"/>
                </a:solidFill>
                <a:latin typeface="Arimo"/>
                <a:ea typeface="Arimo"/>
                <a:cs typeface="Arimo"/>
                <a:sym typeface="Arimo"/>
              </a:rPr>
              <a:t>Cacheability</a:t>
            </a:r>
          </a:p>
        </p:txBody>
      </p:sp>
      <p:sp>
        <p:nvSpPr>
          <p:cNvPr name="TextBox 29" id="29"/>
          <p:cNvSpPr txBox="true"/>
          <p:nvPr/>
        </p:nvSpPr>
        <p:spPr>
          <a:xfrm rot="0">
            <a:off x="1263700" y="8003084"/>
            <a:ext cx="7468641" cy="1301800"/>
          </a:xfrm>
          <a:prstGeom prst="rect">
            <a:avLst/>
          </a:prstGeom>
        </p:spPr>
        <p:txBody>
          <a:bodyPr anchor="t" rtlCol="false" tIns="0" lIns="0" bIns="0" rIns="0">
            <a:spAutoFit/>
          </a:bodyPr>
          <a:lstStyle/>
          <a:p>
            <a:pPr algn="l">
              <a:lnSpc>
                <a:spcPts val="3187"/>
              </a:lnSpc>
            </a:pPr>
            <a:r>
              <a:rPr lang="en-US" sz="2000">
                <a:solidFill>
                  <a:srgbClr val="504C49"/>
                </a:solidFill>
                <a:latin typeface="Source Serif Pro"/>
                <a:ea typeface="Source Serif Pro"/>
                <a:cs typeface="Source Serif Pro"/>
                <a:sym typeface="Source Serif Pro"/>
              </a:rPr>
              <a:t>Responses must implicitly or explicitly define themselves as cacheable to prevent unnecessary requests, improving performance.</a:t>
            </a:r>
          </a:p>
        </p:txBody>
      </p:sp>
      <p:grpSp>
        <p:nvGrpSpPr>
          <p:cNvPr name="Group 30" id="30"/>
          <p:cNvGrpSpPr/>
          <p:nvPr/>
        </p:nvGrpSpPr>
        <p:grpSpPr>
          <a:xfrm rot="0">
            <a:off x="9257408" y="7228731"/>
            <a:ext cx="8150870" cy="2374404"/>
            <a:chOff x="0" y="0"/>
            <a:chExt cx="10867827" cy="3165872"/>
          </a:xfrm>
        </p:grpSpPr>
        <p:sp>
          <p:nvSpPr>
            <p:cNvPr name="Freeform 31" id="31"/>
            <p:cNvSpPr/>
            <p:nvPr/>
          </p:nvSpPr>
          <p:spPr>
            <a:xfrm flipH="false" flipV="false" rot="0">
              <a:off x="19050" y="19050"/>
              <a:ext cx="10829672" cy="3127756"/>
            </a:xfrm>
            <a:custGeom>
              <a:avLst/>
              <a:gdLst/>
              <a:ahLst/>
              <a:cxnLst/>
              <a:rect r="r" b="b" t="t" l="l"/>
              <a:pathLst>
                <a:path h="3127756" w="10829672">
                  <a:moveTo>
                    <a:pt x="0" y="182880"/>
                  </a:moveTo>
                  <a:cubicBezTo>
                    <a:pt x="0" y="81915"/>
                    <a:pt x="82550" y="0"/>
                    <a:pt x="184404" y="0"/>
                  </a:cubicBezTo>
                  <a:lnTo>
                    <a:pt x="10645267" y="0"/>
                  </a:lnTo>
                  <a:cubicBezTo>
                    <a:pt x="10747122" y="0"/>
                    <a:pt x="10829672" y="81915"/>
                    <a:pt x="10829672" y="182880"/>
                  </a:cubicBezTo>
                  <a:lnTo>
                    <a:pt x="10829672" y="2944876"/>
                  </a:lnTo>
                  <a:cubicBezTo>
                    <a:pt x="10829672" y="3045841"/>
                    <a:pt x="10747122" y="3127756"/>
                    <a:pt x="10645267" y="3127756"/>
                  </a:cubicBezTo>
                  <a:lnTo>
                    <a:pt x="184404" y="3127756"/>
                  </a:lnTo>
                  <a:cubicBezTo>
                    <a:pt x="82550" y="3127756"/>
                    <a:pt x="0" y="3045841"/>
                    <a:pt x="0" y="2944876"/>
                  </a:cubicBezTo>
                  <a:close/>
                </a:path>
              </a:pathLst>
            </a:custGeom>
            <a:solidFill>
              <a:srgbClr val="FFFFFF"/>
            </a:solidFill>
          </p:spPr>
        </p:sp>
        <p:sp>
          <p:nvSpPr>
            <p:cNvPr name="Freeform 32" id="32"/>
            <p:cNvSpPr/>
            <p:nvPr/>
          </p:nvSpPr>
          <p:spPr>
            <a:xfrm flipH="false" flipV="false" rot="0">
              <a:off x="0" y="0"/>
              <a:ext cx="10867772" cy="3165856"/>
            </a:xfrm>
            <a:custGeom>
              <a:avLst/>
              <a:gdLst/>
              <a:ahLst/>
              <a:cxnLst/>
              <a:rect r="r" b="b" t="t" l="l"/>
              <a:pathLst>
                <a:path h="3165856" w="10867772">
                  <a:moveTo>
                    <a:pt x="0" y="201930"/>
                  </a:moveTo>
                  <a:cubicBezTo>
                    <a:pt x="0" y="90297"/>
                    <a:pt x="91313" y="0"/>
                    <a:pt x="203454" y="0"/>
                  </a:cubicBezTo>
                  <a:lnTo>
                    <a:pt x="10664317" y="0"/>
                  </a:lnTo>
                  <a:lnTo>
                    <a:pt x="10664317" y="19050"/>
                  </a:lnTo>
                  <a:lnTo>
                    <a:pt x="10664317" y="0"/>
                  </a:lnTo>
                  <a:cubicBezTo>
                    <a:pt x="10776586" y="0"/>
                    <a:pt x="10867772" y="90297"/>
                    <a:pt x="10867772" y="201930"/>
                  </a:cubicBezTo>
                  <a:lnTo>
                    <a:pt x="10848722" y="201930"/>
                  </a:lnTo>
                  <a:lnTo>
                    <a:pt x="10867772" y="201930"/>
                  </a:lnTo>
                  <a:lnTo>
                    <a:pt x="10867772" y="2963926"/>
                  </a:lnTo>
                  <a:lnTo>
                    <a:pt x="10848722" y="2963926"/>
                  </a:lnTo>
                  <a:lnTo>
                    <a:pt x="10867772" y="2963926"/>
                  </a:lnTo>
                  <a:cubicBezTo>
                    <a:pt x="10867772" y="3075559"/>
                    <a:pt x="10776458" y="3165856"/>
                    <a:pt x="10664317" y="3165856"/>
                  </a:cubicBezTo>
                  <a:lnTo>
                    <a:pt x="10664317" y="3146806"/>
                  </a:lnTo>
                  <a:lnTo>
                    <a:pt x="10664317" y="3165856"/>
                  </a:lnTo>
                  <a:lnTo>
                    <a:pt x="203454" y="3165856"/>
                  </a:lnTo>
                  <a:lnTo>
                    <a:pt x="203454" y="3146806"/>
                  </a:lnTo>
                  <a:lnTo>
                    <a:pt x="203454" y="3165856"/>
                  </a:lnTo>
                  <a:cubicBezTo>
                    <a:pt x="91313" y="3165856"/>
                    <a:pt x="0" y="3075559"/>
                    <a:pt x="0" y="2963926"/>
                  </a:cubicBezTo>
                  <a:lnTo>
                    <a:pt x="0" y="201930"/>
                  </a:lnTo>
                  <a:lnTo>
                    <a:pt x="19050" y="201930"/>
                  </a:lnTo>
                  <a:lnTo>
                    <a:pt x="0" y="201930"/>
                  </a:lnTo>
                  <a:moveTo>
                    <a:pt x="38100" y="201930"/>
                  </a:moveTo>
                  <a:lnTo>
                    <a:pt x="38100" y="2963926"/>
                  </a:lnTo>
                  <a:lnTo>
                    <a:pt x="19050" y="2963926"/>
                  </a:lnTo>
                  <a:lnTo>
                    <a:pt x="38100" y="2963926"/>
                  </a:lnTo>
                  <a:cubicBezTo>
                    <a:pt x="38100" y="3054223"/>
                    <a:pt x="112014" y="3127756"/>
                    <a:pt x="203454" y="3127756"/>
                  </a:cubicBezTo>
                  <a:lnTo>
                    <a:pt x="10664317" y="3127756"/>
                  </a:lnTo>
                  <a:cubicBezTo>
                    <a:pt x="10755885" y="3127756"/>
                    <a:pt x="10829672" y="3054223"/>
                    <a:pt x="10829672" y="2963926"/>
                  </a:cubicBezTo>
                  <a:lnTo>
                    <a:pt x="10829672" y="201930"/>
                  </a:lnTo>
                  <a:cubicBezTo>
                    <a:pt x="10829672" y="111633"/>
                    <a:pt x="10755757" y="38100"/>
                    <a:pt x="10664317" y="38100"/>
                  </a:cubicBezTo>
                  <a:lnTo>
                    <a:pt x="203454" y="38100"/>
                  </a:lnTo>
                  <a:lnTo>
                    <a:pt x="203454" y="19050"/>
                  </a:lnTo>
                  <a:lnTo>
                    <a:pt x="203454" y="38100"/>
                  </a:lnTo>
                  <a:cubicBezTo>
                    <a:pt x="112014" y="38100"/>
                    <a:pt x="38100" y="111633"/>
                    <a:pt x="38100" y="201930"/>
                  </a:cubicBezTo>
                  <a:close/>
                </a:path>
              </a:pathLst>
            </a:custGeom>
            <a:solidFill>
              <a:srgbClr val="D8D4D4"/>
            </a:solidFill>
          </p:spPr>
        </p:sp>
      </p:grpSp>
      <p:grpSp>
        <p:nvGrpSpPr>
          <p:cNvPr name="Group 33" id="33"/>
          <p:cNvGrpSpPr/>
          <p:nvPr/>
        </p:nvGrpSpPr>
        <p:grpSpPr>
          <a:xfrm rot="0">
            <a:off x="9243120" y="7243019"/>
            <a:ext cx="114300" cy="2345829"/>
            <a:chOff x="0" y="0"/>
            <a:chExt cx="152400" cy="3127772"/>
          </a:xfrm>
        </p:grpSpPr>
        <p:sp>
          <p:nvSpPr>
            <p:cNvPr name="Freeform 34" id="34"/>
            <p:cNvSpPr/>
            <p:nvPr/>
          </p:nvSpPr>
          <p:spPr>
            <a:xfrm flipH="false" flipV="false" rot="0">
              <a:off x="0" y="0"/>
              <a:ext cx="152400" cy="3127756"/>
            </a:xfrm>
            <a:custGeom>
              <a:avLst/>
              <a:gdLst/>
              <a:ahLst/>
              <a:cxnLst/>
              <a:rect r="r" b="b" t="t" l="l"/>
              <a:pathLst>
                <a:path h="3127756" w="152400">
                  <a:moveTo>
                    <a:pt x="0" y="51054"/>
                  </a:moveTo>
                  <a:cubicBezTo>
                    <a:pt x="0" y="22860"/>
                    <a:pt x="22860" y="0"/>
                    <a:pt x="51054" y="0"/>
                  </a:cubicBezTo>
                  <a:lnTo>
                    <a:pt x="101346" y="0"/>
                  </a:lnTo>
                  <a:cubicBezTo>
                    <a:pt x="129540" y="0"/>
                    <a:pt x="152400" y="22860"/>
                    <a:pt x="152400" y="51054"/>
                  </a:cubicBezTo>
                  <a:lnTo>
                    <a:pt x="152400" y="3076702"/>
                  </a:lnTo>
                  <a:cubicBezTo>
                    <a:pt x="152400" y="3104896"/>
                    <a:pt x="129540" y="3127756"/>
                    <a:pt x="101346" y="3127756"/>
                  </a:cubicBezTo>
                  <a:lnTo>
                    <a:pt x="51054" y="3127756"/>
                  </a:lnTo>
                  <a:cubicBezTo>
                    <a:pt x="22860" y="3127756"/>
                    <a:pt x="0" y="3104896"/>
                    <a:pt x="0" y="3076702"/>
                  </a:cubicBezTo>
                  <a:close/>
                </a:path>
              </a:pathLst>
            </a:custGeom>
            <a:solidFill>
              <a:srgbClr val="3E2513"/>
            </a:solidFill>
          </p:spPr>
        </p:sp>
      </p:grpSp>
      <p:sp>
        <p:nvSpPr>
          <p:cNvPr name="TextBox 35" id="35"/>
          <p:cNvSpPr txBox="true"/>
          <p:nvPr/>
        </p:nvSpPr>
        <p:spPr>
          <a:xfrm rot="0">
            <a:off x="9641384" y="7498407"/>
            <a:ext cx="3193256" cy="427733"/>
          </a:xfrm>
          <a:prstGeom prst="rect">
            <a:avLst/>
          </a:prstGeom>
        </p:spPr>
        <p:txBody>
          <a:bodyPr anchor="t" rtlCol="false" tIns="0" lIns="0" bIns="0" rIns="0">
            <a:spAutoFit/>
          </a:bodyPr>
          <a:lstStyle/>
          <a:p>
            <a:pPr algn="l">
              <a:lnSpc>
                <a:spcPts val="3124"/>
              </a:lnSpc>
            </a:pPr>
            <a:r>
              <a:rPr lang="en-US" sz="2499">
                <a:solidFill>
                  <a:srgbClr val="504C49"/>
                </a:solidFill>
                <a:latin typeface="Arimo"/>
                <a:ea typeface="Arimo"/>
                <a:cs typeface="Arimo"/>
                <a:sym typeface="Arimo"/>
              </a:rPr>
              <a:t>Uniform Interface</a:t>
            </a:r>
          </a:p>
        </p:txBody>
      </p:sp>
      <p:sp>
        <p:nvSpPr>
          <p:cNvPr name="TextBox 36" id="36"/>
          <p:cNvSpPr txBox="true"/>
          <p:nvPr/>
        </p:nvSpPr>
        <p:spPr>
          <a:xfrm rot="0">
            <a:off x="9641384" y="8003084"/>
            <a:ext cx="7468641" cy="1301800"/>
          </a:xfrm>
          <a:prstGeom prst="rect">
            <a:avLst/>
          </a:prstGeom>
        </p:spPr>
        <p:txBody>
          <a:bodyPr anchor="t" rtlCol="false" tIns="0" lIns="0" bIns="0" rIns="0">
            <a:spAutoFit/>
          </a:bodyPr>
          <a:lstStyle/>
          <a:p>
            <a:pPr algn="l">
              <a:lnSpc>
                <a:spcPts val="3187"/>
              </a:lnSpc>
            </a:pPr>
            <a:r>
              <a:rPr lang="en-US" sz="2000">
                <a:solidFill>
                  <a:srgbClr val="504C49"/>
                </a:solidFill>
                <a:latin typeface="Source Serif Pro"/>
                <a:ea typeface="Source Serif Pro"/>
                <a:cs typeface="Source Serif Pro"/>
                <a:sym typeface="Source Serif Pro"/>
              </a:rPr>
              <a:t>A single, uniform way of interacting with resources, simplifying the overall system architecture. Includes: Resource Identification, </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63947" y="640705"/>
            <a:ext cx="5704285" cy="655141"/>
          </a:xfrm>
          <a:prstGeom prst="rect">
            <a:avLst/>
          </a:prstGeom>
        </p:spPr>
        <p:txBody>
          <a:bodyPr anchor="t" rtlCol="false" tIns="0" lIns="0" bIns="0" rIns="0">
            <a:spAutoFit/>
          </a:bodyPr>
          <a:lstStyle/>
          <a:p>
            <a:pPr algn="l">
              <a:lnSpc>
                <a:spcPts val="4812"/>
              </a:lnSpc>
            </a:pPr>
            <a:r>
              <a:rPr lang="en-US" sz="3875">
                <a:solidFill>
                  <a:srgbClr val="201B18"/>
                </a:solidFill>
                <a:latin typeface="Arimo"/>
                <a:ea typeface="Arimo"/>
                <a:cs typeface="Arimo"/>
                <a:sym typeface="Arimo"/>
              </a:rPr>
              <a:t>HTTP Methods in REST</a:t>
            </a:r>
          </a:p>
        </p:txBody>
      </p:sp>
      <p:grpSp>
        <p:nvGrpSpPr>
          <p:cNvPr name="Group 7" id="7"/>
          <p:cNvGrpSpPr/>
          <p:nvPr/>
        </p:nvGrpSpPr>
        <p:grpSpPr>
          <a:xfrm rot="0">
            <a:off x="849660" y="1775222"/>
            <a:ext cx="5384006" cy="4408586"/>
            <a:chOff x="0" y="0"/>
            <a:chExt cx="7178675" cy="5878115"/>
          </a:xfrm>
        </p:grpSpPr>
        <p:sp>
          <p:nvSpPr>
            <p:cNvPr name="Freeform 8" id="8"/>
            <p:cNvSpPr/>
            <p:nvPr/>
          </p:nvSpPr>
          <p:spPr>
            <a:xfrm flipH="false" flipV="false" rot="0">
              <a:off x="19050" y="19050"/>
              <a:ext cx="7140575" cy="5840095"/>
            </a:xfrm>
            <a:custGeom>
              <a:avLst/>
              <a:gdLst/>
              <a:ahLst/>
              <a:cxnLst/>
              <a:rect r="r" b="b" t="t" l="l"/>
              <a:pathLst>
                <a:path h="5840095" w="7140575">
                  <a:moveTo>
                    <a:pt x="0" y="49403"/>
                  </a:moveTo>
                  <a:cubicBezTo>
                    <a:pt x="0" y="22098"/>
                    <a:pt x="22098" y="0"/>
                    <a:pt x="49403" y="0"/>
                  </a:cubicBezTo>
                  <a:lnTo>
                    <a:pt x="7091172" y="0"/>
                  </a:lnTo>
                  <a:cubicBezTo>
                    <a:pt x="7118477" y="0"/>
                    <a:pt x="7140575" y="22098"/>
                    <a:pt x="7140575" y="49403"/>
                  </a:cubicBezTo>
                  <a:lnTo>
                    <a:pt x="7140575" y="5790692"/>
                  </a:lnTo>
                  <a:cubicBezTo>
                    <a:pt x="7140575" y="5817997"/>
                    <a:pt x="7118477" y="5840095"/>
                    <a:pt x="7091172" y="5840095"/>
                  </a:cubicBezTo>
                  <a:lnTo>
                    <a:pt x="49403" y="5840095"/>
                  </a:lnTo>
                  <a:cubicBezTo>
                    <a:pt x="22098" y="5840095"/>
                    <a:pt x="0" y="5817997"/>
                    <a:pt x="0" y="5790692"/>
                  </a:cubicBezTo>
                  <a:close/>
                </a:path>
              </a:pathLst>
            </a:custGeom>
            <a:solidFill>
              <a:srgbClr val="FFFFFF"/>
            </a:solidFill>
          </p:spPr>
        </p:sp>
        <p:sp>
          <p:nvSpPr>
            <p:cNvPr name="Freeform 9" id="9"/>
            <p:cNvSpPr/>
            <p:nvPr/>
          </p:nvSpPr>
          <p:spPr>
            <a:xfrm flipH="false" flipV="false" rot="0">
              <a:off x="0" y="0"/>
              <a:ext cx="7178675" cy="5878195"/>
            </a:xfrm>
            <a:custGeom>
              <a:avLst/>
              <a:gdLst/>
              <a:ahLst/>
              <a:cxnLst/>
              <a:rect r="r" b="b" t="t" l="l"/>
              <a:pathLst>
                <a:path h="5878195" w="7178675">
                  <a:moveTo>
                    <a:pt x="0" y="68453"/>
                  </a:moveTo>
                  <a:cubicBezTo>
                    <a:pt x="0" y="30607"/>
                    <a:pt x="30607" y="0"/>
                    <a:pt x="68453" y="0"/>
                  </a:cubicBezTo>
                  <a:lnTo>
                    <a:pt x="7110222" y="0"/>
                  </a:lnTo>
                  <a:lnTo>
                    <a:pt x="7110222" y="19050"/>
                  </a:lnTo>
                  <a:lnTo>
                    <a:pt x="7110222" y="0"/>
                  </a:lnTo>
                  <a:cubicBezTo>
                    <a:pt x="7148068" y="0"/>
                    <a:pt x="7178675" y="30607"/>
                    <a:pt x="7178675" y="68453"/>
                  </a:cubicBezTo>
                  <a:lnTo>
                    <a:pt x="7159625" y="68453"/>
                  </a:lnTo>
                  <a:lnTo>
                    <a:pt x="7178675" y="68453"/>
                  </a:lnTo>
                  <a:lnTo>
                    <a:pt x="7178675" y="5809742"/>
                  </a:lnTo>
                  <a:lnTo>
                    <a:pt x="7159625" y="5809742"/>
                  </a:lnTo>
                  <a:lnTo>
                    <a:pt x="7178675" y="5809742"/>
                  </a:lnTo>
                  <a:cubicBezTo>
                    <a:pt x="7178675" y="5847588"/>
                    <a:pt x="7148068" y="5878195"/>
                    <a:pt x="7110222" y="5878195"/>
                  </a:cubicBezTo>
                  <a:lnTo>
                    <a:pt x="7110222" y="5859145"/>
                  </a:lnTo>
                  <a:lnTo>
                    <a:pt x="7110222" y="5878195"/>
                  </a:lnTo>
                  <a:lnTo>
                    <a:pt x="68453" y="5878195"/>
                  </a:lnTo>
                  <a:lnTo>
                    <a:pt x="68453" y="5859145"/>
                  </a:lnTo>
                  <a:lnTo>
                    <a:pt x="68453" y="5878195"/>
                  </a:lnTo>
                  <a:cubicBezTo>
                    <a:pt x="30607" y="5878195"/>
                    <a:pt x="0" y="5847588"/>
                    <a:pt x="0" y="5809742"/>
                  </a:cubicBezTo>
                  <a:lnTo>
                    <a:pt x="0" y="68453"/>
                  </a:lnTo>
                  <a:lnTo>
                    <a:pt x="19050" y="68453"/>
                  </a:lnTo>
                  <a:lnTo>
                    <a:pt x="0" y="68453"/>
                  </a:lnTo>
                  <a:moveTo>
                    <a:pt x="38100" y="68453"/>
                  </a:moveTo>
                  <a:lnTo>
                    <a:pt x="38100" y="5809742"/>
                  </a:lnTo>
                  <a:lnTo>
                    <a:pt x="19050" y="5809742"/>
                  </a:lnTo>
                  <a:lnTo>
                    <a:pt x="38100" y="5809742"/>
                  </a:lnTo>
                  <a:cubicBezTo>
                    <a:pt x="38100" y="5826506"/>
                    <a:pt x="51689" y="5840095"/>
                    <a:pt x="68453" y="5840095"/>
                  </a:cubicBezTo>
                  <a:lnTo>
                    <a:pt x="7110222" y="5840095"/>
                  </a:lnTo>
                  <a:cubicBezTo>
                    <a:pt x="7126986" y="5840095"/>
                    <a:pt x="7140575" y="5826506"/>
                    <a:pt x="7140575" y="5809742"/>
                  </a:cubicBezTo>
                  <a:lnTo>
                    <a:pt x="7140575" y="68453"/>
                  </a:lnTo>
                  <a:cubicBezTo>
                    <a:pt x="7140575" y="51689"/>
                    <a:pt x="7126986" y="38100"/>
                    <a:pt x="7110222" y="38100"/>
                  </a:cubicBezTo>
                  <a:lnTo>
                    <a:pt x="68453" y="38100"/>
                  </a:lnTo>
                  <a:lnTo>
                    <a:pt x="68453" y="19050"/>
                  </a:lnTo>
                  <a:lnTo>
                    <a:pt x="68453" y="38100"/>
                  </a:lnTo>
                  <a:cubicBezTo>
                    <a:pt x="51689" y="38100"/>
                    <a:pt x="38100" y="51689"/>
                    <a:pt x="38100" y="68453"/>
                  </a:cubicBezTo>
                  <a:close/>
                </a:path>
              </a:pathLst>
            </a:custGeom>
            <a:solidFill>
              <a:srgbClr val="D8D4D4"/>
            </a:solidFill>
          </p:spPr>
        </p:sp>
      </p:grpSp>
      <p:sp>
        <p:nvSpPr>
          <p:cNvPr name="TextBox 10" id="10"/>
          <p:cNvSpPr txBox="true"/>
          <p:nvPr/>
        </p:nvSpPr>
        <p:spPr>
          <a:xfrm rot="0">
            <a:off x="1139279" y="2036266"/>
            <a:ext cx="3085654" cy="414189"/>
          </a:xfrm>
          <a:prstGeom prst="rect">
            <a:avLst/>
          </a:prstGeom>
        </p:spPr>
        <p:txBody>
          <a:bodyPr anchor="t" rtlCol="false" tIns="0" lIns="0" bIns="0" rIns="0">
            <a:spAutoFit/>
          </a:bodyPr>
          <a:lstStyle/>
          <a:p>
            <a:pPr algn="l">
              <a:lnSpc>
                <a:spcPts val="3000"/>
              </a:lnSpc>
            </a:pPr>
            <a:r>
              <a:rPr lang="en-US" sz="2375">
                <a:solidFill>
                  <a:srgbClr val="504C49"/>
                </a:solidFill>
                <a:latin typeface="Arimo"/>
                <a:ea typeface="Arimo"/>
                <a:cs typeface="Arimo"/>
                <a:sym typeface="Arimo"/>
              </a:rPr>
              <a:t>GET</a:t>
            </a:r>
          </a:p>
        </p:txBody>
      </p:sp>
      <p:sp>
        <p:nvSpPr>
          <p:cNvPr name="TextBox 11" id="11"/>
          <p:cNvSpPr txBox="true"/>
          <p:nvPr/>
        </p:nvSpPr>
        <p:spPr>
          <a:xfrm rot="0">
            <a:off x="1139279" y="2522339"/>
            <a:ext cx="4804768" cy="165616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Used to </a:t>
            </a:r>
            <a:r>
              <a:rPr lang="en-US" sz="1937" b="true">
                <a:solidFill>
                  <a:srgbClr val="504C49"/>
                </a:solidFill>
                <a:latin typeface="Source Serif Pro Bold"/>
                <a:ea typeface="Source Serif Pro Bold"/>
                <a:cs typeface="Source Serif Pro Bold"/>
                <a:sym typeface="Source Serif Pro Bold"/>
              </a:rPr>
              <a:t>retrieve</a:t>
            </a:r>
            <a:r>
              <a:rPr lang="en-US" sz="1937">
                <a:solidFill>
                  <a:srgbClr val="504C49"/>
                </a:solidFill>
                <a:latin typeface="Source Serif Pro"/>
                <a:ea typeface="Source Serif Pro"/>
                <a:cs typeface="Source Serif Pro"/>
                <a:sym typeface="Source Serif Pro"/>
              </a:rPr>
              <a:t> data from a specified resource. GET requests should only retrieve data and have no other effect on the data. They are safe and idempotent.</a:t>
            </a:r>
          </a:p>
        </p:txBody>
      </p:sp>
      <p:grpSp>
        <p:nvGrpSpPr>
          <p:cNvPr name="Group 12" id="12"/>
          <p:cNvGrpSpPr/>
          <p:nvPr/>
        </p:nvGrpSpPr>
        <p:grpSpPr>
          <a:xfrm rot="0">
            <a:off x="1139279" y="4456211"/>
            <a:ext cx="4804768" cy="765274"/>
            <a:chOff x="0" y="0"/>
            <a:chExt cx="6406357" cy="1020365"/>
          </a:xfrm>
        </p:grpSpPr>
        <p:sp>
          <p:nvSpPr>
            <p:cNvPr name="Freeform 13" id="13"/>
            <p:cNvSpPr/>
            <p:nvPr/>
          </p:nvSpPr>
          <p:spPr>
            <a:xfrm flipH="false" flipV="false" rot="0">
              <a:off x="0" y="0"/>
              <a:ext cx="6406388" cy="1020445"/>
            </a:xfrm>
            <a:custGeom>
              <a:avLst/>
              <a:gdLst/>
              <a:ahLst/>
              <a:cxnLst/>
              <a:rect r="r" b="b" t="t" l="l"/>
              <a:pathLst>
                <a:path h="1020445" w="6406388">
                  <a:moveTo>
                    <a:pt x="0" y="49403"/>
                  </a:moveTo>
                  <a:cubicBezTo>
                    <a:pt x="0" y="22098"/>
                    <a:pt x="22098" y="0"/>
                    <a:pt x="49403" y="0"/>
                  </a:cubicBezTo>
                  <a:lnTo>
                    <a:pt x="6356985" y="0"/>
                  </a:lnTo>
                  <a:cubicBezTo>
                    <a:pt x="6384290" y="0"/>
                    <a:pt x="6406388" y="22098"/>
                    <a:pt x="6406388" y="49403"/>
                  </a:cubicBezTo>
                  <a:lnTo>
                    <a:pt x="6406388" y="971042"/>
                  </a:lnTo>
                  <a:cubicBezTo>
                    <a:pt x="6406388" y="998347"/>
                    <a:pt x="6384290" y="1020445"/>
                    <a:pt x="6356985" y="1020445"/>
                  </a:cubicBezTo>
                  <a:lnTo>
                    <a:pt x="49403" y="1020445"/>
                  </a:lnTo>
                  <a:cubicBezTo>
                    <a:pt x="22098" y="1020318"/>
                    <a:pt x="0" y="998220"/>
                    <a:pt x="0" y="971042"/>
                  </a:cubicBezTo>
                  <a:close/>
                </a:path>
              </a:pathLst>
            </a:custGeom>
            <a:solidFill>
              <a:srgbClr val="F2F2F2"/>
            </a:solidFill>
          </p:spPr>
        </p:sp>
      </p:grpSp>
      <p:grpSp>
        <p:nvGrpSpPr>
          <p:cNvPr name="Group 14" id="14"/>
          <p:cNvGrpSpPr/>
          <p:nvPr/>
        </p:nvGrpSpPr>
        <p:grpSpPr>
          <a:xfrm rot="0">
            <a:off x="1127075" y="4456211"/>
            <a:ext cx="4829175" cy="765274"/>
            <a:chOff x="0" y="0"/>
            <a:chExt cx="6438900" cy="1020365"/>
          </a:xfrm>
        </p:grpSpPr>
        <p:sp>
          <p:nvSpPr>
            <p:cNvPr name="Freeform 15" id="15"/>
            <p:cNvSpPr/>
            <p:nvPr/>
          </p:nvSpPr>
          <p:spPr>
            <a:xfrm flipH="false" flipV="false" rot="0">
              <a:off x="0" y="0"/>
              <a:ext cx="6438900" cy="1020445"/>
            </a:xfrm>
            <a:custGeom>
              <a:avLst/>
              <a:gdLst/>
              <a:ahLst/>
              <a:cxnLst/>
              <a:rect r="r" b="b" t="t" l="l"/>
              <a:pathLst>
                <a:path h="1020445" w="6438900">
                  <a:moveTo>
                    <a:pt x="0" y="49403"/>
                  </a:moveTo>
                  <a:cubicBezTo>
                    <a:pt x="0" y="22098"/>
                    <a:pt x="22098" y="0"/>
                    <a:pt x="49403" y="0"/>
                  </a:cubicBezTo>
                  <a:lnTo>
                    <a:pt x="6389497" y="0"/>
                  </a:lnTo>
                  <a:cubicBezTo>
                    <a:pt x="6416802" y="0"/>
                    <a:pt x="6438900" y="22098"/>
                    <a:pt x="6438900" y="49403"/>
                  </a:cubicBezTo>
                  <a:lnTo>
                    <a:pt x="6438900" y="971042"/>
                  </a:lnTo>
                  <a:cubicBezTo>
                    <a:pt x="6438900" y="998347"/>
                    <a:pt x="6416802" y="1020445"/>
                    <a:pt x="6389497" y="1020445"/>
                  </a:cubicBezTo>
                  <a:lnTo>
                    <a:pt x="49403" y="1020445"/>
                  </a:lnTo>
                  <a:cubicBezTo>
                    <a:pt x="22098" y="1020318"/>
                    <a:pt x="0" y="998220"/>
                    <a:pt x="0" y="971042"/>
                  </a:cubicBezTo>
                  <a:close/>
                </a:path>
              </a:pathLst>
            </a:custGeom>
            <a:solidFill>
              <a:srgbClr val="F2F2F2"/>
            </a:solidFill>
          </p:spPr>
        </p:sp>
      </p:grpSp>
      <p:sp>
        <p:nvSpPr>
          <p:cNvPr name="TextBox 16" id="16"/>
          <p:cNvSpPr txBox="true"/>
          <p:nvPr/>
        </p:nvSpPr>
        <p:spPr>
          <a:xfrm rot="0">
            <a:off x="1373832" y="4527054"/>
            <a:ext cx="4335661" cy="509290"/>
          </a:xfrm>
          <a:prstGeom prst="rect">
            <a:avLst/>
          </a:prstGeom>
        </p:spPr>
        <p:txBody>
          <a:bodyPr anchor="t" rtlCol="false" tIns="0" lIns="0" bIns="0" rIns="0">
            <a:spAutoFit/>
          </a:bodyPr>
          <a:lstStyle/>
          <a:p>
            <a:pPr algn="l">
              <a:lnSpc>
                <a:spcPts val="3062"/>
              </a:lnSpc>
            </a:pPr>
            <a:r>
              <a:rPr lang="en-US" sz="1937">
                <a:solidFill>
                  <a:srgbClr val="504C49"/>
                </a:solidFill>
                <a:latin typeface="Consolas"/>
                <a:ea typeface="Consolas"/>
                <a:cs typeface="Consolas"/>
                <a:sym typeface="Consolas"/>
              </a:rPr>
              <a:t>GET /users/123</a:t>
            </a:r>
          </a:p>
        </p:txBody>
      </p:sp>
      <p:sp>
        <p:nvSpPr>
          <p:cNvPr name="TextBox 17" id="17"/>
          <p:cNvSpPr txBox="true"/>
          <p:nvPr/>
        </p:nvSpPr>
        <p:spPr>
          <a:xfrm rot="0">
            <a:off x="1139279" y="5422999"/>
            <a:ext cx="4804768" cy="47119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Retrieves details for user with ID 123.</a:t>
            </a:r>
          </a:p>
        </p:txBody>
      </p:sp>
      <p:grpSp>
        <p:nvGrpSpPr>
          <p:cNvPr name="Group 18" id="18"/>
          <p:cNvGrpSpPr/>
          <p:nvPr/>
        </p:nvGrpSpPr>
        <p:grpSpPr>
          <a:xfrm rot="0">
            <a:off x="6451848" y="1775222"/>
            <a:ext cx="5384155" cy="4408586"/>
            <a:chOff x="0" y="0"/>
            <a:chExt cx="7178873" cy="5878115"/>
          </a:xfrm>
        </p:grpSpPr>
        <p:sp>
          <p:nvSpPr>
            <p:cNvPr name="Freeform 19" id="19"/>
            <p:cNvSpPr/>
            <p:nvPr/>
          </p:nvSpPr>
          <p:spPr>
            <a:xfrm flipH="false" flipV="false" rot="0">
              <a:off x="19050" y="19050"/>
              <a:ext cx="7140829" cy="5840095"/>
            </a:xfrm>
            <a:custGeom>
              <a:avLst/>
              <a:gdLst/>
              <a:ahLst/>
              <a:cxnLst/>
              <a:rect r="r" b="b" t="t" l="l"/>
              <a:pathLst>
                <a:path h="5840095" w="7140829">
                  <a:moveTo>
                    <a:pt x="0" y="49403"/>
                  </a:moveTo>
                  <a:cubicBezTo>
                    <a:pt x="0" y="22098"/>
                    <a:pt x="22098" y="0"/>
                    <a:pt x="49403" y="0"/>
                  </a:cubicBezTo>
                  <a:lnTo>
                    <a:pt x="7091426" y="0"/>
                  </a:lnTo>
                  <a:cubicBezTo>
                    <a:pt x="7118731" y="0"/>
                    <a:pt x="7140829" y="22098"/>
                    <a:pt x="7140829" y="49403"/>
                  </a:cubicBezTo>
                  <a:lnTo>
                    <a:pt x="7140829" y="5790692"/>
                  </a:lnTo>
                  <a:cubicBezTo>
                    <a:pt x="7140829" y="5817997"/>
                    <a:pt x="7118731" y="5840095"/>
                    <a:pt x="7091426" y="5840095"/>
                  </a:cubicBezTo>
                  <a:lnTo>
                    <a:pt x="49403" y="5840095"/>
                  </a:lnTo>
                  <a:cubicBezTo>
                    <a:pt x="22098" y="5840095"/>
                    <a:pt x="0" y="5817997"/>
                    <a:pt x="0" y="5790692"/>
                  </a:cubicBezTo>
                  <a:close/>
                </a:path>
              </a:pathLst>
            </a:custGeom>
            <a:solidFill>
              <a:srgbClr val="FFFFFF"/>
            </a:solidFill>
          </p:spPr>
        </p:sp>
        <p:sp>
          <p:nvSpPr>
            <p:cNvPr name="Freeform 20" id="20"/>
            <p:cNvSpPr/>
            <p:nvPr/>
          </p:nvSpPr>
          <p:spPr>
            <a:xfrm flipH="false" flipV="false" rot="0">
              <a:off x="0" y="0"/>
              <a:ext cx="7178929" cy="5878195"/>
            </a:xfrm>
            <a:custGeom>
              <a:avLst/>
              <a:gdLst/>
              <a:ahLst/>
              <a:cxnLst/>
              <a:rect r="r" b="b" t="t" l="l"/>
              <a:pathLst>
                <a:path h="5878195" w="7178929">
                  <a:moveTo>
                    <a:pt x="0" y="68453"/>
                  </a:moveTo>
                  <a:cubicBezTo>
                    <a:pt x="0" y="30607"/>
                    <a:pt x="30607" y="0"/>
                    <a:pt x="68453" y="0"/>
                  </a:cubicBezTo>
                  <a:lnTo>
                    <a:pt x="7110476" y="0"/>
                  </a:lnTo>
                  <a:lnTo>
                    <a:pt x="7110476" y="19050"/>
                  </a:lnTo>
                  <a:lnTo>
                    <a:pt x="7110476" y="0"/>
                  </a:lnTo>
                  <a:cubicBezTo>
                    <a:pt x="7148322" y="0"/>
                    <a:pt x="7178929" y="30607"/>
                    <a:pt x="7178929" y="68453"/>
                  </a:cubicBezTo>
                  <a:lnTo>
                    <a:pt x="7159879" y="68453"/>
                  </a:lnTo>
                  <a:lnTo>
                    <a:pt x="7178929" y="68453"/>
                  </a:lnTo>
                  <a:lnTo>
                    <a:pt x="7178929" y="5809742"/>
                  </a:lnTo>
                  <a:lnTo>
                    <a:pt x="7159879" y="5809742"/>
                  </a:lnTo>
                  <a:lnTo>
                    <a:pt x="7178929" y="5809742"/>
                  </a:lnTo>
                  <a:cubicBezTo>
                    <a:pt x="7178929" y="5847588"/>
                    <a:pt x="7148322" y="5878195"/>
                    <a:pt x="7110476" y="5878195"/>
                  </a:cubicBezTo>
                  <a:lnTo>
                    <a:pt x="7110476" y="5859145"/>
                  </a:lnTo>
                  <a:lnTo>
                    <a:pt x="7110476" y="5878195"/>
                  </a:lnTo>
                  <a:lnTo>
                    <a:pt x="68453" y="5878195"/>
                  </a:lnTo>
                  <a:lnTo>
                    <a:pt x="68453" y="5859145"/>
                  </a:lnTo>
                  <a:lnTo>
                    <a:pt x="68453" y="5878195"/>
                  </a:lnTo>
                  <a:cubicBezTo>
                    <a:pt x="30607" y="5878195"/>
                    <a:pt x="0" y="5847588"/>
                    <a:pt x="0" y="5809742"/>
                  </a:cubicBezTo>
                  <a:lnTo>
                    <a:pt x="0" y="68453"/>
                  </a:lnTo>
                  <a:lnTo>
                    <a:pt x="19050" y="68453"/>
                  </a:lnTo>
                  <a:lnTo>
                    <a:pt x="0" y="68453"/>
                  </a:lnTo>
                  <a:moveTo>
                    <a:pt x="38100" y="68453"/>
                  </a:moveTo>
                  <a:lnTo>
                    <a:pt x="38100" y="5809742"/>
                  </a:lnTo>
                  <a:lnTo>
                    <a:pt x="19050" y="5809742"/>
                  </a:lnTo>
                  <a:lnTo>
                    <a:pt x="38100" y="5809742"/>
                  </a:lnTo>
                  <a:cubicBezTo>
                    <a:pt x="38100" y="5826506"/>
                    <a:pt x="51689" y="5840095"/>
                    <a:pt x="68453" y="5840095"/>
                  </a:cubicBezTo>
                  <a:lnTo>
                    <a:pt x="7110476" y="5840095"/>
                  </a:lnTo>
                  <a:cubicBezTo>
                    <a:pt x="7127240" y="5840095"/>
                    <a:pt x="7140829" y="5826506"/>
                    <a:pt x="7140829" y="5809742"/>
                  </a:cubicBezTo>
                  <a:lnTo>
                    <a:pt x="7140829" y="68453"/>
                  </a:lnTo>
                  <a:cubicBezTo>
                    <a:pt x="7140829" y="51689"/>
                    <a:pt x="7127240" y="38100"/>
                    <a:pt x="7110476" y="38100"/>
                  </a:cubicBezTo>
                  <a:lnTo>
                    <a:pt x="68453" y="38100"/>
                  </a:lnTo>
                  <a:lnTo>
                    <a:pt x="68453" y="19050"/>
                  </a:lnTo>
                  <a:lnTo>
                    <a:pt x="68453" y="38100"/>
                  </a:lnTo>
                  <a:cubicBezTo>
                    <a:pt x="51689" y="38100"/>
                    <a:pt x="38100" y="51689"/>
                    <a:pt x="38100" y="68453"/>
                  </a:cubicBezTo>
                  <a:close/>
                </a:path>
              </a:pathLst>
            </a:custGeom>
            <a:solidFill>
              <a:srgbClr val="D8D4D4"/>
            </a:solidFill>
          </p:spPr>
        </p:sp>
      </p:grpSp>
      <p:sp>
        <p:nvSpPr>
          <p:cNvPr name="TextBox 21" id="21"/>
          <p:cNvSpPr txBox="true"/>
          <p:nvPr/>
        </p:nvSpPr>
        <p:spPr>
          <a:xfrm rot="0">
            <a:off x="6741467" y="2036266"/>
            <a:ext cx="3085654" cy="414189"/>
          </a:xfrm>
          <a:prstGeom prst="rect">
            <a:avLst/>
          </a:prstGeom>
        </p:spPr>
        <p:txBody>
          <a:bodyPr anchor="t" rtlCol="false" tIns="0" lIns="0" bIns="0" rIns="0">
            <a:spAutoFit/>
          </a:bodyPr>
          <a:lstStyle/>
          <a:p>
            <a:pPr algn="l">
              <a:lnSpc>
                <a:spcPts val="3000"/>
              </a:lnSpc>
            </a:pPr>
            <a:r>
              <a:rPr lang="en-US" sz="2375">
                <a:solidFill>
                  <a:srgbClr val="504C49"/>
                </a:solidFill>
                <a:latin typeface="Arimo"/>
                <a:ea typeface="Arimo"/>
                <a:cs typeface="Arimo"/>
                <a:sym typeface="Arimo"/>
              </a:rPr>
              <a:t>POST</a:t>
            </a:r>
          </a:p>
        </p:txBody>
      </p:sp>
      <p:sp>
        <p:nvSpPr>
          <p:cNvPr name="TextBox 22" id="22"/>
          <p:cNvSpPr txBox="true"/>
          <p:nvPr/>
        </p:nvSpPr>
        <p:spPr>
          <a:xfrm rot="0">
            <a:off x="6741467" y="2522339"/>
            <a:ext cx="4804916" cy="165616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Used to </a:t>
            </a:r>
            <a:r>
              <a:rPr lang="en-US" sz="1937" b="true">
                <a:solidFill>
                  <a:srgbClr val="504C49"/>
                </a:solidFill>
                <a:latin typeface="Source Serif Pro Bold"/>
                <a:ea typeface="Source Serif Pro Bold"/>
                <a:cs typeface="Source Serif Pro Bold"/>
                <a:sym typeface="Source Serif Pro Bold"/>
              </a:rPr>
              <a:t>submit</a:t>
            </a:r>
            <a:r>
              <a:rPr lang="en-US" sz="1937">
                <a:solidFill>
                  <a:srgbClr val="504C49"/>
                </a:solidFill>
                <a:latin typeface="Source Serif Pro"/>
                <a:ea typeface="Source Serif Pro"/>
                <a:cs typeface="Source Serif Pro"/>
                <a:sym typeface="Source Serif Pro"/>
              </a:rPr>
              <a:t> data to the specified resource, often causing a change in state or a new resource to be created. Not idempotent.</a:t>
            </a:r>
          </a:p>
        </p:txBody>
      </p:sp>
      <p:grpSp>
        <p:nvGrpSpPr>
          <p:cNvPr name="Group 23" id="23"/>
          <p:cNvGrpSpPr/>
          <p:nvPr/>
        </p:nvGrpSpPr>
        <p:grpSpPr>
          <a:xfrm rot="0">
            <a:off x="6741467" y="4456211"/>
            <a:ext cx="4804916" cy="765274"/>
            <a:chOff x="0" y="0"/>
            <a:chExt cx="6406555" cy="1020365"/>
          </a:xfrm>
        </p:grpSpPr>
        <p:sp>
          <p:nvSpPr>
            <p:cNvPr name="Freeform 24" id="24"/>
            <p:cNvSpPr/>
            <p:nvPr/>
          </p:nvSpPr>
          <p:spPr>
            <a:xfrm flipH="false" flipV="false" rot="0">
              <a:off x="0" y="0"/>
              <a:ext cx="6406642" cy="1020445"/>
            </a:xfrm>
            <a:custGeom>
              <a:avLst/>
              <a:gdLst/>
              <a:ahLst/>
              <a:cxnLst/>
              <a:rect r="r" b="b" t="t" l="l"/>
              <a:pathLst>
                <a:path h="1020445" w="6406642">
                  <a:moveTo>
                    <a:pt x="0" y="49403"/>
                  </a:moveTo>
                  <a:cubicBezTo>
                    <a:pt x="0" y="22098"/>
                    <a:pt x="22098" y="0"/>
                    <a:pt x="49403" y="0"/>
                  </a:cubicBezTo>
                  <a:lnTo>
                    <a:pt x="6357239" y="0"/>
                  </a:lnTo>
                  <a:cubicBezTo>
                    <a:pt x="6384544" y="0"/>
                    <a:pt x="6406642" y="22098"/>
                    <a:pt x="6406642" y="49403"/>
                  </a:cubicBezTo>
                  <a:lnTo>
                    <a:pt x="6406642" y="971042"/>
                  </a:lnTo>
                  <a:cubicBezTo>
                    <a:pt x="6406642" y="998347"/>
                    <a:pt x="6384544" y="1020445"/>
                    <a:pt x="6357239" y="1020445"/>
                  </a:cubicBezTo>
                  <a:lnTo>
                    <a:pt x="49403" y="1020445"/>
                  </a:lnTo>
                  <a:cubicBezTo>
                    <a:pt x="22098" y="1020318"/>
                    <a:pt x="0" y="998220"/>
                    <a:pt x="0" y="971042"/>
                  </a:cubicBezTo>
                  <a:close/>
                </a:path>
              </a:pathLst>
            </a:custGeom>
            <a:solidFill>
              <a:srgbClr val="F2F2F2"/>
            </a:solidFill>
          </p:spPr>
        </p:sp>
      </p:grpSp>
      <p:grpSp>
        <p:nvGrpSpPr>
          <p:cNvPr name="Group 25" id="25"/>
          <p:cNvGrpSpPr/>
          <p:nvPr/>
        </p:nvGrpSpPr>
        <p:grpSpPr>
          <a:xfrm rot="0">
            <a:off x="6729264" y="4456211"/>
            <a:ext cx="4829324" cy="765274"/>
            <a:chOff x="0" y="0"/>
            <a:chExt cx="6439098" cy="1020365"/>
          </a:xfrm>
        </p:grpSpPr>
        <p:sp>
          <p:nvSpPr>
            <p:cNvPr name="Freeform 26" id="26"/>
            <p:cNvSpPr/>
            <p:nvPr/>
          </p:nvSpPr>
          <p:spPr>
            <a:xfrm flipH="false" flipV="false" rot="0">
              <a:off x="0" y="0"/>
              <a:ext cx="6439154" cy="1020445"/>
            </a:xfrm>
            <a:custGeom>
              <a:avLst/>
              <a:gdLst/>
              <a:ahLst/>
              <a:cxnLst/>
              <a:rect r="r" b="b" t="t" l="l"/>
              <a:pathLst>
                <a:path h="1020445" w="6439154">
                  <a:moveTo>
                    <a:pt x="0" y="49403"/>
                  </a:moveTo>
                  <a:cubicBezTo>
                    <a:pt x="0" y="22098"/>
                    <a:pt x="22098" y="0"/>
                    <a:pt x="49403" y="0"/>
                  </a:cubicBezTo>
                  <a:lnTo>
                    <a:pt x="6389751" y="0"/>
                  </a:lnTo>
                  <a:cubicBezTo>
                    <a:pt x="6417056" y="0"/>
                    <a:pt x="6439154" y="22098"/>
                    <a:pt x="6439154" y="49403"/>
                  </a:cubicBezTo>
                  <a:lnTo>
                    <a:pt x="6439154" y="971042"/>
                  </a:lnTo>
                  <a:cubicBezTo>
                    <a:pt x="6439154" y="998347"/>
                    <a:pt x="6417056" y="1020445"/>
                    <a:pt x="6389751" y="1020445"/>
                  </a:cubicBezTo>
                  <a:lnTo>
                    <a:pt x="49403" y="1020445"/>
                  </a:lnTo>
                  <a:cubicBezTo>
                    <a:pt x="22098" y="1020318"/>
                    <a:pt x="0" y="998220"/>
                    <a:pt x="0" y="971042"/>
                  </a:cubicBezTo>
                  <a:close/>
                </a:path>
              </a:pathLst>
            </a:custGeom>
            <a:solidFill>
              <a:srgbClr val="F2F2F2"/>
            </a:solidFill>
          </p:spPr>
        </p:sp>
      </p:grpSp>
      <p:sp>
        <p:nvSpPr>
          <p:cNvPr name="TextBox 27" id="27"/>
          <p:cNvSpPr txBox="true"/>
          <p:nvPr/>
        </p:nvSpPr>
        <p:spPr>
          <a:xfrm rot="0">
            <a:off x="6976021" y="4527054"/>
            <a:ext cx="4335810" cy="509290"/>
          </a:xfrm>
          <a:prstGeom prst="rect">
            <a:avLst/>
          </a:prstGeom>
        </p:spPr>
        <p:txBody>
          <a:bodyPr anchor="t" rtlCol="false" tIns="0" lIns="0" bIns="0" rIns="0">
            <a:spAutoFit/>
          </a:bodyPr>
          <a:lstStyle/>
          <a:p>
            <a:pPr algn="l">
              <a:lnSpc>
                <a:spcPts val="3062"/>
              </a:lnSpc>
            </a:pPr>
            <a:r>
              <a:rPr lang="en-US" sz="1937">
                <a:solidFill>
                  <a:srgbClr val="504C49"/>
                </a:solidFill>
                <a:latin typeface="Consolas"/>
                <a:ea typeface="Consolas"/>
                <a:cs typeface="Consolas"/>
                <a:sym typeface="Consolas"/>
              </a:rPr>
              <a:t>POST /users</a:t>
            </a:r>
          </a:p>
        </p:txBody>
      </p:sp>
      <p:sp>
        <p:nvSpPr>
          <p:cNvPr name="TextBox 28" id="28"/>
          <p:cNvSpPr txBox="true"/>
          <p:nvPr/>
        </p:nvSpPr>
        <p:spPr>
          <a:xfrm rot="0">
            <a:off x="6741467" y="5422999"/>
            <a:ext cx="4804916" cy="47119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Creates a new user resource.</a:t>
            </a:r>
          </a:p>
        </p:txBody>
      </p:sp>
      <p:grpSp>
        <p:nvGrpSpPr>
          <p:cNvPr name="Group 29" id="29"/>
          <p:cNvGrpSpPr/>
          <p:nvPr/>
        </p:nvGrpSpPr>
        <p:grpSpPr>
          <a:xfrm rot="0">
            <a:off x="12054185" y="1775222"/>
            <a:ext cx="5384155" cy="4408586"/>
            <a:chOff x="0" y="0"/>
            <a:chExt cx="7178873" cy="5878115"/>
          </a:xfrm>
        </p:grpSpPr>
        <p:sp>
          <p:nvSpPr>
            <p:cNvPr name="Freeform 30" id="30"/>
            <p:cNvSpPr/>
            <p:nvPr/>
          </p:nvSpPr>
          <p:spPr>
            <a:xfrm flipH="false" flipV="false" rot="0">
              <a:off x="19050" y="19050"/>
              <a:ext cx="7140829" cy="5840095"/>
            </a:xfrm>
            <a:custGeom>
              <a:avLst/>
              <a:gdLst/>
              <a:ahLst/>
              <a:cxnLst/>
              <a:rect r="r" b="b" t="t" l="l"/>
              <a:pathLst>
                <a:path h="5840095" w="7140829">
                  <a:moveTo>
                    <a:pt x="0" y="49403"/>
                  </a:moveTo>
                  <a:cubicBezTo>
                    <a:pt x="0" y="22098"/>
                    <a:pt x="22098" y="0"/>
                    <a:pt x="49403" y="0"/>
                  </a:cubicBezTo>
                  <a:lnTo>
                    <a:pt x="7091426" y="0"/>
                  </a:lnTo>
                  <a:cubicBezTo>
                    <a:pt x="7118731" y="0"/>
                    <a:pt x="7140829" y="22098"/>
                    <a:pt x="7140829" y="49403"/>
                  </a:cubicBezTo>
                  <a:lnTo>
                    <a:pt x="7140829" y="5790692"/>
                  </a:lnTo>
                  <a:cubicBezTo>
                    <a:pt x="7140829" y="5817997"/>
                    <a:pt x="7118731" y="5840095"/>
                    <a:pt x="7091426" y="5840095"/>
                  </a:cubicBezTo>
                  <a:lnTo>
                    <a:pt x="49403" y="5840095"/>
                  </a:lnTo>
                  <a:cubicBezTo>
                    <a:pt x="22098" y="5840095"/>
                    <a:pt x="0" y="5817997"/>
                    <a:pt x="0" y="5790692"/>
                  </a:cubicBezTo>
                  <a:close/>
                </a:path>
              </a:pathLst>
            </a:custGeom>
            <a:solidFill>
              <a:srgbClr val="FFFFFF"/>
            </a:solidFill>
          </p:spPr>
        </p:sp>
        <p:sp>
          <p:nvSpPr>
            <p:cNvPr name="Freeform 31" id="31"/>
            <p:cNvSpPr/>
            <p:nvPr/>
          </p:nvSpPr>
          <p:spPr>
            <a:xfrm flipH="false" flipV="false" rot="0">
              <a:off x="0" y="0"/>
              <a:ext cx="7178929" cy="5878195"/>
            </a:xfrm>
            <a:custGeom>
              <a:avLst/>
              <a:gdLst/>
              <a:ahLst/>
              <a:cxnLst/>
              <a:rect r="r" b="b" t="t" l="l"/>
              <a:pathLst>
                <a:path h="5878195" w="7178929">
                  <a:moveTo>
                    <a:pt x="0" y="68453"/>
                  </a:moveTo>
                  <a:cubicBezTo>
                    <a:pt x="0" y="30607"/>
                    <a:pt x="30607" y="0"/>
                    <a:pt x="68453" y="0"/>
                  </a:cubicBezTo>
                  <a:lnTo>
                    <a:pt x="7110476" y="0"/>
                  </a:lnTo>
                  <a:lnTo>
                    <a:pt x="7110476" y="19050"/>
                  </a:lnTo>
                  <a:lnTo>
                    <a:pt x="7110476" y="0"/>
                  </a:lnTo>
                  <a:cubicBezTo>
                    <a:pt x="7148322" y="0"/>
                    <a:pt x="7178929" y="30607"/>
                    <a:pt x="7178929" y="68453"/>
                  </a:cubicBezTo>
                  <a:lnTo>
                    <a:pt x="7159879" y="68453"/>
                  </a:lnTo>
                  <a:lnTo>
                    <a:pt x="7178929" y="68453"/>
                  </a:lnTo>
                  <a:lnTo>
                    <a:pt x="7178929" y="5809742"/>
                  </a:lnTo>
                  <a:lnTo>
                    <a:pt x="7159879" y="5809742"/>
                  </a:lnTo>
                  <a:lnTo>
                    <a:pt x="7178929" y="5809742"/>
                  </a:lnTo>
                  <a:cubicBezTo>
                    <a:pt x="7178929" y="5847588"/>
                    <a:pt x="7148322" y="5878195"/>
                    <a:pt x="7110476" y="5878195"/>
                  </a:cubicBezTo>
                  <a:lnTo>
                    <a:pt x="7110476" y="5859145"/>
                  </a:lnTo>
                  <a:lnTo>
                    <a:pt x="7110476" y="5878195"/>
                  </a:lnTo>
                  <a:lnTo>
                    <a:pt x="68453" y="5878195"/>
                  </a:lnTo>
                  <a:lnTo>
                    <a:pt x="68453" y="5859145"/>
                  </a:lnTo>
                  <a:lnTo>
                    <a:pt x="68453" y="5878195"/>
                  </a:lnTo>
                  <a:cubicBezTo>
                    <a:pt x="30607" y="5878195"/>
                    <a:pt x="0" y="5847588"/>
                    <a:pt x="0" y="5809742"/>
                  </a:cubicBezTo>
                  <a:lnTo>
                    <a:pt x="0" y="68453"/>
                  </a:lnTo>
                  <a:lnTo>
                    <a:pt x="19050" y="68453"/>
                  </a:lnTo>
                  <a:lnTo>
                    <a:pt x="0" y="68453"/>
                  </a:lnTo>
                  <a:moveTo>
                    <a:pt x="38100" y="68453"/>
                  </a:moveTo>
                  <a:lnTo>
                    <a:pt x="38100" y="5809742"/>
                  </a:lnTo>
                  <a:lnTo>
                    <a:pt x="19050" y="5809742"/>
                  </a:lnTo>
                  <a:lnTo>
                    <a:pt x="38100" y="5809742"/>
                  </a:lnTo>
                  <a:cubicBezTo>
                    <a:pt x="38100" y="5826506"/>
                    <a:pt x="51689" y="5840095"/>
                    <a:pt x="68453" y="5840095"/>
                  </a:cubicBezTo>
                  <a:lnTo>
                    <a:pt x="7110476" y="5840095"/>
                  </a:lnTo>
                  <a:cubicBezTo>
                    <a:pt x="7127240" y="5840095"/>
                    <a:pt x="7140829" y="5826506"/>
                    <a:pt x="7140829" y="5809742"/>
                  </a:cubicBezTo>
                  <a:lnTo>
                    <a:pt x="7140829" y="68453"/>
                  </a:lnTo>
                  <a:cubicBezTo>
                    <a:pt x="7140829" y="51689"/>
                    <a:pt x="7127240" y="38100"/>
                    <a:pt x="7110476" y="38100"/>
                  </a:cubicBezTo>
                  <a:lnTo>
                    <a:pt x="68453" y="38100"/>
                  </a:lnTo>
                  <a:lnTo>
                    <a:pt x="68453" y="19050"/>
                  </a:lnTo>
                  <a:lnTo>
                    <a:pt x="68453" y="38100"/>
                  </a:lnTo>
                  <a:cubicBezTo>
                    <a:pt x="51689" y="38100"/>
                    <a:pt x="38100" y="51689"/>
                    <a:pt x="38100" y="68453"/>
                  </a:cubicBezTo>
                  <a:close/>
                </a:path>
              </a:pathLst>
            </a:custGeom>
            <a:solidFill>
              <a:srgbClr val="D8D4D4"/>
            </a:solidFill>
          </p:spPr>
        </p:sp>
      </p:grpSp>
      <p:sp>
        <p:nvSpPr>
          <p:cNvPr name="TextBox 32" id="32"/>
          <p:cNvSpPr txBox="true"/>
          <p:nvPr/>
        </p:nvSpPr>
        <p:spPr>
          <a:xfrm rot="0">
            <a:off x="12343805" y="2036266"/>
            <a:ext cx="3085654" cy="414189"/>
          </a:xfrm>
          <a:prstGeom prst="rect">
            <a:avLst/>
          </a:prstGeom>
        </p:spPr>
        <p:txBody>
          <a:bodyPr anchor="t" rtlCol="false" tIns="0" lIns="0" bIns="0" rIns="0">
            <a:spAutoFit/>
          </a:bodyPr>
          <a:lstStyle/>
          <a:p>
            <a:pPr algn="l">
              <a:lnSpc>
                <a:spcPts val="3000"/>
              </a:lnSpc>
            </a:pPr>
            <a:r>
              <a:rPr lang="en-US" sz="2375">
                <a:solidFill>
                  <a:srgbClr val="504C49"/>
                </a:solidFill>
                <a:latin typeface="Arimo"/>
                <a:ea typeface="Arimo"/>
                <a:cs typeface="Arimo"/>
                <a:sym typeface="Arimo"/>
              </a:rPr>
              <a:t>PUT</a:t>
            </a:r>
          </a:p>
        </p:txBody>
      </p:sp>
      <p:sp>
        <p:nvSpPr>
          <p:cNvPr name="TextBox 33" id="33"/>
          <p:cNvSpPr txBox="true"/>
          <p:nvPr/>
        </p:nvSpPr>
        <p:spPr>
          <a:xfrm rot="0">
            <a:off x="12343805" y="2522339"/>
            <a:ext cx="4804916" cy="165616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Used to </a:t>
            </a:r>
            <a:r>
              <a:rPr lang="en-US" sz="1937" b="true">
                <a:solidFill>
                  <a:srgbClr val="504C49"/>
                </a:solidFill>
                <a:latin typeface="Source Serif Pro Bold"/>
                <a:ea typeface="Source Serif Pro Bold"/>
                <a:cs typeface="Source Serif Pro Bold"/>
                <a:sym typeface="Source Serif Pro Bold"/>
              </a:rPr>
              <a:t>update or replace</a:t>
            </a:r>
            <a:r>
              <a:rPr lang="en-US" sz="1937">
                <a:solidFill>
                  <a:srgbClr val="504C49"/>
                </a:solidFill>
                <a:latin typeface="Source Serif Pro"/>
                <a:ea typeface="Source Serif Pro"/>
                <a:cs typeface="Source Serif Pro"/>
                <a:sym typeface="Source Serif Pro"/>
              </a:rPr>
              <a:t> an entire resource with the data provided in the request body. If the resource does not exist, PUT may create it. Idempotent.</a:t>
            </a:r>
          </a:p>
        </p:txBody>
      </p:sp>
      <p:grpSp>
        <p:nvGrpSpPr>
          <p:cNvPr name="Group 34" id="34"/>
          <p:cNvGrpSpPr/>
          <p:nvPr/>
        </p:nvGrpSpPr>
        <p:grpSpPr>
          <a:xfrm rot="0">
            <a:off x="12343805" y="4456211"/>
            <a:ext cx="4804916" cy="765274"/>
            <a:chOff x="0" y="0"/>
            <a:chExt cx="6406555" cy="1020365"/>
          </a:xfrm>
        </p:grpSpPr>
        <p:sp>
          <p:nvSpPr>
            <p:cNvPr name="Freeform 35" id="35"/>
            <p:cNvSpPr/>
            <p:nvPr/>
          </p:nvSpPr>
          <p:spPr>
            <a:xfrm flipH="false" flipV="false" rot="0">
              <a:off x="0" y="0"/>
              <a:ext cx="6406642" cy="1020445"/>
            </a:xfrm>
            <a:custGeom>
              <a:avLst/>
              <a:gdLst/>
              <a:ahLst/>
              <a:cxnLst/>
              <a:rect r="r" b="b" t="t" l="l"/>
              <a:pathLst>
                <a:path h="1020445" w="6406642">
                  <a:moveTo>
                    <a:pt x="0" y="49403"/>
                  </a:moveTo>
                  <a:cubicBezTo>
                    <a:pt x="0" y="22098"/>
                    <a:pt x="22098" y="0"/>
                    <a:pt x="49403" y="0"/>
                  </a:cubicBezTo>
                  <a:lnTo>
                    <a:pt x="6357239" y="0"/>
                  </a:lnTo>
                  <a:cubicBezTo>
                    <a:pt x="6384544" y="0"/>
                    <a:pt x="6406642" y="22098"/>
                    <a:pt x="6406642" y="49403"/>
                  </a:cubicBezTo>
                  <a:lnTo>
                    <a:pt x="6406642" y="971042"/>
                  </a:lnTo>
                  <a:cubicBezTo>
                    <a:pt x="6406642" y="998347"/>
                    <a:pt x="6384544" y="1020445"/>
                    <a:pt x="6357239" y="1020445"/>
                  </a:cubicBezTo>
                  <a:lnTo>
                    <a:pt x="49403" y="1020445"/>
                  </a:lnTo>
                  <a:cubicBezTo>
                    <a:pt x="22098" y="1020318"/>
                    <a:pt x="0" y="998220"/>
                    <a:pt x="0" y="971042"/>
                  </a:cubicBezTo>
                  <a:close/>
                </a:path>
              </a:pathLst>
            </a:custGeom>
            <a:solidFill>
              <a:srgbClr val="F2F2F2"/>
            </a:solidFill>
          </p:spPr>
        </p:sp>
      </p:grpSp>
      <p:grpSp>
        <p:nvGrpSpPr>
          <p:cNvPr name="Group 36" id="36"/>
          <p:cNvGrpSpPr/>
          <p:nvPr/>
        </p:nvGrpSpPr>
        <p:grpSpPr>
          <a:xfrm rot="0">
            <a:off x="12331601" y="4456211"/>
            <a:ext cx="4829324" cy="765274"/>
            <a:chOff x="0" y="0"/>
            <a:chExt cx="6439098" cy="1020365"/>
          </a:xfrm>
        </p:grpSpPr>
        <p:sp>
          <p:nvSpPr>
            <p:cNvPr name="Freeform 37" id="37"/>
            <p:cNvSpPr/>
            <p:nvPr/>
          </p:nvSpPr>
          <p:spPr>
            <a:xfrm flipH="false" flipV="false" rot="0">
              <a:off x="0" y="0"/>
              <a:ext cx="6439154" cy="1020445"/>
            </a:xfrm>
            <a:custGeom>
              <a:avLst/>
              <a:gdLst/>
              <a:ahLst/>
              <a:cxnLst/>
              <a:rect r="r" b="b" t="t" l="l"/>
              <a:pathLst>
                <a:path h="1020445" w="6439154">
                  <a:moveTo>
                    <a:pt x="0" y="49403"/>
                  </a:moveTo>
                  <a:cubicBezTo>
                    <a:pt x="0" y="22098"/>
                    <a:pt x="22098" y="0"/>
                    <a:pt x="49403" y="0"/>
                  </a:cubicBezTo>
                  <a:lnTo>
                    <a:pt x="6389751" y="0"/>
                  </a:lnTo>
                  <a:cubicBezTo>
                    <a:pt x="6417056" y="0"/>
                    <a:pt x="6439154" y="22098"/>
                    <a:pt x="6439154" y="49403"/>
                  </a:cubicBezTo>
                  <a:lnTo>
                    <a:pt x="6439154" y="971042"/>
                  </a:lnTo>
                  <a:cubicBezTo>
                    <a:pt x="6439154" y="998347"/>
                    <a:pt x="6417056" y="1020445"/>
                    <a:pt x="6389751" y="1020445"/>
                  </a:cubicBezTo>
                  <a:lnTo>
                    <a:pt x="49403" y="1020445"/>
                  </a:lnTo>
                  <a:cubicBezTo>
                    <a:pt x="22098" y="1020318"/>
                    <a:pt x="0" y="998220"/>
                    <a:pt x="0" y="971042"/>
                  </a:cubicBezTo>
                  <a:close/>
                </a:path>
              </a:pathLst>
            </a:custGeom>
            <a:solidFill>
              <a:srgbClr val="F2F2F2"/>
            </a:solidFill>
          </p:spPr>
        </p:sp>
      </p:grpSp>
      <p:sp>
        <p:nvSpPr>
          <p:cNvPr name="TextBox 38" id="38"/>
          <p:cNvSpPr txBox="true"/>
          <p:nvPr/>
        </p:nvSpPr>
        <p:spPr>
          <a:xfrm rot="0">
            <a:off x="12578357" y="4527054"/>
            <a:ext cx="4335810" cy="509290"/>
          </a:xfrm>
          <a:prstGeom prst="rect">
            <a:avLst/>
          </a:prstGeom>
        </p:spPr>
        <p:txBody>
          <a:bodyPr anchor="t" rtlCol="false" tIns="0" lIns="0" bIns="0" rIns="0">
            <a:spAutoFit/>
          </a:bodyPr>
          <a:lstStyle/>
          <a:p>
            <a:pPr algn="l">
              <a:lnSpc>
                <a:spcPts val="3062"/>
              </a:lnSpc>
            </a:pPr>
            <a:r>
              <a:rPr lang="en-US" sz="1937">
                <a:solidFill>
                  <a:srgbClr val="504C49"/>
                </a:solidFill>
                <a:latin typeface="Consolas"/>
                <a:ea typeface="Consolas"/>
                <a:cs typeface="Consolas"/>
                <a:sym typeface="Consolas"/>
              </a:rPr>
              <a:t>PUT /users/123</a:t>
            </a:r>
          </a:p>
        </p:txBody>
      </p:sp>
      <p:sp>
        <p:nvSpPr>
          <p:cNvPr name="TextBox 39" id="39"/>
          <p:cNvSpPr txBox="true"/>
          <p:nvPr/>
        </p:nvSpPr>
        <p:spPr>
          <a:xfrm rot="0">
            <a:off x="12343805" y="5422999"/>
            <a:ext cx="4804916" cy="47119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Replaces the entire user with ID 123.</a:t>
            </a:r>
          </a:p>
        </p:txBody>
      </p:sp>
      <p:grpSp>
        <p:nvGrpSpPr>
          <p:cNvPr name="Group 40" id="40"/>
          <p:cNvGrpSpPr/>
          <p:nvPr/>
        </p:nvGrpSpPr>
        <p:grpSpPr>
          <a:xfrm rot="0">
            <a:off x="849660" y="6401991"/>
            <a:ext cx="16588680" cy="3223618"/>
            <a:chOff x="0" y="0"/>
            <a:chExt cx="22118240" cy="4298157"/>
          </a:xfrm>
        </p:grpSpPr>
        <p:sp>
          <p:nvSpPr>
            <p:cNvPr name="Freeform 41" id="41"/>
            <p:cNvSpPr/>
            <p:nvPr/>
          </p:nvSpPr>
          <p:spPr>
            <a:xfrm flipH="false" flipV="false" rot="0">
              <a:off x="19050" y="19050"/>
              <a:ext cx="22080221" cy="4260088"/>
            </a:xfrm>
            <a:custGeom>
              <a:avLst/>
              <a:gdLst/>
              <a:ahLst/>
              <a:cxnLst/>
              <a:rect r="r" b="b" t="t" l="l"/>
              <a:pathLst>
                <a:path h="4260088" w="22080221">
                  <a:moveTo>
                    <a:pt x="0" y="49403"/>
                  </a:moveTo>
                  <a:cubicBezTo>
                    <a:pt x="0" y="22098"/>
                    <a:pt x="22225" y="0"/>
                    <a:pt x="49784" y="0"/>
                  </a:cubicBezTo>
                  <a:lnTo>
                    <a:pt x="22030437" y="0"/>
                  </a:lnTo>
                  <a:cubicBezTo>
                    <a:pt x="22057869" y="0"/>
                    <a:pt x="22080221" y="22098"/>
                    <a:pt x="22080221" y="49403"/>
                  </a:cubicBezTo>
                  <a:lnTo>
                    <a:pt x="22080221" y="4210685"/>
                  </a:lnTo>
                  <a:cubicBezTo>
                    <a:pt x="22080221" y="4237990"/>
                    <a:pt x="22057996" y="4260088"/>
                    <a:pt x="22030437" y="4260088"/>
                  </a:cubicBezTo>
                  <a:lnTo>
                    <a:pt x="49784" y="4260088"/>
                  </a:lnTo>
                  <a:cubicBezTo>
                    <a:pt x="22352" y="4260088"/>
                    <a:pt x="0" y="4237990"/>
                    <a:pt x="0" y="4210685"/>
                  </a:cubicBezTo>
                  <a:close/>
                </a:path>
              </a:pathLst>
            </a:custGeom>
            <a:solidFill>
              <a:srgbClr val="FFFFFF"/>
            </a:solidFill>
          </p:spPr>
        </p:sp>
        <p:sp>
          <p:nvSpPr>
            <p:cNvPr name="Freeform 42" id="42"/>
            <p:cNvSpPr/>
            <p:nvPr/>
          </p:nvSpPr>
          <p:spPr>
            <a:xfrm flipH="false" flipV="false" rot="0">
              <a:off x="0" y="0"/>
              <a:ext cx="22118321" cy="4298188"/>
            </a:xfrm>
            <a:custGeom>
              <a:avLst/>
              <a:gdLst/>
              <a:ahLst/>
              <a:cxnLst/>
              <a:rect r="r" b="b" t="t" l="l"/>
              <a:pathLst>
                <a:path h="4298188" w="22118321">
                  <a:moveTo>
                    <a:pt x="0" y="68453"/>
                  </a:moveTo>
                  <a:cubicBezTo>
                    <a:pt x="0" y="30480"/>
                    <a:pt x="30861" y="0"/>
                    <a:pt x="68834" y="0"/>
                  </a:cubicBezTo>
                  <a:lnTo>
                    <a:pt x="22049487" y="0"/>
                  </a:lnTo>
                  <a:lnTo>
                    <a:pt x="22049487" y="19050"/>
                  </a:lnTo>
                  <a:lnTo>
                    <a:pt x="22049487" y="0"/>
                  </a:lnTo>
                  <a:cubicBezTo>
                    <a:pt x="22087332" y="0"/>
                    <a:pt x="22118321" y="30480"/>
                    <a:pt x="22118321" y="68453"/>
                  </a:cubicBezTo>
                  <a:lnTo>
                    <a:pt x="22099271" y="68453"/>
                  </a:lnTo>
                  <a:lnTo>
                    <a:pt x="22118321" y="68453"/>
                  </a:lnTo>
                  <a:lnTo>
                    <a:pt x="22118321" y="4229735"/>
                  </a:lnTo>
                  <a:lnTo>
                    <a:pt x="22099271" y="4229735"/>
                  </a:lnTo>
                  <a:lnTo>
                    <a:pt x="22118321" y="4229735"/>
                  </a:lnTo>
                  <a:cubicBezTo>
                    <a:pt x="22118321" y="4267708"/>
                    <a:pt x="22087460" y="4298188"/>
                    <a:pt x="22049487" y="4298188"/>
                  </a:cubicBezTo>
                  <a:lnTo>
                    <a:pt x="22049487" y="4279138"/>
                  </a:lnTo>
                  <a:lnTo>
                    <a:pt x="22049487" y="4298188"/>
                  </a:lnTo>
                  <a:lnTo>
                    <a:pt x="68834" y="4298188"/>
                  </a:lnTo>
                  <a:lnTo>
                    <a:pt x="68834" y="4279138"/>
                  </a:lnTo>
                  <a:lnTo>
                    <a:pt x="68834" y="4298188"/>
                  </a:lnTo>
                  <a:cubicBezTo>
                    <a:pt x="30988" y="4298188"/>
                    <a:pt x="0" y="4267708"/>
                    <a:pt x="0" y="4229735"/>
                  </a:cubicBezTo>
                  <a:lnTo>
                    <a:pt x="0" y="68453"/>
                  </a:lnTo>
                  <a:lnTo>
                    <a:pt x="19050" y="68453"/>
                  </a:lnTo>
                  <a:lnTo>
                    <a:pt x="0" y="68453"/>
                  </a:lnTo>
                  <a:moveTo>
                    <a:pt x="38100" y="68453"/>
                  </a:moveTo>
                  <a:lnTo>
                    <a:pt x="38100" y="4229735"/>
                  </a:lnTo>
                  <a:lnTo>
                    <a:pt x="19050" y="4229735"/>
                  </a:lnTo>
                  <a:lnTo>
                    <a:pt x="38100" y="4229735"/>
                  </a:lnTo>
                  <a:cubicBezTo>
                    <a:pt x="38100" y="4246372"/>
                    <a:pt x="51689" y="4260088"/>
                    <a:pt x="68834" y="4260088"/>
                  </a:cubicBezTo>
                  <a:lnTo>
                    <a:pt x="22049487" y="4260088"/>
                  </a:lnTo>
                  <a:cubicBezTo>
                    <a:pt x="22066504" y="4260088"/>
                    <a:pt x="22080221" y="4246372"/>
                    <a:pt x="22080221" y="4229735"/>
                  </a:cubicBezTo>
                  <a:lnTo>
                    <a:pt x="22080221" y="68453"/>
                  </a:lnTo>
                  <a:cubicBezTo>
                    <a:pt x="22080221" y="51816"/>
                    <a:pt x="22066631" y="38100"/>
                    <a:pt x="22049487" y="38100"/>
                  </a:cubicBezTo>
                  <a:lnTo>
                    <a:pt x="68834" y="38100"/>
                  </a:lnTo>
                  <a:lnTo>
                    <a:pt x="68834" y="19050"/>
                  </a:lnTo>
                  <a:lnTo>
                    <a:pt x="68834" y="38100"/>
                  </a:lnTo>
                  <a:cubicBezTo>
                    <a:pt x="51689" y="38100"/>
                    <a:pt x="38100" y="51816"/>
                    <a:pt x="38100" y="68453"/>
                  </a:cubicBezTo>
                  <a:close/>
                </a:path>
              </a:pathLst>
            </a:custGeom>
            <a:solidFill>
              <a:srgbClr val="D8D4D4"/>
            </a:solidFill>
          </p:spPr>
        </p:sp>
      </p:grpSp>
      <p:sp>
        <p:nvSpPr>
          <p:cNvPr name="TextBox 43" id="43"/>
          <p:cNvSpPr txBox="true"/>
          <p:nvPr/>
        </p:nvSpPr>
        <p:spPr>
          <a:xfrm rot="0">
            <a:off x="1139279" y="6663035"/>
            <a:ext cx="3085654" cy="414189"/>
          </a:xfrm>
          <a:prstGeom prst="rect">
            <a:avLst/>
          </a:prstGeom>
        </p:spPr>
        <p:txBody>
          <a:bodyPr anchor="t" rtlCol="false" tIns="0" lIns="0" bIns="0" rIns="0">
            <a:spAutoFit/>
          </a:bodyPr>
          <a:lstStyle/>
          <a:p>
            <a:pPr algn="l">
              <a:lnSpc>
                <a:spcPts val="3000"/>
              </a:lnSpc>
            </a:pPr>
            <a:r>
              <a:rPr lang="en-US" sz="2375">
                <a:solidFill>
                  <a:srgbClr val="504C49"/>
                </a:solidFill>
                <a:latin typeface="Arimo"/>
                <a:ea typeface="Arimo"/>
                <a:cs typeface="Arimo"/>
                <a:sym typeface="Arimo"/>
              </a:rPr>
              <a:t>DELETE</a:t>
            </a:r>
          </a:p>
        </p:txBody>
      </p:sp>
      <p:sp>
        <p:nvSpPr>
          <p:cNvPr name="TextBox 44" id="44"/>
          <p:cNvSpPr txBox="true"/>
          <p:nvPr/>
        </p:nvSpPr>
        <p:spPr>
          <a:xfrm rot="0">
            <a:off x="1139279" y="7149107"/>
            <a:ext cx="16009441" cy="47119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Used to </a:t>
            </a:r>
            <a:r>
              <a:rPr lang="en-US" sz="1937" b="true">
                <a:solidFill>
                  <a:srgbClr val="504C49"/>
                </a:solidFill>
                <a:latin typeface="Source Serif Pro Bold"/>
                <a:ea typeface="Source Serif Pro Bold"/>
                <a:cs typeface="Source Serif Pro Bold"/>
                <a:sym typeface="Source Serif Pro Bold"/>
              </a:rPr>
              <a:t>remove</a:t>
            </a:r>
            <a:r>
              <a:rPr lang="en-US" sz="1937">
                <a:solidFill>
                  <a:srgbClr val="504C49"/>
                </a:solidFill>
                <a:latin typeface="Source Serif Pro"/>
                <a:ea typeface="Source Serif Pro"/>
                <a:cs typeface="Source Serif Pro"/>
                <a:sym typeface="Source Serif Pro"/>
              </a:rPr>
              <a:t> the specified resource. DELETE requests are idempotent.</a:t>
            </a:r>
          </a:p>
        </p:txBody>
      </p:sp>
      <p:grpSp>
        <p:nvGrpSpPr>
          <p:cNvPr name="Group 45" id="45"/>
          <p:cNvGrpSpPr/>
          <p:nvPr/>
        </p:nvGrpSpPr>
        <p:grpSpPr>
          <a:xfrm rot="0">
            <a:off x="1139279" y="7898011"/>
            <a:ext cx="16009441" cy="765274"/>
            <a:chOff x="0" y="0"/>
            <a:chExt cx="21345922" cy="1020365"/>
          </a:xfrm>
        </p:grpSpPr>
        <p:sp>
          <p:nvSpPr>
            <p:cNvPr name="Freeform 46" id="46"/>
            <p:cNvSpPr/>
            <p:nvPr/>
          </p:nvSpPr>
          <p:spPr>
            <a:xfrm flipH="false" flipV="false" rot="0">
              <a:off x="0" y="0"/>
              <a:ext cx="21345906" cy="1020445"/>
            </a:xfrm>
            <a:custGeom>
              <a:avLst/>
              <a:gdLst/>
              <a:ahLst/>
              <a:cxnLst/>
              <a:rect r="r" b="b" t="t" l="l"/>
              <a:pathLst>
                <a:path h="1020445" w="21345906">
                  <a:moveTo>
                    <a:pt x="0" y="49403"/>
                  </a:moveTo>
                  <a:cubicBezTo>
                    <a:pt x="0" y="22098"/>
                    <a:pt x="22098" y="0"/>
                    <a:pt x="49403" y="0"/>
                  </a:cubicBezTo>
                  <a:lnTo>
                    <a:pt x="21296503" y="0"/>
                  </a:lnTo>
                  <a:cubicBezTo>
                    <a:pt x="21323808" y="0"/>
                    <a:pt x="21345906" y="22098"/>
                    <a:pt x="21345906" y="49403"/>
                  </a:cubicBezTo>
                  <a:lnTo>
                    <a:pt x="21345906" y="971042"/>
                  </a:lnTo>
                  <a:cubicBezTo>
                    <a:pt x="21345906" y="998347"/>
                    <a:pt x="21323808" y="1020445"/>
                    <a:pt x="21296503" y="1020445"/>
                  </a:cubicBezTo>
                  <a:lnTo>
                    <a:pt x="49403" y="1020445"/>
                  </a:lnTo>
                  <a:cubicBezTo>
                    <a:pt x="22098" y="1020318"/>
                    <a:pt x="0" y="998220"/>
                    <a:pt x="0" y="971042"/>
                  </a:cubicBezTo>
                  <a:close/>
                </a:path>
              </a:pathLst>
            </a:custGeom>
            <a:solidFill>
              <a:srgbClr val="F2F2F2"/>
            </a:solidFill>
          </p:spPr>
        </p:sp>
      </p:grpSp>
      <p:grpSp>
        <p:nvGrpSpPr>
          <p:cNvPr name="Group 47" id="47"/>
          <p:cNvGrpSpPr/>
          <p:nvPr/>
        </p:nvGrpSpPr>
        <p:grpSpPr>
          <a:xfrm rot="0">
            <a:off x="1127075" y="7898011"/>
            <a:ext cx="16033849" cy="765274"/>
            <a:chOff x="0" y="0"/>
            <a:chExt cx="21378465" cy="1020365"/>
          </a:xfrm>
        </p:grpSpPr>
        <p:sp>
          <p:nvSpPr>
            <p:cNvPr name="Freeform 48" id="48"/>
            <p:cNvSpPr/>
            <p:nvPr/>
          </p:nvSpPr>
          <p:spPr>
            <a:xfrm flipH="false" flipV="false" rot="0">
              <a:off x="0" y="0"/>
              <a:ext cx="21378545" cy="1020445"/>
            </a:xfrm>
            <a:custGeom>
              <a:avLst/>
              <a:gdLst/>
              <a:ahLst/>
              <a:cxnLst/>
              <a:rect r="r" b="b" t="t" l="l"/>
              <a:pathLst>
                <a:path h="1020445" w="21378545">
                  <a:moveTo>
                    <a:pt x="0" y="49403"/>
                  </a:moveTo>
                  <a:cubicBezTo>
                    <a:pt x="0" y="22098"/>
                    <a:pt x="22098" y="0"/>
                    <a:pt x="49403" y="0"/>
                  </a:cubicBezTo>
                  <a:lnTo>
                    <a:pt x="21329142" y="0"/>
                  </a:lnTo>
                  <a:cubicBezTo>
                    <a:pt x="21356447" y="0"/>
                    <a:pt x="21378545" y="22098"/>
                    <a:pt x="21378545" y="49403"/>
                  </a:cubicBezTo>
                  <a:lnTo>
                    <a:pt x="21378545" y="971042"/>
                  </a:lnTo>
                  <a:cubicBezTo>
                    <a:pt x="21378545" y="998347"/>
                    <a:pt x="21356447" y="1020445"/>
                    <a:pt x="21329142" y="1020445"/>
                  </a:cubicBezTo>
                  <a:lnTo>
                    <a:pt x="49403" y="1020445"/>
                  </a:lnTo>
                  <a:cubicBezTo>
                    <a:pt x="22098" y="1020318"/>
                    <a:pt x="0" y="998220"/>
                    <a:pt x="0" y="971042"/>
                  </a:cubicBezTo>
                  <a:close/>
                </a:path>
              </a:pathLst>
            </a:custGeom>
            <a:solidFill>
              <a:srgbClr val="F2F2F2"/>
            </a:solidFill>
          </p:spPr>
        </p:sp>
      </p:grpSp>
      <p:sp>
        <p:nvSpPr>
          <p:cNvPr name="TextBox 49" id="49"/>
          <p:cNvSpPr txBox="true"/>
          <p:nvPr/>
        </p:nvSpPr>
        <p:spPr>
          <a:xfrm rot="0">
            <a:off x="1373832" y="7968852"/>
            <a:ext cx="15540335" cy="509290"/>
          </a:xfrm>
          <a:prstGeom prst="rect">
            <a:avLst/>
          </a:prstGeom>
        </p:spPr>
        <p:txBody>
          <a:bodyPr anchor="t" rtlCol="false" tIns="0" lIns="0" bIns="0" rIns="0">
            <a:spAutoFit/>
          </a:bodyPr>
          <a:lstStyle/>
          <a:p>
            <a:pPr algn="l">
              <a:lnSpc>
                <a:spcPts val="3062"/>
              </a:lnSpc>
            </a:pPr>
            <a:r>
              <a:rPr lang="en-US" sz="1937">
                <a:solidFill>
                  <a:srgbClr val="504C49"/>
                </a:solidFill>
                <a:latin typeface="Consolas"/>
                <a:ea typeface="Consolas"/>
                <a:cs typeface="Consolas"/>
                <a:sym typeface="Consolas"/>
              </a:rPr>
              <a:t>DELETE /users/123</a:t>
            </a:r>
          </a:p>
        </p:txBody>
      </p:sp>
      <p:sp>
        <p:nvSpPr>
          <p:cNvPr name="TextBox 50" id="50"/>
          <p:cNvSpPr txBox="true"/>
          <p:nvPr/>
        </p:nvSpPr>
        <p:spPr>
          <a:xfrm rot="0">
            <a:off x="1139279" y="8864799"/>
            <a:ext cx="16009441" cy="471190"/>
          </a:xfrm>
          <a:prstGeom prst="rect">
            <a:avLst/>
          </a:prstGeom>
        </p:spPr>
        <p:txBody>
          <a:bodyPr anchor="t" rtlCol="false" tIns="0" lIns="0" bIns="0" rIns="0">
            <a:spAutoFit/>
          </a:bodyPr>
          <a:lstStyle/>
          <a:p>
            <a:pPr algn="l">
              <a:lnSpc>
                <a:spcPts val="3062"/>
              </a:lnSpc>
            </a:pPr>
            <a:r>
              <a:rPr lang="en-US" sz="1937">
                <a:solidFill>
                  <a:srgbClr val="504C49"/>
                </a:solidFill>
                <a:latin typeface="Source Serif Pro"/>
                <a:ea typeface="Source Serif Pro"/>
                <a:cs typeface="Source Serif Pro"/>
                <a:sym typeface="Source Serif Pro"/>
              </a:rPr>
              <a:t>Deletes the user with ID 123.</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892076"/>
            <a:ext cx="10385672" cy="943124"/>
          </a:xfrm>
          <a:prstGeom prst="rect">
            <a:avLst/>
          </a:prstGeom>
        </p:spPr>
        <p:txBody>
          <a:bodyPr anchor="t" rtlCol="false" tIns="0" lIns="0" bIns="0" rIns="0">
            <a:spAutoFit/>
          </a:bodyPr>
          <a:lstStyle/>
          <a:p>
            <a:pPr algn="l">
              <a:lnSpc>
                <a:spcPts val="6937"/>
              </a:lnSpc>
            </a:pPr>
            <a:r>
              <a:rPr lang="en-US" sz="5562">
                <a:solidFill>
                  <a:srgbClr val="201B18"/>
                </a:solidFill>
                <a:latin typeface="Arimo"/>
                <a:ea typeface="Arimo"/>
                <a:cs typeface="Arimo"/>
                <a:sym typeface="Arimo"/>
              </a:rPr>
              <a:t>HTTP Status Codes Explained</a:t>
            </a:r>
          </a:p>
        </p:txBody>
      </p:sp>
      <p:sp>
        <p:nvSpPr>
          <p:cNvPr name="TextBox 7" id="7"/>
          <p:cNvSpPr txBox="true"/>
          <p:nvPr/>
        </p:nvSpPr>
        <p:spPr>
          <a:xfrm rot="0">
            <a:off x="992238" y="2316510"/>
            <a:ext cx="16303526" cy="992981"/>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Status codes tell you whether your API request succeeded, failed, or encountered an issue. Understanding these codes is crucial for debugging and troubleshooting.</a:t>
            </a:r>
          </a:p>
        </p:txBody>
      </p:sp>
      <p:grpSp>
        <p:nvGrpSpPr>
          <p:cNvPr name="Group 8" id="8"/>
          <p:cNvGrpSpPr/>
          <p:nvPr/>
        </p:nvGrpSpPr>
        <p:grpSpPr>
          <a:xfrm rot="0">
            <a:off x="987475" y="3623667"/>
            <a:ext cx="16313051" cy="5718870"/>
            <a:chOff x="0" y="0"/>
            <a:chExt cx="21750735" cy="7625160"/>
          </a:xfrm>
        </p:grpSpPr>
        <p:sp>
          <p:nvSpPr>
            <p:cNvPr name="Freeform 9" id="9"/>
            <p:cNvSpPr/>
            <p:nvPr/>
          </p:nvSpPr>
          <p:spPr>
            <a:xfrm flipH="false" flipV="false" rot="0">
              <a:off x="0" y="0"/>
              <a:ext cx="21750781" cy="7625207"/>
            </a:xfrm>
            <a:custGeom>
              <a:avLst/>
              <a:gdLst/>
              <a:ahLst/>
              <a:cxnLst/>
              <a:rect r="r" b="b" t="t" l="l"/>
              <a:pathLst>
                <a:path h="7625207" w="21750781">
                  <a:moveTo>
                    <a:pt x="0" y="63119"/>
                  </a:moveTo>
                  <a:cubicBezTo>
                    <a:pt x="0" y="28194"/>
                    <a:pt x="28321" y="0"/>
                    <a:pt x="63119" y="0"/>
                  </a:cubicBezTo>
                  <a:lnTo>
                    <a:pt x="21687662" y="0"/>
                  </a:lnTo>
                  <a:lnTo>
                    <a:pt x="21687662" y="6350"/>
                  </a:lnTo>
                  <a:lnTo>
                    <a:pt x="21687662" y="0"/>
                  </a:lnTo>
                  <a:cubicBezTo>
                    <a:pt x="21722460" y="0"/>
                    <a:pt x="21750781" y="28194"/>
                    <a:pt x="21750781" y="63119"/>
                  </a:cubicBezTo>
                  <a:lnTo>
                    <a:pt x="21744431" y="63119"/>
                  </a:lnTo>
                  <a:lnTo>
                    <a:pt x="21750781" y="63119"/>
                  </a:lnTo>
                  <a:lnTo>
                    <a:pt x="21750781" y="7562088"/>
                  </a:lnTo>
                  <a:lnTo>
                    <a:pt x="21744431" y="7562088"/>
                  </a:lnTo>
                  <a:lnTo>
                    <a:pt x="21750781" y="7562088"/>
                  </a:lnTo>
                  <a:cubicBezTo>
                    <a:pt x="21750781" y="7596886"/>
                    <a:pt x="21722460" y="7625207"/>
                    <a:pt x="21687662" y="7625207"/>
                  </a:cubicBezTo>
                  <a:lnTo>
                    <a:pt x="21687662" y="7618857"/>
                  </a:lnTo>
                  <a:lnTo>
                    <a:pt x="21687662" y="7625207"/>
                  </a:lnTo>
                  <a:lnTo>
                    <a:pt x="63119" y="7625207"/>
                  </a:lnTo>
                  <a:lnTo>
                    <a:pt x="63119" y="7618857"/>
                  </a:lnTo>
                  <a:lnTo>
                    <a:pt x="63119" y="7625207"/>
                  </a:lnTo>
                  <a:cubicBezTo>
                    <a:pt x="28321" y="7625207"/>
                    <a:pt x="0" y="7597013"/>
                    <a:pt x="0" y="7562088"/>
                  </a:cubicBezTo>
                  <a:lnTo>
                    <a:pt x="0" y="63119"/>
                  </a:lnTo>
                  <a:lnTo>
                    <a:pt x="6350" y="63119"/>
                  </a:lnTo>
                  <a:lnTo>
                    <a:pt x="0" y="63119"/>
                  </a:lnTo>
                  <a:moveTo>
                    <a:pt x="12700" y="63119"/>
                  </a:moveTo>
                  <a:lnTo>
                    <a:pt x="12700" y="7562088"/>
                  </a:lnTo>
                  <a:lnTo>
                    <a:pt x="6350" y="7562088"/>
                  </a:lnTo>
                  <a:lnTo>
                    <a:pt x="12700" y="7562088"/>
                  </a:lnTo>
                  <a:cubicBezTo>
                    <a:pt x="12700" y="7589901"/>
                    <a:pt x="35306" y="7612507"/>
                    <a:pt x="63119" y="7612507"/>
                  </a:cubicBezTo>
                  <a:lnTo>
                    <a:pt x="21687662" y="7612507"/>
                  </a:lnTo>
                  <a:cubicBezTo>
                    <a:pt x="21715476" y="7612507"/>
                    <a:pt x="21738081" y="7589901"/>
                    <a:pt x="21738081" y="7562088"/>
                  </a:cubicBezTo>
                  <a:lnTo>
                    <a:pt x="21738081" y="63119"/>
                  </a:lnTo>
                  <a:cubicBezTo>
                    <a:pt x="21738081" y="35306"/>
                    <a:pt x="21715476" y="12700"/>
                    <a:pt x="21687662" y="12700"/>
                  </a:cubicBezTo>
                  <a:lnTo>
                    <a:pt x="63119" y="12700"/>
                  </a:lnTo>
                  <a:lnTo>
                    <a:pt x="63119" y="6350"/>
                  </a:lnTo>
                  <a:lnTo>
                    <a:pt x="63119" y="12700"/>
                  </a:lnTo>
                  <a:cubicBezTo>
                    <a:pt x="35306" y="12700"/>
                    <a:pt x="12700" y="35306"/>
                    <a:pt x="12700" y="63119"/>
                  </a:cubicBezTo>
                  <a:close/>
                </a:path>
              </a:pathLst>
            </a:custGeom>
            <a:solidFill>
              <a:srgbClr val="000000">
                <a:alpha val="392"/>
              </a:srgbClr>
            </a:solidFill>
          </p:spPr>
        </p:sp>
      </p:grpSp>
      <p:grpSp>
        <p:nvGrpSpPr>
          <p:cNvPr name="Group 10" id="10"/>
          <p:cNvGrpSpPr/>
          <p:nvPr/>
        </p:nvGrpSpPr>
        <p:grpSpPr>
          <a:xfrm rot="0">
            <a:off x="1001762" y="3637955"/>
            <a:ext cx="16284476" cy="812899"/>
            <a:chOff x="0" y="0"/>
            <a:chExt cx="21712635" cy="1083865"/>
          </a:xfrm>
        </p:grpSpPr>
        <p:sp>
          <p:nvSpPr>
            <p:cNvPr name="Freeform 11" id="11"/>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FFFFFF">
                <a:alpha val="0"/>
              </a:srgbClr>
            </a:solidFill>
          </p:spPr>
        </p:sp>
      </p:grpSp>
      <p:sp>
        <p:nvSpPr>
          <p:cNvPr name="TextBox 12" id="12"/>
          <p:cNvSpPr txBox="true"/>
          <p:nvPr/>
        </p:nvSpPr>
        <p:spPr>
          <a:xfrm rot="0">
            <a:off x="1285429" y="3731865"/>
            <a:ext cx="2685009" cy="539354"/>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Code</a:t>
            </a:r>
          </a:p>
        </p:txBody>
      </p:sp>
      <p:sp>
        <p:nvSpPr>
          <p:cNvPr name="TextBox 13" id="13"/>
          <p:cNvSpPr txBox="true"/>
          <p:nvPr/>
        </p:nvSpPr>
        <p:spPr>
          <a:xfrm rot="0">
            <a:off x="4546998" y="3731865"/>
            <a:ext cx="4308722" cy="539354"/>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Meaning</a:t>
            </a:r>
          </a:p>
        </p:txBody>
      </p:sp>
      <p:sp>
        <p:nvSpPr>
          <p:cNvPr name="TextBox 14" id="14"/>
          <p:cNvSpPr txBox="true"/>
          <p:nvPr/>
        </p:nvSpPr>
        <p:spPr>
          <a:xfrm rot="0">
            <a:off x="9432280" y="3731865"/>
            <a:ext cx="7570440" cy="539354"/>
          </a:xfrm>
          <a:prstGeom prst="rect">
            <a:avLst/>
          </a:prstGeom>
        </p:spPr>
        <p:txBody>
          <a:bodyPr anchor="t" rtlCol="false" tIns="0" lIns="0" bIns="0" rIns="0">
            <a:spAutoFit/>
          </a:bodyPr>
          <a:lstStyle/>
          <a:p>
            <a:pPr algn="l">
              <a:lnSpc>
                <a:spcPts val="3562"/>
              </a:lnSpc>
            </a:pPr>
            <a:r>
              <a:rPr lang="en-US" sz="2187" b="true">
                <a:solidFill>
                  <a:srgbClr val="504C49"/>
                </a:solidFill>
                <a:latin typeface="Source Serif Pro Bold"/>
                <a:ea typeface="Source Serif Pro Bold"/>
                <a:cs typeface="Source Serif Pro Bold"/>
                <a:sym typeface="Source Serif Pro Bold"/>
              </a:rPr>
              <a:t>Example Scenario</a:t>
            </a:r>
          </a:p>
        </p:txBody>
      </p:sp>
      <p:grpSp>
        <p:nvGrpSpPr>
          <p:cNvPr name="Group 15" id="15"/>
          <p:cNvGrpSpPr/>
          <p:nvPr/>
        </p:nvGrpSpPr>
        <p:grpSpPr>
          <a:xfrm rot="0">
            <a:off x="1001762" y="4450854"/>
            <a:ext cx="16284476" cy="812899"/>
            <a:chOff x="0" y="0"/>
            <a:chExt cx="21712635" cy="1083865"/>
          </a:xfrm>
        </p:grpSpPr>
        <p:sp>
          <p:nvSpPr>
            <p:cNvPr name="Freeform 16" id="16"/>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000000">
                <a:alpha val="0"/>
              </a:srgbClr>
            </a:solidFill>
          </p:spPr>
        </p:sp>
      </p:grpSp>
      <p:sp>
        <p:nvSpPr>
          <p:cNvPr name="TextBox 17" id="17"/>
          <p:cNvSpPr txBox="true"/>
          <p:nvPr/>
        </p:nvSpPr>
        <p:spPr>
          <a:xfrm rot="0">
            <a:off x="1285429" y="4544765"/>
            <a:ext cx="2685009" cy="539354"/>
          </a:xfrm>
          <a:prstGeom prst="rect">
            <a:avLst/>
          </a:prstGeom>
        </p:spPr>
        <p:txBody>
          <a:bodyPr anchor="t" rtlCol="false" tIns="0" lIns="0" bIns="0" rIns="0">
            <a:spAutoFit/>
          </a:bodyPr>
          <a:lstStyle/>
          <a:p>
            <a:pPr algn="l">
              <a:lnSpc>
                <a:spcPts val="3562"/>
              </a:lnSpc>
            </a:pPr>
            <a:r>
              <a:rPr lang="en-US" sz="2187" b="true">
                <a:solidFill>
                  <a:srgbClr val="3E2513"/>
                </a:solidFill>
                <a:latin typeface="Source Serif Pro Bold"/>
                <a:ea typeface="Source Serif Pro Bold"/>
                <a:cs typeface="Source Serif Pro Bold"/>
                <a:sym typeface="Source Serif Pro Bold"/>
              </a:rPr>
              <a:t>200</a:t>
            </a:r>
          </a:p>
        </p:txBody>
      </p:sp>
      <p:sp>
        <p:nvSpPr>
          <p:cNvPr name="TextBox 18" id="18"/>
          <p:cNvSpPr txBox="true"/>
          <p:nvPr/>
        </p:nvSpPr>
        <p:spPr>
          <a:xfrm rot="0">
            <a:off x="4546998" y="4544765"/>
            <a:ext cx="4308722"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OK (Success)</a:t>
            </a:r>
          </a:p>
        </p:txBody>
      </p:sp>
      <p:sp>
        <p:nvSpPr>
          <p:cNvPr name="TextBox 19" id="19"/>
          <p:cNvSpPr txBox="true"/>
          <p:nvPr/>
        </p:nvSpPr>
        <p:spPr>
          <a:xfrm rot="0">
            <a:off x="9432280" y="4544765"/>
            <a:ext cx="7570440"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Data retrieved successfully</a:t>
            </a:r>
          </a:p>
        </p:txBody>
      </p:sp>
      <p:grpSp>
        <p:nvGrpSpPr>
          <p:cNvPr name="Group 20" id="20"/>
          <p:cNvGrpSpPr/>
          <p:nvPr/>
        </p:nvGrpSpPr>
        <p:grpSpPr>
          <a:xfrm rot="0">
            <a:off x="1001762" y="5263754"/>
            <a:ext cx="16284476" cy="812899"/>
            <a:chOff x="0" y="0"/>
            <a:chExt cx="21712635" cy="1083865"/>
          </a:xfrm>
        </p:grpSpPr>
        <p:sp>
          <p:nvSpPr>
            <p:cNvPr name="Freeform 21" id="21"/>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FFFFFF">
                <a:alpha val="0"/>
              </a:srgbClr>
            </a:solidFill>
          </p:spPr>
        </p:sp>
      </p:grpSp>
      <p:sp>
        <p:nvSpPr>
          <p:cNvPr name="TextBox 22" id="22"/>
          <p:cNvSpPr txBox="true"/>
          <p:nvPr/>
        </p:nvSpPr>
        <p:spPr>
          <a:xfrm rot="0">
            <a:off x="1285429" y="5357664"/>
            <a:ext cx="2685009" cy="539354"/>
          </a:xfrm>
          <a:prstGeom prst="rect">
            <a:avLst/>
          </a:prstGeom>
        </p:spPr>
        <p:txBody>
          <a:bodyPr anchor="t" rtlCol="false" tIns="0" lIns="0" bIns="0" rIns="0">
            <a:spAutoFit/>
          </a:bodyPr>
          <a:lstStyle/>
          <a:p>
            <a:pPr algn="l">
              <a:lnSpc>
                <a:spcPts val="3562"/>
              </a:lnSpc>
            </a:pPr>
            <a:r>
              <a:rPr lang="en-US" sz="2187" b="true">
                <a:solidFill>
                  <a:srgbClr val="3E2513"/>
                </a:solidFill>
                <a:latin typeface="Source Serif Pro Bold"/>
                <a:ea typeface="Source Serif Pro Bold"/>
                <a:cs typeface="Source Serif Pro Bold"/>
                <a:sym typeface="Source Serif Pro Bold"/>
              </a:rPr>
              <a:t>201</a:t>
            </a:r>
          </a:p>
        </p:txBody>
      </p:sp>
      <p:sp>
        <p:nvSpPr>
          <p:cNvPr name="TextBox 23" id="23"/>
          <p:cNvSpPr txBox="true"/>
          <p:nvPr/>
        </p:nvSpPr>
        <p:spPr>
          <a:xfrm rot="0">
            <a:off x="4546998" y="5357664"/>
            <a:ext cx="4308722"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Created</a:t>
            </a:r>
          </a:p>
        </p:txBody>
      </p:sp>
      <p:sp>
        <p:nvSpPr>
          <p:cNvPr name="TextBox 24" id="24"/>
          <p:cNvSpPr txBox="true"/>
          <p:nvPr/>
        </p:nvSpPr>
        <p:spPr>
          <a:xfrm rot="0">
            <a:off x="9432280" y="5357664"/>
            <a:ext cx="7570440"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New resource successfully added</a:t>
            </a:r>
          </a:p>
        </p:txBody>
      </p:sp>
      <p:grpSp>
        <p:nvGrpSpPr>
          <p:cNvPr name="Group 25" id="25"/>
          <p:cNvGrpSpPr/>
          <p:nvPr/>
        </p:nvGrpSpPr>
        <p:grpSpPr>
          <a:xfrm rot="0">
            <a:off x="1001762" y="6076652"/>
            <a:ext cx="16284476" cy="812899"/>
            <a:chOff x="0" y="0"/>
            <a:chExt cx="21712635" cy="1083865"/>
          </a:xfrm>
        </p:grpSpPr>
        <p:sp>
          <p:nvSpPr>
            <p:cNvPr name="Freeform 26" id="26"/>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000000">
                <a:alpha val="0"/>
              </a:srgbClr>
            </a:solidFill>
          </p:spPr>
        </p:sp>
      </p:grpSp>
      <p:sp>
        <p:nvSpPr>
          <p:cNvPr name="TextBox 27" id="27"/>
          <p:cNvSpPr txBox="true"/>
          <p:nvPr/>
        </p:nvSpPr>
        <p:spPr>
          <a:xfrm rot="0">
            <a:off x="1285429" y="6170562"/>
            <a:ext cx="2685009" cy="539354"/>
          </a:xfrm>
          <a:prstGeom prst="rect">
            <a:avLst/>
          </a:prstGeom>
        </p:spPr>
        <p:txBody>
          <a:bodyPr anchor="t" rtlCol="false" tIns="0" lIns="0" bIns="0" rIns="0">
            <a:spAutoFit/>
          </a:bodyPr>
          <a:lstStyle/>
          <a:p>
            <a:pPr algn="l">
              <a:lnSpc>
                <a:spcPts val="3562"/>
              </a:lnSpc>
            </a:pPr>
            <a:r>
              <a:rPr lang="en-US" sz="2187" b="true">
                <a:solidFill>
                  <a:srgbClr val="3E2513"/>
                </a:solidFill>
                <a:latin typeface="Source Serif Pro Bold"/>
                <a:ea typeface="Source Serif Pro Bold"/>
                <a:cs typeface="Source Serif Pro Bold"/>
                <a:sym typeface="Source Serif Pro Bold"/>
              </a:rPr>
              <a:t>400</a:t>
            </a:r>
          </a:p>
        </p:txBody>
      </p:sp>
      <p:sp>
        <p:nvSpPr>
          <p:cNvPr name="TextBox 28" id="28"/>
          <p:cNvSpPr txBox="true"/>
          <p:nvPr/>
        </p:nvSpPr>
        <p:spPr>
          <a:xfrm rot="0">
            <a:off x="4546998" y="6170562"/>
            <a:ext cx="4308722"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Bad Request</a:t>
            </a:r>
          </a:p>
        </p:txBody>
      </p:sp>
      <p:sp>
        <p:nvSpPr>
          <p:cNvPr name="TextBox 29" id="29"/>
          <p:cNvSpPr txBox="true"/>
          <p:nvPr/>
        </p:nvSpPr>
        <p:spPr>
          <a:xfrm rot="0">
            <a:off x="9432280" y="6170562"/>
            <a:ext cx="7570440"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Invalid or malformed data sent</a:t>
            </a:r>
          </a:p>
        </p:txBody>
      </p:sp>
      <p:grpSp>
        <p:nvGrpSpPr>
          <p:cNvPr name="Group 30" id="30"/>
          <p:cNvGrpSpPr/>
          <p:nvPr/>
        </p:nvGrpSpPr>
        <p:grpSpPr>
          <a:xfrm rot="0">
            <a:off x="1001762" y="6889551"/>
            <a:ext cx="16284476" cy="812899"/>
            <a:chOff x="0" y="0"/>
            <a:chExt cx="21712635" cy="1083865"/>
          </a:xfrm>
        </p:grpSpPr>
        <p:sp>
          <p:nvSpPr>
            <p:cNvPr name="Freeform 31" id="31"/>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FFFFFF">
                <a:alpha val="0"/>
              </a:srgbClr>
            </a:solidFill>
          </p:spPr>
        </p:sp>
      </p:grpSp>
      <p:sp>
        <p:nvSpPr>
          <p:cNvPr name="TextBox 32" id="32"/>
          <p:cNvSpPr txBox="true"/>
          <p:nvPr/>
        </p:nvSpPr>
        <p:spPr>
          <a:xfrm rot="0">
            <a:off x="1285429" y="6983463"/>
            <a:ext cx="2685009" cy="539354"/>
          </a:xfrm>
          <a:prstGeom prst="rect">
            <a:avLst/>
          </a:prstGeom>
        </p:spPr>
        <p:txBody>
          <a:bodyPr anchor="t" rtlCol="false" tIns="0" lIns="0" bIns="0" rIns="0">
            <a:spAutoFit/>
          </a:bodyPr>
          <a:lstStyle/>
          <a:p>
            <a:pPr algn="l">
              <a:lnSpc>
                <a:spcPts val="3562"/>
              </a:lnSpc>
            </a:pPr>
            <a:r>
              <a:rPr lang="en-US" sz="2187" b="true">
                <a:solidFill>
                  <a:srgbClr val="3E2513"/>
                </a:solidFill>
                <a:latin typeface="Source Serif Pro Bold"/>
                <a:ea typeface="Source Serif Pro Bold"/>
                <a:cs typeface="Source Serif Pro Bold"/>
                <a:sym typeface="Source Serif Pro Bold"/>
              </a:rPr>
              <a:t>401</a:t>
            </a:r>
          </a:p>
        </p:txBody>
      </p:sp>
      <p:sp>
        <p:nvSpPr>
          <p:cNvPr name="TextBox 33" id="33"/>
          <p:cNvSpPr txBox="true"/>
          <p:nvPr/>
        </p:nvSpPr>
        <p:spPr>
          <a:xfrm rot="0">
            <a:off x="4546998" y="6983463"/>
            <a:ext cx="4308722"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Unauthorized</a:t>
            </a:r>
          </a:p>
        </p:txBody>
      </p:sp>
      <p:sp>
        <p:nvSpPr>
          <p:cNvPr name="TextBox 34" id="34"/>
          <p:cNvSpPr txBox="true"/>
          <p:nvPr/>
        </p:nvSpPr>
        <p:spPr>
          <a:xfrm rot="0">
            <a:off x="9432280" y="6983463"/>
            <a:ext cx="7570440"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Invalid or expired token</a:t>
            </a:r>
          </a:p>
        </p:txBody>
      </p:sp>
      <p:grpSp>
        <p:nvGrpSpPr>
          <p:cNvPr name="Group 35" id="35"/>
          <p:cNvGrpSpPr/>
          <p:nvPr/>
        </p:nvGrpSpPr>
        <p:grpSpPr>
          <a:xfrm rot="0">
            <a:off x="1001762" y="7702451"/>
            <a:ext cx="16284476" cy="812899"/>
            <a:chOff x="0" y="0"/>
            <a:chExt cx="21712635" cy="1083865"/>
          </a:xfrm>
        </p:grpSpPr>
        <p:sp>
          <p:nvSpPr>
            <p:cNvPr name="Freeform 36" id="36"/>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000000">
                <a:alpha val="0"/>
              </a:srgbClr>
            </a:solidFill>
          </p:spPr>
        </p:sp>
      </p:grpSp>
      <p:sp>
        <p:nvSpPr>
          <p:cNvPr name="TextBox 37" id="37"/>
          <p:cNvSpPr txBox="true"/>
          <p:nvPr/>
        </p:nvSpPr>
        <p:spPr>
          <a:xfrm rot="0">
            <a:off x="1285429" y="7796361"/>
            <a:ext cx="2685009" cy="539354"/>
          </a:xfrm>
          <a:prstGeom prst="rect">
            <a:avLst/>
          </a:prstGeom>
        </p:spPr>
        <p:txBody>
          <a:bodyPr anchor="t" rtlCol="false" tIns="0" lIns="0" bIns="0" rIns="0">
            <a:spAutoFit/>
          </a:bodyPr>
          <a:lstStyle/>
          <a:p>
            <a:pPr algn="l">
              <a:lnSpc>
                <a:spcPts val="3562"/>
              </a:lnSpc>
            </a:pPr>
            <a:r>
              <a:rPr lang="en-US" sz="2187" b="true">
                <a:solidFill>
                  <a:srgbClr val="3E2513"/>
                </a:solidFill>
                <a:latin typeface="Source Serif Pro Bold"/>
                <a:ea typeface="Source Serif Pro Bold"/>
                <a:cs typeface="Source Serif Pro Bold"/>
                <a:sym typeface="Source Serif Pro Bold"/>
              </a:rPr>
              <a:t>404</a:t>
            </a:r>
          </a:p>
        </p:txBody>
      </p:sp>
      <p:sp>
        <p:nvSpPr>
          <p:cNvPr name="TextBox 38" id="38"/>
          <p:cNvSpPr txBox="true"/>
          <p:nvPr/>
        </p:nvSpPr>
        <p:spPr>
          <a:xfrm rot="0">
            <a:off x="4546998" y="7796361"/>
            <a:ext cx="4308722"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Not Found</a:t>
            </a:r>
          </a:p>
        </p:txBody>
      </p:sp>
      <p:sp>
        <p:nvSpPr>
          <p:cNvPr name="TextBox 39" id="39"/>
          <p:cNvSpPr txBox="true"/>
          <p:nvPr/>
        </p:nvSpPr>
        <p:spPr>
          <a:xfrm rot="0">
            <a:off x="9432280" y="7796361"/>
            <a:ext cx="7570440"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Endpoint or resource doesn't exist</a:t>
            </a:r>
          </a:p>
        </p:txBody>
      </p:sp>
      <p:grpSp>
        <p:nvGrpSpPr>
          <p:cNvPr name="Group 40" id="40"/>
          <p:cNvGrpSpPr/>
          <p:nvPr/>
        </p:nvGrpSpPr>
        <p:grpSpPr>
          <a:xfrm rot="0">
            <a:off x="1001762" y="8515350"/>
            <a:ext cx="16284476" cy="812899"/>
            <a:chOff x="0" y="0"/>
            <a:chExt cx="21712635" cy="1083865"/>
          </a:xfrm>
        </p:grpSpPr>
        <p:sp>
          <p:nvSpPr>
            <p:cNvPr name="Freeform 41" id="41"/>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FFFFFF">
                <a:alpha val="0"/>
              </a:srgbClr>
            </a:solidFill>
          </p:spPr>
        </p:sp>
      </p:grpSp>
      <p:sp>
        <p:nvSpPr>
          <p:cNvPr name="TextBox 42" id="42"/>
          <p:cNvSpPr txBox="true"/>
          <p:nvPr/>
        </p:nvSpPr>
        <p:spPr>
          <a:xfrm rot="0">
            <a:off x="1285429" y="8609260"/>
            <a:ext cx="2685009" cy="539354"/>
          </a:xfrm>
          <a:prstGeom prst="rect">
            <a:avLst/>
          </a:prstGeom>
        </p:spPr>
        <p:txBody>
          <a:bodyPr anchor="t" rtlCol="false" tIns="0" lIns="0" bIns="0" rIns="0">
            <a:spAutoFit/>
          </a:bodyPr>
          <a:lstStyle/>
          <a:p>
            <a:pPr algn="l">
              <a:lnSpc>
                <a:spcPts val="3562"/>
              </a:lnSpc>
            </a:pPr>
            <a:r>
              <a:rPr lang="en-US" sz="2187" b="true">
                <a:solidFill>
                  <a:srgbClr val="3E2513"/>
                </a:solidFill>
                <a:latin typeface="Source Serif Pro Bold"/>
                <a:ea typeface="Source Serif Pro Bold"/>
                <a:cs typeface="Source Serif Pro Bold"/>
                <a:sym typeface="Source Serif Pro Bold"/>
              </a:rPr>
              <a:t>500</a:t>
            </a:r>
          </a:p>
        </p:txBody>
      </p:sp>
      <p:sp>
        <p:nvSpPr>
          <p:cNvPr name="TextBox 43" id="43"/>
          <p:cNvSpPr txBox="true"/>
          <p:nvPr/>
        </p:nvSpPr>
        <p:spPr>
          <a:xfrm rot="0">
            <a:off x="4546998" y="8609260"/>
            <a:ext cx="4308722"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Server Error</a:t>
            </a:r>
          </a:p>
        </p:txBody>
      </p:sp>
      <p:sp>
        <p:nvSpPr>
          <p:cNvPr name="TextBox 44" id="44"/>
          <p:cNvSpPr txBox="true"/>
          <p:nvPr/>
        </p:nvSpPr>
        <p:spPr>
          <a:xfrm rot="0">
            <a:off x="9432280" y="8609260"/>
            <a:ext cx="7570440"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Internal server processing failure</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2499569"/>
            <a:ext cx="9792444" cy="943124"/>
          </a:xfrm>
          <a:prstGeom prst="rect">
            <a:avLst/>
          </a:prstGeom>
        </p:spPr>
        <p:txBody>
          <a:bodyPr anchor="t" rtlCol="false" tIns="0" lIns="0" bIns="0" rIns="0">
            <a:spAutoFit/>
          </a:bodyPr>
          <a:lstStyle/>
          <a:p>
            <a:pPr algn="l">
              <a:lnSpc>
                <a:spcPts val="6937"/>
              </a:lnSpc>
            </a:pPr>
            <a:r>
              <a:rPr lang="en-US" sz="5562">
                <a:solidFill>
                  <a:srgbClr val="201B18"/>
                </a:solidFill>
                <a:latin typeface="Arimo"/>
                <a:ea typeface="Arimo"/>
                <a:cs typeface="Arimo"/>
                <a:sym typeface="Arimo"/>
              </a:rPr>
              <a:t>Authentication and Headers</a:t>
            </a:r>
          </a:p>
        </p:txBody>
      </p:sp>
      <p:sp>
        <p:nvSpPr>
          <p:cNvPr name="TextBox 7" id="7"/>
          <p:cNvSpPr txBox="true"/>
          <p:nvPr/>
        </p:nvSpPr>
        <p:spPr>
          <a:xfrm rot="0">
            <a:off x="992238" y="3782169"/>
            <a:ext cx="16303526" cy="992981"/>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HTTP headers provide metadata about your API request. They include critical information like content type and authorization credentials that ensure secure, authorized access.</a:t>
            </a:r>
          </a:p>
        </p:txBody>
      </p:sp>
      <p:grpSp>
        <p:nvGrpSpPr>
          <p:cNvPr name="Group 8" id="8"/>
          <p:cNvGrpSpPr/>
          <p:nvPr/>
        </p:nvGrpSpPr>
        <p:grpSpPr>
          <a:xfrm rot="0">
            <a:off x="973188" y="5075039"/>
            <a:ext cx="5283547" cy="2674293"/>
            <a:chOff x="0" y="0"/>
            <a:chExt cx="7044730" cy="3565723"/>
          </a:xfrm>
        </p:grpSpPr>
        <p:sp>
          <p:nvSpPr>
            <p:cNvPr name="Freeform 9" id="9"/>
            <p:cNvSpPr/>
            <p:nvPr/>
          </p:nvSpPr>
          <p:spPr>
            <a:xfrm flipH="false" flipV="false" rot="0">
              <a:off x="25400" y="25400"/>
              <a:ext cx="6994017" cy="3514852"/>
            </a:xfrm>
            <a:custGeom>
              <a:avLst/>
              <a:gdLst/>
              <a:ahLst/>
              <a:cxnLst/>
              <a:rect r="r" b="b" t="t" l="l"/>
              <a:pathLst>
                <a:path h="3514852" w="6994017">
                  <a:moveTo>
                    <a:pt x="0" y="56642"/>
                  </a:moveTo>
                  <a:cubicBezTo>
                    <a:pt x="0" y="25400"/>
                    <a:pt x="25527" y="0"/>
                    <a:pt x="57150" y="0"/>
                  </a:cubicBezTo>
                  <a:lnTo>
                    <a:pt x="6936867" y="0"/>
                  </a:lnTo>
                  <a:cubicBezTo>
                    <a:pt x="6968363" y="0"/>
                    <a:pt x="6994017" y="25400"/>
                    <a:pt x="6994017" y="56642"/>
                  </a:cubicBezTo>
                  <a:lnTo>
                    <a:pt x="6994017" y="3458210"/>
                  </a:lnTo>
                  <a:cubicBezTo>
                    <a:pt x="6994017" y="3489579"/>
                    <a:pt x="6968490" y="3514852"/>
                    <a:pt x="6936867" y="3514852"/>
                  </a:cubicBezTo>
                  <a:lnTo>
                    <a:pt x="57150" y="3514852"/>
                  </a:lnTo>
                  <a:cubicBezTo>
                    <a:pt x="25654" y="3514852"/>
                    <a:pt x="0" y="3489452"/>
                    <a:pt x="0" y="3458210"/>
                  </a:cubicBezTo>
                  <a:close/>
                </a:path>
              </a:pathLst>
            </a:custGeom>
            <a:solidFill>
              <a:srgbClr val="FFFFFF"/>
            </a:solidFill>
          </p:spPr>
        </p:sp>
        <p:sp>
          <p:nvSpPr>
            <p:cNvPr name="Freeform 10" id="10"/>
            <p:cNvSpPr/>
            <p:nvPr/>
          </p:nvSpPr>
          <p:spPr>
            <a:xfrm flipH="false" flipV="false" rot="0">
              <a:off x="0" y="0"/>
              <a:ext cx="7044817" cy="3565652"/>
            </a:xfrm>
            <a:custGeom>
              <a:avLst/>
              <a:gdLst/>
              <a:ahLst/>
              <a:cxnLst/>
              <a:rect r="r" b="b" t="t" l="l"/>
              <a:pathLst>
                <a:path h="3565652" w="7044817">
                  <a:moveTo>
                    <a:pt x="0" y="82042"/>
                  </a:moveTo>
                  <a:cubicBezTo>
                    <a:pt x="0" y="36576"/>
                    <a:pt x="37084" y="0"/>
                    <a:pt x="82550" y="0"/>
                  </a:cubicBezTo>
                  <a:lnTo>
                    <a:pt x="6962267" y="0"/>
                  </a:lnTo>
                  <a:lnTo>
                    <a:pt x="6962267" y="25400"/>
                  </a:lnTo>
                  <a:lnTo>
                    <a:pt x="6962267" y="0"/>
                  </a:lnTo>
                  <a:cubicBezTo>
                    <a:pt x="7007606" y="0"/>
                    <a:pt x="7044817" y="36576"/>
                    <a:pt x="7044817" y="82042"/>
                  </a:cubicBezTo>
                  <a:lnTo>
                    <a:pt x="7019417" y="82042"/>
                  </a:lnTo>
                  <a:lnTo>
                    <a:pt x="7044817" y="82042"/>
                  </a:lnTo>
                  <a:lnTo>
                    <a:pt x="7044817" y="3483610"/>
                  </a:lnTo>
                  <a:lnTo>
                    <a:pt x="7019417" y="3483610"/>
                  </a:lnTo>
                  <a:lnTo>
                    <a:pt x="7044817" y="3483610"/>
                  </a:lnTo>
                  <a:cubicBezTo>
                    <a:pt x="7044817" y="3529076"/>
                    <a:pt x="7007733" y="3565652"/>
                    <a:pt x="6962267" y="3565652"/>
                  </a:cubicBezTo>
                  <a:lnTo>
                    <a:pt x="6962267" y="3540252"/>
                  </a:lnTo>
                  <a:lnTo>
                    <a:pt x="6962267" y="3565652"/>
                  </a:lnTo>
                  <a:lnTo>
                    <a:pt x="82550" y="3565652"/>
                  </a:lnTo>
                  <a:lnTo>
                    <a:pt x="82550" y="3540252"/>
                  </a:lnTo>
                  <a:lnTo>
                    <a:pt x="82550" y="3565652"/>
                  </a:lnTo>
                  <a:cubicBezTo>
                    <a:pt x="37211" y="3565652"/>
                    <a:pt x="0" y="3529076"/>
                    <a:pt x="0" y="3483610"/>
                  </a:cubicBezTo>
                  <a:lnTo>
                    <a:pt x="0" y="82042"/>
                  </a:lnTo>
                  <a:lnTo>
                    <a:pt x="25400" y="82042"/>
                  </a:lnTo>
                  <a:lnTo>
                    <a:pt x="0" y="82042"/>
                  </a:lnTo>
                  <a:moveTo>
                    <a:pt x="50800" y="82042"/>
                  </a:moveTo>
                  <a:lnTo>
                    <a:pt x="50800" y="3483610"/>
                  </a:lnTo>
                  <a:lnTo>
                    <a:pt x="25400" y="3483610"/>
                  </a:lnTo>
                  <a:lnTo>
                    <a:pt x="50800" y="3483610"/>
                  </a:lnTo>
                  <a:cubicBezTo>
                    <a:pt x="50800" y="3500755"/>
                    <a:pt x="64770" y="3514852"/>
                    <a:pt x="82550" y="3514852"/>
                  </a:cubicBezTo>
                  <a:lnTo>
                    <a:pt x="6962267" y="3514852"/>
                  </a:lnTo>
                  <a:cubicBezTo>
                    <a:pt x="6979920" y="3514852"/>
                    <a:pt x="6994017" y="3500628"/>
                    <a:pt x="6994017" y="3483610"/>
                  </a:cubicBezTo>
                  <a:lnTo>
                    <a:pt x="6994017" y="82042"/>
                  </a:lnTo>
                  <a:cubicBezTo>
                    <a:pt x="6994017" y="64897"/>
                    <a:pt x="6980048" y="50800"/>
                    <a:pt x="6962267" y="50800"/>
                  </a:cubicBezTo>
                  <a:lnTo>
                    <a:pt x="82550" y="50800"/>
                  </a:lnTo>
                  <a:lnTo>
                    <a:pt x="82550" y="25400"/>
                  </a:lnTo>
                  <a:lnTo>
                    <a:pt x="82550" y="50800"/>
                  </a:lnTo>
                  <a:cubicBezTo>
                    <a:pt x="64770" y="50800"/>
                    <a:pt x="50800" y="65024"/>
                    <a:pt x="50800" y="82042"/>
                  </a:cubicBezTo>
                  <a:close/>
                </a:path>
              </a:pathLst>
            </a:custGeom>
            <a:solidFill>
              <a:srgbClr val="D8D4D4"/>
            </a:solidFill>
          </p:spPr>
        </p:sp>
      </p:grpSp>
      <p:sp>
        <p:nvSpPr>
          <p:cNvPr name="TextBox 11" id="11"/>
          <p:cNvSpPr txBox="true"/>
          <p:nvPr/>
        </p:nvSpPr>
        <p:spPr>
          <a:xfrm rot="0">
            <a:off x="1313855" y="5377606"/>
            <a:ext cx="3723234"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Content-Type Header</a:t>
            </a:r>
          </a:p>
        </p:txBody>
      </p:sp>
      <p:sp>
        <p:nvSpPr>
          <p:cNvPr name="TextBox 12" id="12"/>
          <p:cNvSpPr txBox="true"/>
          <p:nvPr/>
        </p:nvSpPr>
        <p:spPr>
          <a:xfrm rot="0">
            <a:off x="1313855" y="5943005"/>
            <a:ext cx="4602212" cy="1002506"/>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Specifies data format, typically application/json for modern APIs.</a:t>
            </a:r>
          </a:p>
        </p:txBody>
      </p:sp>
      <p:grpSp>
        <p:nvGrpSpPr>
          <p:cNvPr name="Group 13" id="13"/>
          <p:cNvGrpSpPr/>
          <p:nvPr/>
        </p:nvGrpSpPr>
        <p:grpSpPr>
          <a:xfrm rot="0">
            <a:off x="6502152" y="5075039"/>
            <a:ext cx="5283547" cy="2674293"/>
            <a:chOff x="0" y="0"/>
            <a:chExt cx="7044730" cy="3565723"/>
          </a:xfrm>
        </p:grpSpPr>
        <p:sp>
          <p:nvSpPr>
            <p:cNvPr name="Freeform 14" id="14"/>
            <p:cNvSpPr/>
            <p:nvPr/>
          </p:nvSpPr>
          <p:spPr>
            <a:xfrm flipH="false" flipV="false" rot="0">
              <a:off x="25400" y="25400"/>
              <a:ext cx="6994017" cy="3514852"/>
            </a:xfrm>
            <a:custGeom>
              <a:avLst/>
              <a:gdLst/>
              <a:ahLst/>
              <a:cxnLst/>
              <a:rect r="r" b="b" t="t" l="l"/>
              <a:pathLst>
                <a:path h="3514852" w="6994017">
                  <a:moveTo>
                    <a:pt x="0" y="56642"/>
                  </a:moveTo>
                  <a:cubicBezTo>
                    <a:pt x="0" y="25400"/>
                    <a:pt x="25527" y="0"/>
                    <a:pt x="57150" y="0"/>
                  </a:cubicBezTo>
                  <a:lnTo>
                    <a:pt x="6936867" y="0"/>
                  </a:lnTo>
                  <a:cubicBezTo>
                    <a:pt x="6968363" y="0"/>
                    <a:pt x="6994017" y="25400"/>
                    <a:pt x="6994017" y="56642"/>
                  </a:cubicBezTo>
                  <a:lnTo>
                    <a:pt x="6994017" y="3458210"/>
                  </a:lnTo>
                  <a:cubicBezTo>
                    <a:pt x="6994017" y="3489579"/>
                    <a:pt x="6968490" y="3514852"/>
                    <a:pt x="6936867" y="3514852"/>
                  </a:cubicBezTo>
                  <a:lnTo>
                    <a:pt x="57150" y="3514852"/>
                  </a:lnTo>
                  <a:cubicBezTo>
                    <a:pt x="25654" y="3514852"/>
                    <a:pt x="0" y="3489452"/>
                    <a:pt x="0" y="3458210"/>
                  </a:cubicBezTo>
                  <a:close/>
                </a:path>
              </a:pathLst>
            </a:custGeom>
            <a:solidFill>
              <a:srgbClr val="FFFFFF"/>
            </a:solidFill>
          </p:spPr>
        </p:sp>
        <p:sp>
          <p:nvSpPr>
            <p:cNvPr name="Freeform 15" id="15"/>
            <p:cNvSpPr/>
            <p:nvPr/>
          </p:nvSpPr>
          <p:spPr>
            <a:xfrm flipH="false" flipV="false" rot="0">
              <a:off x="0" y="0"/>
              <a:ext cx="7044817" cy="3565652"/>
            </a:xfrm>
            <a:custGeom>
              <a:avLst/>
              <a:gdLst/>
              <a:ahLst/>
              <a:cxnLst/>
              <a:rect r="r" b="b" t="t" l="l"/>
              <a:pathLst>
                <a:path h="3565652" w="7044817">
                  <a:moveTo>
                    <a:pt x="0" y="82042"/>
                  </a:moveTo>
                  <a:cubicBezTo>
                    <a:pt x="0" y="36576"/>
                    <a:pt x="37084" y="0"/>
                    <a:pt x="82550" y="0"/>
                  </a:cubicBezTo>
                  <a:lnTo>
                    <a:pt x="6962267" y="0"/>
                  </a:lnTo>
                  <a:lnTo>
                    <a:pt x="6962267" y="25400"/>
                  </a:lnTo>
                  <a:lnTo>
                    <a:pt x="6962267" y="0"/>
                  </a:lnTo>
                  <a:cubicBezTo>
                    <a:pt x="7007606" y="0"/>
                    <a:pt x="7044817" y="36576"/>
                    <a:pt x="7044817" y="82042"/>
                  </a:cubicBezTo>
                  <a:lnTo>
                    <a:pt x="7019417" y="82042"/>
                  </a:lnTo>
                  <a:lnTo>
                    <a:pt x="7044817" y="82042"/>
                  </a:lnTo>
                  <a:lnTo>
                    <a:pt x="7044817" y="3483610"/>
                  </a:lnTo>
                  <a:lnTo>
                    <a:pt x="7019417" y="3483610"/>
                  </a:lnTo>
                  <a:lnTo>
                    <a:pt x="7044817" y="3483610"/>
                  </a:lnTo>
                  <a:cubicBezTo>
                    <a:pt x="7044817" y="3529076"/>
                    <a:pt x="7007733" y="3565652"/>
                    <a:pt x="6962267" y="3565652"/>
                  </a:cubicBezTo>
                  <a:lnTo>
                    <a:pt x="6962267" y="3540252"/>
                  </a:lnTo>
                  <a:lnTo>
                    <a:pt x="6962267" y="3565652"/>
                  </a:lnTo>
                  <a:lnTo>
                    <a:pt x="82550" y="3565652"/>
                  </a:lnTo>
                  <a:lnTo>
                    <a:pt x="82550" y="3540252"/>
                  </a:lnTo>
                  <a:lnTo>
                    <a:pt x="82550" y="3565652"/>
                  </a:lnTo>
                  <a:cubicBezTo>
                    <a:pt x="37211" y="3565652"/>
                    <a:pt x="0" y="3529076"/>
                    <a:pt x="0" y="3483610"/>
                  </a:cubicBezTo>
                  <a:lnTo>
                    <a:pt x="0" y="82042"/>
                  </a:lnTo>
                  <a:lnTo>
                    <a:pt x="25400" y="82042"/>
                  </a:lnTo>
                  <a:lnTo>
                    <a:pt x="0" y="82042"/>
                  </a:lnTo>
                  <a:moveTo>
                    <a:pt x="50800" y="82042"/>
                  </a:moveTo>
                  <a:lnTo>
                    <a:pt x="50800" y="3483610"/>
                  </a:lnTo>
                  <a:lnTo>
                    <a:pt x="25400" y="3483610"/>
                  </a:lnTo>
                  <a:lnTo>
                    <a:pt x="50800" y="3483610"/>
                  </a:lnTo>
                  <a:cubicBezTo>
                    <a:pt x="50800" y="3500755"/>
                    <a:pt x="64770" y="3514852"/>
                    <a:pt x="82550" y="3514852"/>
                  </a:cubicBezTo>
                  <a:lnTo>
                    <a:pt x="6962267" y="3514852"/>
                  </a:lnTo>
                  <a:cubicBezTo>
                    <a:pt x="6979920" y="3514852"/>
                    <a:pt x="6994017" y="3500628"/>
                    <a:pt x="6994017" y="3483610"/>
                  </a:cubicBezTo>
                  <a:lnTo>
                    <a:pt x="6994017" y="82042"/>
                  </a:lnTo>
                  <a:cubicBezTo>
                    <a:pt x="6994017" y="64897"/>
                    <a:pt x="6980048" y="50800"/>
                    <a:pt x="6962267" y="50800"/>
                  </a:cubicBezTo>
                  <a:lnTo>
                    <a:pt x="82550" y="50800"/>
                  </a:lnTo>
                  <a:lnTo>
                    <a:pt x="82550" y="25400"/>
                  </a:lnTo>
                  <a:lnTo>
                    <a:pt x="82550" y="50800"/>
                  </a:lnTo>
                  <a:cubicBezTo>
                    <a:pt x="64770" y="50800"/>
                    <a:pt x="50800" y="65024"/>
                    <a:pt x="50800" y="82042"/>
                  </a:cubicBezTo>
                  <a:close/>
                </a:path>
              </a:pathLst>
            </a:custGeom>
            <a:solidFill>
              <a:srgbClr val="D8D4D4"/>
            </a:solidFill>
          </p:spPr>
        </p:sp>
      </p:grpSp>
      <p:sp>
        <p:nvSpPr>
          <p:cNvPr name="TextBox 16" id="16"/>
          <p:cNvSpPr txBox="true"/>
          <p:nvPr/>
        </p:nvSpPr>
        <p:spPr>
          <a:xfrm rot="0">
            <a:off x="6842820" y="5377606"/>
            <a:ext cx="3776662"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Authorization Header</a:t>
            </a:r>
          </a:p>
        </p:txBody>
      </p:sp>
      <p:sp>
        <p:nvSpPr>
          <p:cNvPr name="TextBox 17" id="17"/>
          <p:cNvSpPr txBox="true"/>
          <p:nvPr/>
        </p:nvSpPr>
        <p:spPr>
          <a:xfrm rot="0">
            <a:off x="6842820" y="5943005"/>
            <a:ext cx="4602212" cy="1465660"/>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Contains credentials like Bearer &lt;token&gt; to prove identity and permissions.</a:t>
            </a:r>
          </a:p>
        </p:txBody>
      </p:sp>
      <p:grpSp>
        <p:nvGrpSpPr>
          <p:cNvPr name="Group 18" id="18"/>
          <p:cNvGrpSpPr/>
          <p:nvPr/>
        </p:nvGrpSpPr>
        <p:grpSpPr>
          <a:xfrm rot="0">
            <a:off x="12031116" y="5075039"/>
            <a:ext cx="5283547" cy="2674293"/>
            <a:chOff x="0" y="0"/>
            <a:chExt cx="7044730" cy="3565723"/>
          </a:xfrm>
        </p:grpSpPr>
        <p:sp>
          <p:nvSpPr>
            <p:cNvPr name="Freeform 19" id="19"/>
            <p:cNvSpPr/>
            <p:nvPr/>
          </p:nvSpPr>
          <p:spPr>
            <a:xfrm flipH="false" flipV="false" rot="0">
              <a:off x="25400" y="25400"/>
              <a:ext cx="6994017" cy="3514852"/>
            </a:xfrm>
            <a:custGeom>
              <a:avLst/>
              <a:gdLst/>
              <a:ahLst/>
              <a:cxnLst/>
              <a:rect r="r" b="b" t="t" l="l"/>
              <a:pathLst>
                <a:path h="3514852" w="6994017">
                  <a:moveTo>
                    <a:pt x="0" y="56642"/>
                  </a:moveTo>
                  <a:cubicBezTo>
                    <a:pt x="0" y="25400"/>
                    <a:pt x="25527" y="0"/>
                    <a:pt x="57150" y="0"/>
                  </a:cubicBezTo>
                  <a:lnTo>
                    <a:pt x="6936867" y="0"/>
                  </a:lnTo>
                  <a:cubicBezTo>
                    <a:pt x="6968363" y="0"/>
                    <a:pt x="6994017" y="25400"/>
                    <a:pt x="6994017" y="56642"/>
                  </a:cubicBezTo>
                  <a:lnTo>
                    <a:pt x="6994017" y="3458210"/>
                  </a:lnTo>
                  <a:cubicBezTo>
                    <a:pt x="6994017" y="3489579"/>
                    <a:pt x="6968490" y="3514852"/>
                    <a:pt x="6936867" y="3514852"/>
                  </a:cubicBezTo>
                  <a:lnTo>
                    <a:pt x="57150" y="3514852"/>
                  </a:lnTo>
                  <a:cubicBezTo>
                    <a:pt x="25654" y="3514852"/>
                    <a:pt x="0" y="3489452"/>
                    <a:pt x="0" y="3458210"/>
                  </a:cubicBezTo>
                  <a:close/>
                </a:path>
              </a:pathLst>
            </a:custGeom>
            <a:solidFill>
              <a:srgbClr val="FFFFFF"/>
            </a:solidFill>
          </p:spPr>
        </p:sp>
        <p:sp>
          <p:nvSpPr>
            <p:cNvPr name="Freeform 20" id="20"/>
            <p:cNvSpPr/>
            <p:nvPr/>
          </p:nvSpPr>
          <p:spPr>
            <a:xfrm flipH="false" flipV="false" rot="0">
              <a:off x="0" y="0"/>
              <a:ext cx="7044817" cy="3565652"/>
            </a:xfrm>
            <a:custGeom>
              <a:avLst/>
              <a:gdLst/>
              <a:ahLst/>
              <a:cxnLst/>
              <a:rect r="r" b="b" t="t" l="l"/>
              <a:pathLst>
                <a:path h="3565652" w="7044817">
                  <a:moveTo>
                    <a:pt x="0" y="82042"/>
                  </a:moveTo>
                  <a:cubicBezTo>
                    <a:pt x="0" y="36576"/>
                    <a:pt x="37084" y="0"/>
                    <a:pt x="82550" y="0"/>
                  </a:cubicBezTo>
                  <a:lnTo>
                    <a:pt x="6962267" y="0"/>
                  </a:lnTo>
                  <a:lnTo>
                    <a:pt x="6962267" y="25400"/>
                  </a:lnTo>
                  <a:lnTo>
                    <a:pt x="6962267" y="0"/>
                  </a:lnTo>
                  <a:cubicBezTo>
                    <a:pt x="7007606" y="0"/>
                    <a:pt x="7044817" y="36576"/>
                    <a:pt x="7044817" y="82042"/>
                  </a:cubicBezTo>
                  <a:lnTo>
                    <a:pt x="7019417" y="82042"/>
                  </a:lnTo>
                  <a:lnTo>
                    <a:pt x="7044817" y="82042"/>
                  </a:lnTo>
                  <a:lnTo>
                    <a:pt x="7044817" y="3483610"/>
                  </a:lnTo>
                  <a:lnTo>
                    <a:pt x="7019417" y="3483610"/>
                  </a:lnTo>
                  <a:lnTo>
                    <a:pt x="7044817" y="3483610"/>
                  </a:lnTo>
                  <a:cubicBezTo>
                    <a:pt x="7044817" y="3529076"/>
                    <a:pt x="7007733" y="3565652"/>
                    <a:pt x="6962267" y="3565652"/>
                  </a:cubicBezTo>
                  <a:lnTo>
                    <a:pt x="6962267" y="3540252"/>
                  </a:lnTo>
                  <a:lnTo>
                    <a:pt x="6962267" y="3565652"/>
                  </a:lnTo>
                  <a:lnTo>
                    <a:pt x="82550" y="3565652"/>
                  </a:lnTo>
                  <a:lnTo>
                    <a:pt x="82550" y="3540252"/>
                  </a:lnTo>
                  <a:lnTo>
                    <a:pt x="82550" y="3565652"/>
                  </a:lnTo>
                  <a:cubicBezTo>
                    <a:pt x="37211" y="3565652"/>
                    <a:pt x="0" y="3529076"/>
                    <a:pt x="0" y="3483610"/>
                  </a:cubicBezTo>
                  <a:lnTo>
                    <a:pt x="0" y="82042"/>
                  </a:lnTo>
                  <a:lnTo>
                    <a:pt x="25400" y="82042"/>
                  </a:lnTo>
                  <a:lnTo>
                    <a:pt x="0" y="82042"/>
                  </a:lnTo>
                  <a:moveTo>
                    <a:pt x="50800" y="82042"/>
                  </a:moveTo>
                  <a:lnTo>
                    <a:pt x="50800" y="3483610"/>
                  </a:lnTo>
                  <a:lnTo>
                    <a:pt x="25400" y="3483610"/>
                  </a:lnTo>
                  <a:lnTo>
                    <a:pt x="50800" y="3483610"/>
                  </a:lnTo>
                  <a:cubicBezTo>
                    <a:pt x="50800" y="3500755"/>
                    <a:pt x="64770" y="3514852"/>
                    <a:pt x="82550" y="3514852"/>
                  </a:cubicBezTo>
                  <a:lnTo>
                    <a:pt x="6962267" y="3514852"/>
                  </a:lnTo>
                  <a:cubicBezTo>
                    <a:pt x="6979920" y="3514852"/>
                    <a:pt x="6994017" y="3500628"/>
                    <a:pt x="6994017" y="3483610"/>
                  </a:cubicBezTo>
                  <a:lnTo>
                    <a:pt x="6994017" y="82042"/>
                  </a:lnTo>
                  <a:cubicBezTo>
                    <a:pt x="6994017" y="64897"/>
                    <a:pt x="6980048" y="50800"/>
                    <a:pt x="6962267" y="50800"/>
                  </a:cubicBezTo>
                  <a:lnTo>
                    <a:pt x="82550" y="50800"/>
                  </a:lnTo>
                  <a:lnTo>
                    <a:pt x="82550" y="25400"/>
                  </a:lnTo>
                  <a:lnTo>
                    <a:pt x="82550" y="50800"/>
                  </a:lnTo>
                  <a:cubicBezTo>
                    <a:pt x="64770" y="50800"/>
                    <a:pt x="50800" y="65024"/>
                    <a:pt x="50800" y="82042"/>
                  </a:cubicBezTo>
                  <a:close/>
                </a:path>
              </a:pathLst>
            </a:custGeom>
            <a:solidFill>
              <a:srgbClr val="D8D4D4"/>
            </a:solidFill>
          </p:spPr>
        </p:sp>
      </p:grpSp>
      <p:sp>
        <p:nvSpPr>
          <p:cNvPr name="TextBox 21" id="21"/>
          <p:cNvSpPr txBox="true"/>
          <p:nvPr/>
        </p:nvSpPr>
        <p:spPr>
          <a:xfrm rot="0">
            <a:off x="12371784" y="5377606"/>
            <a:ext cx="3544044"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API Keys &amp; OAuth</a:t>
            </a:r>
          </a:p>
        </p:txBody>
      </p:sp>
      <p:sp>
        <p:nvSpPr>
          <p:cNvPr name="TextBox 22" id="22"/>
          <p:cNvSpPr txBox="true"/>
          <p:nvPr/>
        </p:nvSpPr>
        <p:spPr>
          <a:xfrm rot="0">
            <a:off x="12371784" y="5943005"/>
            <a:ext cx="4602213" cy="1446610"/>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Methods to authenticate users and control access without exposing sensitive credentials.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732532" y="528043"/>
            <a:ext cx="5811590" cy="701725"/>
          </a:xfrm>
          <a:prstGeom prst="rect">
            <a:avLst/>
          </a:prstGeom>
        </p:spPr>
        <p:txBody>
          <a:bodyPr anchor="t" rtlCol="false" tIns="0" lIns="0" bIns="0" rIns="0">
            <a:spAutoFit/>
          </a:bodyPr>
          <a:lstStyle/>
          <a:p>
            <a:pPr algn="l">
              <a:lnSpc>
                <a:spcPts val="5125"/>
              </a:lnSpc>
            </a:pPr>
            <a:r>
              <a:rPr lang="en-US" sz="4062">
                <a:solidFill>
                  <a:srgbClr val="201B18"/>
                </a:solidFill>
                <a:latin typeface="Arimo"/>
                <a:ea typeface="Arimo"/>
                <a:cs typeface="Arimo"/>
                <a:sym typeface="Arimo"/>
              </a:rPr>
              <a:t>Using APIs with Axios:</a:t>
            </a:r>
          </a:p>
        </p:txBody>
      </p:sp>
      <p:grpSp>
        <p:nvGrpSpPr>
          <p:cNvPr name="Group 7" id="7"/>
          <p:cNvGrpSpPr/>
          <p:nvPr/>
        </p:nvGrpSpPr>
        <p:grpSpPr>
          <a:xfrm rot="0">
            <a:off x="732532" y="1648420"/>
            <a:ext cx="16822936" cy="4333875"/>
            <a:chOff x="0" y="0"/>
            <a:chExt cx="22430582" cy="5778500"/>
          </a:xfrm>
        </p:grpSpPr>
        <p:sp>
          <p:nvSpPr>
            <p:cNvPr name="Freeform 8" id="8"/>
            <p:cNvSpPr/>
            <p:nvPr/>
          </p:nvSpPr>
          <p:spPr>
            <a:xfrm flipH="false" flipV="false" rot="0">
              <a:off x="0" y="0"/>
              <a:ext cx="22430614" cy="5778500"/>
            </a:xfrm>
            <a:custGeom>
              <a:avLst/>
              <a:gdLst/>
              <a:ahLst/>
              <a:cxnLst/>
              <a:rect r="r" b="b" t="t" l="l"/>
              <a:pathLst>
                <a:path h="5778500" w="22430614">
                  <a:moveTo>
                    <a:pt x="0" y="41910"/>
                  </a:moveTo>
                  <a:cubicBezTo>
                    <a:pt x="0" y="18796"/>
                    <a:pt x="18796" y="0"/>
                    <a:pt x="41910" y="0"/>
                  </a:cubicBezTo>
                  <a:lnTo>
                    <a:pt x="22388703" y="0"/>
                  </a:lnTo>
                  <a:cubicBezTo>
                    <a:pt x="22411817" y="0"/>
                    <a:pt x="22430614" y="18796"/>
                    <a:pt x="22430614" y="41910"/>
                  </a:cubicBezTo>
                  <a:lnTo>
                    <a:pt x="22430614" y="5736590"/>
                  </a:lnTo>
                  <a:cubicBezTo>
                    <a:pt x="22430614" y="5759704"/>
                    <a:pt x="22411817" y="5778500"/>
                    <a:pt x="22388703" y="5778500"/>
                  </a:cubicBezTo>
                  <a:lnTo>
                    <a:pt x="41910" y="5778500"/>
                  </a:lnTo>
                  <a:cubicBezTo>
                    <a:pt x="18796" y="5778500"/>
                    <a:pt x="0" y="5759704"/>
                    <a:pt x="0" y="5736590"/>
                  </a:cubicBezTo>
                  <a:close/>
                </a:path>
              </a:pathLst>
            </a:custGeom>
            <a:solidFill>
              <a:srgbClr val="F2F2F2"/>
            </a:solidFill>
          </p:spPr>
        </p:sp>
      </p:grpSp>
      <p:grpSp>
        <p:nvGrpSpPr>
          <p:cNvPr name="Group 9" id="9"/>
          <p:cNvGrpSpPr/>
          <p:nvPr/>
        </p:nvGrpSpPr>
        <p:grpSpPr>
          <a:xfrm rot="0">
            <a:off x="722114" y="1648420"/>
            <a:ext cx="16843772" cy="4333875"/>
            <a:chOff x="0" y="0"/>
            <a:chExt cx="22458363" cy="5778500"/>
          </a:xfrm>
        </p:grpSpPr>
        <p:sp>
          <p:nvSpPr>
            <p:cNvPr name="Freeform 10" id="10"/>
            <p:cNvSpPr/>
            <p:nvPr/>
          </p:nvSpPr>
          <p:spPr>
            <a:xfrm flipH="false" flipV="false" rot="0">
              <a:off x="0" y="0"/>
              <a:ext cx="22458426" cy="5778500"/>
            </a:xfrm>
            <a:custGeom>
              <a:avLst/>
              <a:gdLst/>
              <a:ahLst/>
              <a:cxnLst/>
              <a:rect r="r" b="b" t="t" l="l"/>
              <a:pathLst>
                <a:path h="5778500" w="22458426">
                  <a:moveTo>
                    <a:pt x="0" y="41910"/>
                  </a:moveTo>
                  <a:cubicBezTo>
                    <a:pt x="0" y="18796"/>
                    <a:pt x="18796" y="0"/>
                    <a:pt x="41910" y="0"/>
                  </a:cubicBezTo>
                  <a:lnTo>
                    <a:pt x="22416515" y="0"/>
                  </a:lnTo>
                  <a:cubicBezTo>
                    <a:pt x="22439629" y="0"/>
                    <a:pt x="22458426" y="18796"/>
                    <a:pt x="22458426" y="41910"/>
                  </a:cubicBezTo>
                  <a:lnTo>
                    <a:pt x="22458426" y="5736590"/>
                  </a:lnTo>
                  <a:cubicBezTo>
                    <a:pt x="22458426" y="5759704"/>
                    <a:pt x="22439629" y="5778500"/>
                    <a:pt x="22416515" y="5778500"/>
                  </a:cubicBezTo>
                  <a:lnTo>
                    <a:pt x="41910" y="5778500"/>
                  </a:lnTo>
                  <a:cubicBezTo>
                    <a:pt x="18796" y="5778500"/>
                    <a:pt x="0" y="5759704"/>
                    <a:pt x="0" y="5736590"/>
                  </a:cubicBezTo>
                  <a:close/>
                </a:path>
              </a:pathLst>
            </a:custGeom>
            <a:solidFill>
              <a:srgbClr val="F2F2F2"/>
            </a:solidFill>
          </p:spPr>
        </p:sp>
      </p:grpSp>
      <p:sp>
        <p:nvSpPr>
          <p:cNvPr name="TextBox 11" id="11"/>
          <p:cNvSpPr txBox="true"/>
          <p:nvPr/>
        </p:nvSpPr>
        <p:spPr>
          <a:xfrm rot="0">
            <a:off x="931366" y="1710035"/>
            <a:ext cx="14902485" cy="4279182"/>
          </a:xfrm>
          <a:prstGeom prst="rect">
            <a:avLst/>
          </a:prstGeom>
        </p:spPr>
        <p:txBody>
          <a:bodyPr anchor="t" rtlCol="false" tIns="0" lIns="0" bIns="0" rIns="0">
            <a:spAutoFit/>
          </a:bodyPr>
          <a:lstStyle/>
          <a:p>
            <a:pPr algn="l">
              <a:lnSpc>
                <a:spcPts val="2656"/>
              </a:lnSpc>
            </a:pPr>
            <a:r>
              <a:rPr lang="en-US" sz="1644">
                <a:solidFill>
                  <a:srgbClr val="504C49"/>
                </a:solidFill>
                <a:latin typeface="Consolas"/>
                <a:ea typeface="Consolas"/>
                <a:cs typeface="Consolas"/>
                <a:sym typeface="Consolas"/>
              </a:rPr>
              <a:t>import axios from 'axios';</a:t>
            </a:r>
          </a:p>
          <a:p>
            <a:pPr algn="l">
              <a:lnSpc>
                <a:spcPts val="2656"/>
              </a:lnSpc>
            </a:pPr>
            <a:r>
              <a:rPr lang="en-US" sz="1644">
                <a:solidFill>
                  <a:srgbClr val="504C49"/>
                </a:solidFill>
                <a:latin typeface="Consolas"/>
                <a:ea typeface="Consolas"/>
                <a:cs typeface="Consolas"/>
                <a:sym typeface="Consolas"/>
              </a:rPr>
              <a:t>async function getUserData(userId) {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try {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const response = await axios.get(`https://api.example.com/users/${userId}`);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console.log('User data:', response.data);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return response.data;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catch (error) {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console.error('Error fetching user data:', error);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throw error;  </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a:t>
            </a:r>
          </a:p>
          <a:p>
            <a:pPr algn="l">
              <a:lnSpc>
                <a:spcPts val="2656"/>
              </a:lnSpc>
            </a:pPr>
            <a:r>
              <a:rPr lang="en-US" sz="1644">
                <a:solidFill>
                  <a:srgbClr val="504C49"/>
                </a:solidFill>
                <a:latin typeface="Consolas"/>
                <a:ea typeface="Consolas"/>
                <a:cs typeface="Consolas"/>
                <a:sym typeface="Consolas"/>
              </a:rPr>
              <a:t>  </a:t>
            </a:r>
            <a:r>
              <a:rPr lang="en-US" sz="1644">
                <a:solidFill>
                  <a:srgbClr val="504C49"/>
                </a:solidFill>
                <a:latin typeface="Consolas"/>
                <a:ea typeface="Consolas"/>
                <a:cs typeface="Consolas"/>
                <a:sym typeface="Consolas"/>
              </a:rPr>
              <a:t>}</a:t>
            </a:r>
          </a:p>
          <a:p>
            <a:pPr algn="l">
              <a:lnSpc>
                <a:spcPts val="2656"/>
              </a:lnSpc>
            </a:pPr>
            <a:r>
              <a:rPr lang="en-US" sz="1644">
                <a:solidFill>
                  <a:srgbClr val="504C49"/>
                </a:solidFill>
                <a:latin typeface="Consolas"/>
                <a:ea typeface="Consolas"/>
                <a:cs typeface="Consolas"/>
                <a:sym typeface="Consolas"/>
              </a:rPr>
              <a:t>getUserData(123); </a:t>
            </a:r>
          </a:p>
        </p:txBody>
      </p:sp>
      <p:sp>
        <p:nvSpPr>
          <p:cNvPr name="TextBox 12" id="12"/>
          <p:cNvSpPr txBox="true"/>
          <p:nvPr/>
        </p:nvSpPr>
        <p:spPr>
          <a:xfrm rot="0">
            <a:off x="732532" y="6277124"/>
            <a:ext cx="2954239" cy="346025"/>
          </a:xfrm>
          <a:prstGeom prst="rect">
            <a:avLst/>
          </a:prstGeom>
        </p:spPr>
        <p:txBody>
          <a:bodyPr anchor="t" rtlCol="false" tIns="0" lIns="0" bIns="0" rIns="0">
            <a:spAutoFit/>
          </a:bodyPr>
          <a:lstStyle/>
          <a:p>
            <a:pPr algn="l">
              <a:lnSpc>
                <a:spcPts val="2562"/>
              </a:lnSpc>
            </a:pPr>
            <a:r>
              <a:rPr lang="en-US" sz="2000">
                <a:solidFill>
                  <a:srgbClr val="201B18"/>
                </a:solidFill>
                <a:latin typeface="Arimo"/>
                <a:ea typeface="Arimo"/>
                <a:cs typeface="Arimo"/>
                <a:sym typeface="Arimo"/>
              </a:rPr>
              <a:t>Making API Calls in JS:</a:t>
            </a:r>
          </a:p>
        </p:txBody>
      </p:sp>
      <p:sp>
        <p:nvSpPr>
          <p:cNvPr name="TextBox 13" id="13"/>
          <p:cNvSpPr txBox="true"/>
          <p:nvPr/>
        </p:nvSpPr>
        <p:spPr>
          <a:xfrm rot="0">
            <a:off x="732532" y="6870352"/>
            <a:ext cx="16822936" cy="746224"/>
          </a:xfrm>
          <a:prstGeom prst="rect">
            <a:avLst/>
          </a:prstGeom>
        </p:spPr>
        <p:txBody>
          <a:bodyPr anchor="t" rtlCol="false" tIns="0" lIns="0" bIns="0" rIns="0">
            <a:spAutoFit/>
          </a:bodyPr>
          <a:lstStyle/>
          <a:p>
            <a:pPr algn="l">
              <a:lnSpc>
                <a:spcPts val="2625"/>
              </a:lnSpc>
            </a:pPr>
            <a:r>
              <a:rPr lang="en-US" sz="1625">
                <a:solidFill>
                  <a:srgbClr val="504C49"/>
                </a:solidFill>
                <a:latin typeface="Source Serif Pro"/>
                <a:ea typeface="Source Serif Pro"/>
                <a:cs typeface="Source Serif Pro"/>
                <a:sym typeface="Source Serif Pro"/>
              </a:rPr>
              <a:t>Axios is a promise-based HTTP client for making API requests from a browser or Node.js. It simplifies sending asynchronous HTTP requests to REST endpoints and handling their responses.</a:t>
            </a:r>
          </a:p>
        </p:txBody>
      </p:sp>
      <p:sp>
        <p:nvSpPr>
          <p:cNvPr name="TextBox 14" id="14"/>
          <p:cNvSpPr txBox="true"/>
          <p:nvPr/>
        </p:nvSpPr>
        <p:spPr>
          <a:xfrm rot="0">
            <a:off x="732532" y="7785347"/>
            <a:ext cx="16822936" cy="755749"/>
          </a:xfrm>
          <a:prstGeom prst="rect">
            <a:avLst/>
          </a:prstGeom>
        </p:spPr>
        <p:txBody>
          <a:bodyPr anchor="t" rtlCol="false" tIns="0" lIns="0" bIns="0" rIns="0">
            <a:spAutoFit/>
          </a:bodyPr>
          <a:lstStyle/>
          <a:p>
            <a:pPr algn="l" marL="245070" indent="-122535" lvl="1">
              <a:lnSpc>
                <a:spcPts val="2625"/>
              </a:lnSpc>
              <a:buFont typeface="Arial"/>
              <a:buChar char="•"/>
            </a:pPr>
            <a:r>
              <a:rPr lang="en-US" b="true" sz="1625">
                <a:solidFill>
                  <a:srgbClr val="504C49"/>
                </a:solidFill>
                <a:latin typeface="Source Serif Pro Bold"/>
                <a:ea typeface="Source Serif Pro Bold"/>
                <a:cs typeface="Source Serif Pro Bold"/>
                <a:sym typeface="Source Serif Pro Bold"/>
              </a:rPr>
              <a:t>Request</a:t>
            </a:r>
            <a:r>
              <a:rPr lang="en-US" sz="1625">
                <a:solidFill>
                  <a:srgbClr val="504C49"/>
                </a:solidFill>
                <a:latin typeface="Source Serif Pro"/>
                <a:ea typeface="Source Serif Pro"/>
                <a:cs typeface="Source Serif Pro"/>
                <a:sym typeface="Source Serif Pro"/>
              </a:rPr>
              <a:t>: The axios.get() method sends an HTTP GET request to the specified URL. For other HTTP methods like POST, PUT, or DELETE, you would use axios.post(), axios.put(), or axios.delete() respectively.</a:t>
            </a:r>
          </a:p>
        </p:txBody>
      </p:sp>
      <p:sp>
        <p:nvSpPr>
          <p:cNvPr name="TextBox 15" id="15"/>
          <p:cNvSpPr txBox="true"/>
          <p:nvPr/>
        </p:nvSpPr>
        <p:spPr>
          <a:xfrm rot="0">
            <a:off x="732532" y="8547646"/>
            <a:ext cx="16822936" cy="755749"/>
          </a:xfrm>
          <a:prstGeom prst="rect">
            <a:avLst/>
          </a:prstGeom>
        </p:spPr>
        <p:txBody>
          <a:bodyPr anchor="t" rtlCol="false" tIns="0" lIns="0" bIns="0" rIns="0">
            <a:spAutoFit/>
          </a:bodyPr>
          <a:lstStyle/>
          <a:p>
            <a:pPr algn="l" marL="245070" indent="-122535" lvl="1">
              <a:lnSpc>
                <a:spcPts val="2625"/>
              </a:lnSpc>
              <a:buFont typeface="Arial"/>
              <a:buChar char="•"/>
            </a:pPr>
            <a:r>
              <a:rPr lang="en-US" b="true" sz="1625">
                <a:solidFill>
                  <a:srgbClr val="504C49"/>
                </a:solidFill>
                <a:latin typeface="Source Serif Pro Bold"/>
                <a:ea typeface="Source Serif Pro Bold"/>
                <a:cs typeface="Source Serif Pro Bold"/>
                <a:sym typeface="Source Serif Pro Bold"/>
              </a:rPr>
              <a:t>Response Handling</a:t>
            </a:r>
            <a:r>
              <a:rPr lang="en-US" sz="1625">
                <a:solidFill>
                  <a:srgbClr val="504C49"/>
                </a:solidFill>
                <a:latin typeface="Source Serif Pro"/>
                <a:ea typeface="Source Serif Pro"/>
                <a:cs typeface="Source Serif Pro"/>
                <a:sym typeface="Source Serif Pro"/>
              </a:rPr>
              <a:t>: The await keyword pauses execution until the promise returned by axios.get() is resolved, allowing us to process the response object. The actual data payload is typically found in response.data.</a:t>
            </a:r>
          </a:p>
        </p:txBody>
      </p:sp>
      <p:sp>
        <p:nvSpPr>
          <p:cNvPr name="TextBox 16" id="16"/>
          <p:cNvSpPr txBox="true"/>
          <p:nvPr/>
        </p:nvSpPr>
        <p:spPr>
          <a:xfrm rot="0">
            <a:off x="732532" y="9309944"/>
            <a:ext cx="16822936" cy="411212"/>
          </a:xfrm>
          <a:prstGeom prst="rect">
            <a:avLst/>
          </a:prstGeom>
        </p:spPr>
        <p:txBody>
          <a:bodyPr anchor="t" rtlCol="false" tIns="0" lIns="0" bIns="0" rIns="0">
            <a:spAutoFit/>
          </a:bodyPr>
          <a:lstStyle/>
          <a:p>
            <a:pPr algn="l" marL="245070" indent="-122535" lvl="1">
              <a:lnSpc>
                <a:spcPts val="2625"/>
              </a:lnSpc>
              <a:buFont typeface="Arial"/>
              <a:buChar char="•"/>
            </a:pPr>
            <a:r>
              <a:rPr lang="en-US" b="true" sz="1625">
                <a:solidFill>
                  <a:srgbClr val="504C49"/>
                </a:solidFill>
                <a:latin typeface="Source Serif Pro Bold"/>
                <a:ea typeface="Source Serif Pro Bold"/>
                <a:cs typeface="Source Serif Pro Bold"/>
                <a:sym typeface="Source Serif Pro Bold"/>
              </a:rPr>
              <a:t>Error Handling</a:t>
            </a:r>
            <a:r>
              <a:rPr lang="en-US" sz="1625">
                <a:solidFill>
                  <a:srgbClr val="504C49"/>
                </a:solidFill>
                <a:latin typeface="Source Serif Pro"/>
                <a:ea typeface="Source Serif Pro"/>
                <a:cs typeface="Source Serif Pro"/>
                <a:sym typeface="Source Serif Pro"/>
              </a:rPr>
              <a:t>: The try...catch block is crucial for gracefully managing potential errors.</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504652"/>
            <a:ext cx="16112729" cy="943124"/>
          </a:xfrm>
          <a:prstGeom prst="rect">
            <a:avLst/>
          </a:prstGeom>
        </p:spPr>
        <p:txBody>
          <a:bodyPr anchor="t" rtlCol="false" tIns="0" lIns="0" bIns="0" rIns="0">
            <a:spAutoFit/>
          </a:bodyPr>
          <a:lstStyle/>
          <a:p>
            <a:pPr algn="l">
              <a:lnSpc>
                <a:spcPts val="6937"/>
              </a:lnSpc>
            </a:pPr>
            <a:r>
              <a:rPr lang="en-US" sz="5562">
                <a:solidFill>
                  <a:srgbClr val="201B18"/>
                </a:solidFill>
                <a:latin typeface="Arimo"/>
                <a:ea typeface="Arimo"/>
                <a:cs typeface="Arimo"/>
                <a:sym typeface="Arimo"/>
              </a:rPr>
              <a:t>APIs: The Foundation of Modern Development</a:t>
            </a:r>
          </a:p>
        </p:txBody>
      </p:sp>
      <p:sp>
        <p:nvSpPr>
          <p:cNvPr name="TextBox 7" id="7"/>
          <p:cNvSpPr txBox="true"/>
          <p:nvPr/>
        </p:nvSpPr>
        <p:spPr>
          <a:xfrm rot="0">
            <a:off x="992238" y="2787254"/>
            <a:ext cx="16303526" cy="992981"/>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APIs are the backbone of today's interconnected digital world. They enable seamless integration, efficient code reuse, and secure data exchange across applications and services.</a:t>
            </a:r>
          </a:p>
        </p:txBody>
      </p:sp>
      <p:grpSp>
        <p:nvGrpSpPr>
          <p:cNvPr name="Group 8" id="8"/>
          <p:cNvGrpSpPr/>
          <p:nvPr/>
        </p:nvGrpSpPr>
        <p:grpSpPr>
          <a:xfrm rot="0">
            <a:off x="992238" y="4099172"/>
            <a:ext cx="637878" cy="637878"/>
            <a:chOff x="0" y="0"/>
            <a:chExt cx="850503" cy="850503"/>
          </a:xfrm>
        </p:grpSpPr>
        <p:sp>
          <p:nvSpPr>
            <p:cNvPr name="Freeform 9" id="9"/>
            <p:cNvSpPr/>
            <p:nvPr/>
          </p:nvSpPr>
          <p:spPr>
            <a:xfrm flipH="false" flipV="false" rot="0">
              <a:off x="0" y="0"/>
              <a:ext cx="850392" cy="850519"/>
            </a:xfrm>
            <a:custGeom>
              <a:avLst/>
              <a:gdLst/>
              <a:ahLst/>
              <a:cxnLst/>
              <a:rect r="r" b="b" t="t" l="l"/>
              <a:pathLst>
                <a:path h="850519" w="850392">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F9F7F7"/>
            </a:solidFill>
          </p:spPr>
        </p:sp>
      </p:grpSp>
      <p:sp>
        <p:nvSpPr>
          <p:cNvPr name="TextBox 10" id="10"/>
          <p:cNvSpPr txBox="true"/>
          <p:nvPr/>
        </p:nvSpPr>
        <p:spPr>
          <a:xfrm rot="0">
            <a:off x="1098575" y="4190405"/>
            <a:ext cx="425202" cy="493514"/>
          </a:xfrm>
          <a:prstGeom prst="rect">
            <a:avLst/>
          </a:prstGeom>
        </p:spPr>
        <p:txBody>
          <a:bodyPr anchor="t" rtlCol="false" tIns="0" lIns="0" bIns="0" rIns="0">
            <a:spAutoFit/>
          </a:bodyPr>
          <a:lstStyle/>
          <a:p>
            <a:pPr algn="ctr">
              <a:lnSpc>
                <a:spcPts val="3312"/>
              </a:lnSpc>
            </a:pPr>
            <a:r>
              <a:rPr lang="en-US" sz="3312">
                <a:solidFill>
                  <a:srgbClr val="504C49"/>
                </a:solidFill>
                <a:latin typeface="Arimo"/>
                <a:ea typeface="Arimo"/>
                <a:cs typeface="Arimo"/>
                <a:sym typeface="Arimo"/>
              </a:rPr>
              <a:t>1</a:t>
            </a:r>
          </a:p>
        </p:txBody>
      </p:sp>
      <p:sp>
        <p:nvSpPr>
          <p:cNvPr name="TextBox 11" id="11"/>
          <p:cNvSpPr txBox="true"/>
          <p:nvPr/>
        </p:nvSpPr>
        <p:spPr>
          <a:xfrm rot="0">
            <a:off x="1913632" y="4158406"/>
            <a:ext cx="7011292"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Understand the request-response model</a:t>
            </a:r>
          </a:p>
        </p:txBody>
      </p:sp>
      <p:sp>
        <p:nvSpPr>
          <p:cNvPr name="TextBox 12" id="12"/>
          <p:cNvSpPr txBox="true"/>
          <p:nvPr/>
        </p:nvSpPr>
        <p:spPr>
          <a:xfrm rot="0">
            <a:off x="1913632" y="4723805"/>
            <a:ext cx="15382131"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Master how clients and servers communicate through APIs.</a:t>
            </a:r>
          </a:p>
        </p:txBody>
      </p:sp>
      <p:grpSp>
        <p:nvGrpSpPr>
          <p:cNvPr name="Group 13" id="13"/>
          <p:cNvGrpSpPr/>
          <p:nvPr/>
        </p:nvGrpSpPr>
        <p:grpSpPr>
          <a:xfrm rot="0">
            <a:off x="992238" y="5830192"/>
            <a:ext cx="637878" cy="637877"/>
            <a:chOff x="0" y="0"/>
            <a:chExt cx="850503" cy="850503"/>
          </a:xfrm>
        </p:grpSpPr>
        <p:sp>
          <p:nvSpPr>
            <p:cNvPr name="Freeform 14" id="14"/>
            <p:cNvSpPr/>
            <p:nvPr/>
          </p:nvSpPr>
          <p:spPr>
            <a:xfrm flipH="false" flipV="false" rot="0">
              <a:off x="0" y="0"/>
              <a:ext cx="850392" cy="850519"/>
            </a:xfrm>
            <a:custGeom>
              <a:avLst/>
              <a:gdLst/>
              <a:ahLst/>
              <a:cxnLst/>
              <a:rect r="r" b="b" t="t" l="l"/>
              <a:pathLst>
                <a:path h="850519" w="850392">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F9F7F7"/>
            </a:solidFill>
          </p:spPr>
        </p:sp>
      </p:grpSp>
      <p:sp>
        <p:nvSpPr>
          <p:cNvPr name="TextBox 15" id="15"/>
          <p:cNvSpPr txBox="true"/>
          <p:nvPr/>
        </p:nvSpPr>
        <p:spPr>
          <a:xfrm rot="0">
            <a:off x="1098575" y="5921425"/>
            <a:ext cx="425202" cy="493514"/>
          </a:xfrm>
          <a:prstGeom prst="rect">
            <a:avLst/>
          </a:prstGeom>
        </p:spPr>
        <p:txBody>
          <a:bodyPr anchor="t" rtlCol="false" tIns="0" lIns="0" bIns="0" rIns="0">
            <a:spAutoFit/>
          </a:bodyPr>
          <a:lstStyle/>
          <a:p>
            <a:pPr algn="ctr">
              <a:lnSpc>
                <a:spcPts val="3312"/>
              </a:lnSpc>
            </a:pPr>
            <a:r>
              <a:rPr lang="en-US" sz="3312">
                <a:solidFill>
                  <a:srgbClr val="504C49"/>
                </a:solidFill>
                <a:latin typeface="Arimo"/>
                <a:ea typeface="Arimo"/>
                <a:cs typeface="Arimo"/>
                <a:sym typeface="Arimo"/>
              </a:rPr>
              <a:t>2</a:t>
            </a:r>
          </a:p>
        </p:txBody>
      </p:sp>
      <p:sp>
        <p:nvSpPr>
          <p:cNvPr name="TextBox 16" id="16"/>
          <p:cNvSpPr txBox="true"/>
          <p:nvPr/>
        </p:nvSpPr>
        <p:spPr>
          <a:xfrm rot="0">
            <a:off x="1913632" y="5889426"/>
            <a:ext cx="7314159"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Learn REST principles and HTTP methods</a:t>
            </a:r>
          </a:p>
        </p:txBody>
      </p:sp>
      <p:sp>
        <p:nvSpPr>
          <p:cNvPr name="TextBox 17" id="17"/>
          <p:cNvSpPr txBox="true"/>
          <p:nvPr/>
        </p:nvSpPr>
        <p:spPr>
          <a:xfrm rot="0">
            <a:off x="1913632" y="6454825"/>
            <a:ext cx="15382131"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Build scalable, reliable, and maintainable APIs following industry standards.</a:t>
            </a:r>
          </a:p>
        </p:txBody>
      </p:sp>
      <p:grpSp>
        <p:nvGrpSpPr>
          <p:cNvPr name="Group 18" id="18"/>
          <p:cNvGrpSpPr/>
          <p:nvPr/>
        </p:nvGrpSpPr>
        <p:grpSpPr>
          <a:xfrm rot="0">
            <a:off x="992238" y="7561212"/>
            <a:ext cx="637878" cy="637877"/>
            <a:chOff x="0" y="0"/>
            <a:chExt cx="850503" cy="850503"/>
          </a:xfrm>
        </p:grpSpPr>
        <p:sp>
          <p:nvSpPr>
            <p:cNvPr name="Freeform 19" id="19"/>
            <p:cNvSpPr/>
            <p:nvPr/>
          </p:nvSpPr>
          <p:spPr>
            <a:xfrm flipH="false" flipV="false" rot="0">
              <a:off x="0" y="0"/>
              <a:ext cx="850392" cy="850519"/>
            </a:xfrm>
            <a:custGeom>
              <a:avLst/>
              <a:gdLst/>
              <a:ahLst/>
              <a:cxnLst/>
              <a:rect r="r" b="b" t="t" l="l"/>
              <a:pathLst>
                <a:path h="850519" w="850392">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F9F7F7"/>
            </a:solidFill>
          </p:spPr>
        </p:sp>
      </p:grpSp>
      <p:sp>
        <p:nvSpPr>
          <p:cNvPr name="TextBox 20" id="20"/>
          <p:cNvSpPr txBox="true"/>
          <p:nvPr/>
        </p:nvSpPr>
        <p:spPr>
          <a:xfrm rot="0">
            <a:off x="1098575" y="7652445"/>
            <a:ext cx="425202" cy="493514"/>
          </a:xfrm>
          <a:prstGeom prst="rect">
            <a:avLst/>
          </a:prstGeom>
        </p:spPr>
        <p:txBody>
          <a:bodyPr anchor="t" rtlCol="false" tIns="0" lIns="0" bIns="0" rIns="0">
            <a:spAutoFit/>
          </a:bodyPr>
          <a:lstStyle/>
          <a:p>
            <a:pPr algn="ctr">
              <a:lnSpc>
                <a:spcPts val="3312"/>
              </a:lnSpc>
            </a:pPr>
            <a:r>
              <a:rPr lang="en-US" sz="3312">
                <a:solidFill>
                  <a:srgbClr val="504C49"/>
                </a:solidFill>
                <a:latin typeface="Arimo"/>
                <a:ea typeface="Arimo"/>
                <a:cs typeface="Arimo"/>
                <a:sym typeface="Arimo"/>
              </a:rPr>
              <a:t>3</a:t>
            </a:r>
          </a:p>
        </p:txBody>
      </p:sp>
      <p:sp>
        <p:nvSpPr>
          <p:cNvPr name="TextBox 21" id="21"/>
          <p:cNvSpPr txBox="true"/>
          <p:nvPr/>
        </p:nvSpPr>
        <p:spPr>
          <a:xfrm rot="0">
            <a:off x="1913632" y="7620446"/>
            <a:ext cx="6707089" cy="481012"/>
          </a:xfrm>
          <a:prstGeom prst="rect">
            <a:avLst/>
          </a:prstGeom>
        </p:spPr>
        <p:txBody>
          <a:bodyPr anchor="t" rtlCol="false" tIns="0" lIns="0" bIns="0" rIns="0">
            <a:spAutoFit/>
          </a:bodyPr>
          <a:lstStyle/>
          <a:p>
            <a:pPr algn="l">
              <a:lnSpc>
                <a:spcPts val="3437"/>
              </a:lnSpc>
            </a:pPr>
            <a:r>
              <a:rPr lang="en-US" sz="2750">
                <a:solidFill>
                  <a:srgbClr val="504C49"/>
                </a:solidFill>
                <a:latin typeface="Arimo"/>
                <a:ea typeface="Arimo"/>
                <a:cs typeface="Arimo"/>
                <a:sym typeface="Arimo"/>
              </a:rPr>
              <a:t>Prioritize security with authentication</a:t>
            </a:r>
          </a:p>
        </p:txBody>
      </p:sp>
      <p:sp>
        <p:nvSpPr>
          <p:cNvPr name="TextBox 22" id="22"/>
          <p:cNvSpPr txBox="true"/>
          <p:nvPr/>
        </p:nvSpPr>
        <p:spPr>
          <a:xfrm rot="0">
            <a:off x="1913632" y="8185845"/>
            <a:ext cx="15382131" cy="539354"/>
          </a:xfrm>
          <a:prstGeom prst="rect">
            <a:avLst/>
          </a:prstGeom>
        </p:spPr>
        <p:txBody>
          <a:bodyPr anchor="t" rtlCol="false" tIns="0" lIns="0" bIns="0" rIns="0">
            <a:spAutoFit/>
          </a:bodyPr>
          <a:lstStyle/>
          <a:p>
            <a:pPr algn="l">
              <a:lnSpc>
                <a:spcPts val="3562"/>
              </a:lnSpc>
            </a:pPr>
            <a:r>
              <a:rPr lang="en-US" sz="2187">
                <a:solidFill>
                  <a:srgbClr val="504C49"/>
                </a:solidFill>
                <a:latin typeface="Source Serif Pro"/>
                <a:ea typeface="Source Serif Pro"/>
                <a:cs typeface="Source Serif Pro"/>
                <a:sym typeface="Source Serif Pro"/>
              </a:rPr>
              <a:t>Protect data and control access through proper authentication mechanisms.</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54286" y="958603"/>
            <a:ext cx="10495509" cy="899666"/>
          </a:xfrm>
          <a:prstGeom prst="rect">
            <a:avLst/>
          </a:prstGeom>
        </p:spPr>
        <p:txBody>
          <a:bodyPr anchor="t" rtlCol="false" tIns="0" lIns="0" bIns="0" rIns="0">
            <a:spAutoFit/>
          </a:bodyPr>
          <a:lstStyle/>
          <a:p>
            <a:pPr algn="l">
              <a:lnSpc>
                <a:spcPts val="6687"/>
              </a:lnSpc>
            </a:pPr>
            <a:r>
              <a:rPr lang="en-US" sz="5312">
                <a:solidFill>
                  <a:srgbClr val="201B18"/>
                </a:solidFill>
                <a:latin typeface="Arimo"/>
                <a:ea typeface="Arimo"/>
                <a:cs typeface="Arimo"/>
                <a:sym typeface="Arimo"/>
              </a:rPr>
              <a:t>REST vs. SOAP: Key Differences</a:t>
            </a:r>
          </a:p>
        </p:txBody>
      </p:sp>
      <p:sp>
        <p:nvSpPr>
          <p:cNvPr name="TextBox 7" id="7"/>
          <p:cNvSpPr txBox="true"/>
          <p:nvPr/>
        </p:nvSpPr>
        <p:spPr>
          <a:xfrm rot="0">
            <a:off x="954286" y="2501801"/>
            <a:ext cx="7842647" cy="549325"/>
          </a:xfrm>
          <a:prstGeom prst="rect">
            <a:avLst/>
          </a:prstGeom>
        </p:spPr>
        <p:txBody>
          <a:bodyPr anchor="t" rtlCol="false" tIns="0" lIns="0" bIns="0" rIns="0">
            <a:spAutoFit/>
          </a:bodyPr>
          <a:lstStyle/>
          <a:p>
            <a:pPr algn="l">
              <a:lnSpc>
                <a:spcPts val="3999"/>
              </a:lnSpc>
            </a:pPr>
            <a:r>
              <a:rPr lang="en-US" sz="3187">
                <a:solidFill>
                  <a:srgbClr val="201B18"/>
                </a:solidFill>
                <a:latin typeface="Arimo"/>
                <a:ea typeface="Arimo"/>
                <a:cs typeface="Arimo"/>
                <a:sym typeface="Arimo"/>
              </a:rPr>
              <a:t>REST (Representational State Transfer)</a:t>
            </a:r>
          </a:p>
        </p:txBody>
      </p:sp>
      <p:sp>
        <p:nvSpPr>
          <p:cNvPr name="TextBox 8" id="8"/>
          <p:cNvSpPr txBox="true"/>
          <p:nvPr/>
        </p:nvSpPr>
        <p:spPr>
          <a:xfrm rot="0">
            <a:off x="954286" y="3247579"/>
            <a:ext cx="7857084" cy="1384846"/>
          </a:xfrm>
          <a:prstGeom prst="rect">
            <a:avLst/>
          </a:prstGeom>
        </p:spPr>
        <p:txBody>
          <a:bodyPr anchor="t" rtlCol="false" tIns="0" lIns="0" bIns="0" rIns="0">
            <a:spAutoFit/>
          </a:bodyPr>
          <a:lstStyle/>
          <a:p>
            <a:pPr algn="l">
              <a:lnSpc>
                <a:spcPts val="3374"/>
              </a:lnSpc>
            </a:pPr>
            <a:r>
              <a:rPr lang="en-US" sz="2125">
                <a:solidFill>
                  <a:srgbClr val="504C49"/>
                </a:solidFill>
                <a:latin typeface="Source Serif Pro"/>
                <a:ea typeface="Source Serif Pro"/>
                <a:cs typeface="Source Serif Pro"/>
                <a:sym typeface="Source Serif Pro"/>
              </a:rPr>
              <a:t>A flexible and lightweight architectural style that relies on standard HTTP methods. It's often preferred for web applications due to its simplicity and scalability.</a:t>
            </a:r>
          </a:p>
        </p:txBody>
      </p:sp>
      <p:sp>
        <p:nvSpPr>
          <p:cNvPr name="TextBox 9" id="9"/>
          <p:cNvSpPr txBox="true"/>
          <p:nvPr/>
        </p:nvSpPr>
        <p:spPr>
          <a:xfrm rot="0">
            <a:off x="954286" y="4801492"/>
            <a:ext cx="7857084" cy="948630"/>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Architectural Style:</a:t>
            </a:r>
            <a:r>
              <a:rPr lang="en-US" sz="2125">
                <a:solidFill>
                  <a:srgbClr val="504C49"/>
                </a:solidFill>
                <a:latin typeface="Source Serif Pro"/>
                <a:ea typeface="Source Serif Pro"/>
                <a:cs typeface="Source Serif Pro"/>
                <a:sym typeface="Source Serif Pro"/>
              </a:rPr>
              <a:t> Not a protocol, but a set of guidelines.</a:t>
            </a:r>
          </a:p>
        </p:txBody>
      </p:sp>
      <p:sp>
        <p:nvSpPr>
          <p:cNvPr name="TextBox 10" id="10"/>
          <p:cNvSpPr txBox="true"/>
          <p:nvPr/>
        </p:nvSpPr>
        <p:spPr>
          <a:xfrm rot="0">
            <a:off x="954286" y="5769322"/>
            <a:ext cx="7857084" cy="948630"/>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Communication:</a:t>
            </a:r>
            <a:r>
              <a:rPr lang="en-US" sz="2125">
                <a:solidFill>
                  <a:srgbClr val="504C49"/>
                </a:solidFill>
                <a:latin typeface="Source Serif Pro"/>
                <a:ea typeface="Source Serif Pro"/>
                <a:cs typeface="Source Serif Pro"/>
                <a:sym typeface="Source Serif Pro"/>
              </a:rPr>
              <a:t> Uses standard HTTP methods (GET, POST, PUT, DELETE).</a:t>
            </a:r>
          </a:p>
        </p:txBody>
      </p:sp>
      <p:sp>
        <p:nvSpPr>
          <p:cNvPr name="TextBox 11" id="11"/>
          <p:cNvSpPr txBox="true"/>
          <p:nvPr/>
        </p:nvSpPr>
        <p:spPr>
          <a:xfrm rot="0">
            <a:off x="954286" y="6737151"/>
            <a:ext cx="7857084" cy="948630"/>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Data Format:</a:t>
            </a:r>
            <a:r>
              <a:rPr lang="en-US" sz="2125">
                <a:solidFill>
                  <a:srgbClr val="504C49"/>
                </a:solidFill>
                <a:latin typeface="Source Serif Pro"/>
                <a:ea typeface="Source Serif Pro"/>
                <a:cs typeface="Source Serif Pro"/>
                <a:sym typeface="Source Serif Pro"/>
              </a:rPr>
              <a:t> Supports multiple formats (JSON, XML, plain text, HTML).</a:t>
            </a:r>
          </a:p>
        </p:txBody>
      </p:sp>
      <p:sp>
        <p:nvSpPr>
          <p:cNvPr name="TextBox 12" id="12"/>
          <p:cNvSpPr txBox="true"/>
          <p:nvPr/>
        </p:nvSpPr>
        <p:spPr>
          <a:xfrm rot="0">
            <a:off x="954286" y="7704981"/>
            <a:ext cx="7857084" cy="512415"/>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Statefulness:</a:t>
            </a:r>
            <a:r>
              <a:rPr lang="en-US" sz="2125">
                <a:solidFill>
                  <a:srgbClr val="504C49"/>
                </a:solidFill>
                <a:latin typeface="Source Serif Pro"/>
                <a:ea typeface="Source Serif Pro"/>
                <a:cs typeface="Source Serif Pro"/>
                <a:sym typeface="Source Serif Pro"/>
              </a:rPr>
              <a:t> Typically stateless, making it scalable.</a:t>
            </a:r>
          </a:p>
        </p:txBody>
      </p:sp>
      <p:sp>
        <p:nvSpPr>
          <p:cNvPr name="TextBox 13" id="13"/>
          <p:cNvSpPr txBox="true"/>
          <p:nvPr/>
        </p:nvSpPr>
        <p:spPr>
          <a:xfrm rot="0">
            <a:off x="954286" y="8236595"/>
            <a:ext cx="7857084" cy="948630"/>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Complexity:</a:t>
            </a:r>
            <a:r>
              <a:rPr lang="en-US" sz="2125">
                <a:solidFill>
                  <a:srgbClr val="504C49"/>
                </a:solidFill>
                <a:latin typeface="Source Serif Pro"/>
                <a:ea typeface="Source Serif Pro"/>
                <a:cs typeface="Source Serif Pro"/>
                <a:sym typeface="Source Serif Pro"/>
              </a:rPr>
              <a:t> Generally simpler to implement and consume.</a:t>
            </a:r>
          </a:p>
        </p:txBody>
      </p:sp>
      <p:sp>
        <p:nvSpPr>
          <p:cNvPr name="TextBox 14" id="14"/>
          <p:cNvSpPr txBox="true"/>
          <p:nvPr/>
        </p:nvSpPr>
        <p:spPr>
          <a:xfrm rot="0">
            <a:off x="9486156" y="2501801"/>
            <a:ext cx="7532638" cy="549325"/>
          </a:xfrm>
          <a:prstGeom prst="rect">
            <a:avLst/>
          </a:prstGeom>
        </p:spPr>
        <p:txBody>
          <a:bodyPr anchor="t" rtlCol="false" tIns="0" lIns="0" bIns="0" rIns="0">
            <a:spAutoFit/>
          </a:bodyPr>
          <a:lstStyle/>
          <a:p>
            <a:pPr algn="l">
              <a:lnSpc>
                <a:spcPts val="3999"/>
              </a:lnSpc>
            </a:pPr>
            <a:r>
              <a:rPr lang="en-US" sz="3187">
                <a:solidFill>
                  <a:srgbClr val="201B18"/>
                </a:solidFill>
                <a:latin typeface="Arimo"/>
                <a:ea typeface="Arimo"/>
                <a:cs typeface="Arimo"/>
                <a:sym typeface="Arimo"/>
              </a:rPr>
              <a:t>SOAP (Simple Object Access Protocol)</a:t>
            </a:r>
          </a:p>
        </p:txBody>
      </p:sp>
      <p:sp>
        <p:nvSpPr>
          <p:cNvPr name="TextBox 15" id="15"/>
          <p:cNvSpPr txBox="true"/>
          <p:nvPr/>
        </p:nvSpPr>
        <p:spPr>
          <a:xfrm rot="0">
            <a:off x="9486156" y="3247579"/>
            <a:ext cx="7857084" cy="1384846"/>
          </a:xfrm>
          <a:prstGeom prst="rect">
            <a:avLst/>
          </a:prstGeom>
        </p:spPr>
        <p:txBody>
          <a:bodyPr anchor="t" rtlCol="false" tIns="0" lIns="0" bIns="0" rIns="0">
            <a:spAutoFit/>
          </a:bodyPr>
          <a:lstStyle/>
          <a:p>
            <a:pPr algn="l">
              <a:lnSpc>
                <a:spcPts val="3374"/>
              </a:lnSpc>
            </a:pPr>
            <a:r>
              <a:rPr lang="en-US" sz="2125">
                <a:solidFill>
                  <a:srgbClr val="504C49"/>
                </a:solidFill>
                <a:latin typeface="Source Serif Pro"/>
                <a:ea typeface="Source Serif Pro"/>
                <a:cs typeface="Source Serif Pro"/>
                <a:sym typeface="Source Serif Pro"/>
              </a:rPr>
              <a:t>A robust, XML-based messaging protocol. It offers extensive features for security, transactions, and error handling, often used in enterprise environments.</a:t>
            </a:r>
          </a:p>
        </p:txBody>
      </p:sp>
      <p:sp>
        <p:nvSpPr>
          <p:cNvPr name="TextBox 16" id="16"/>
          <p:cNvSpPr txBox="true"/>
          <p:nvPr/>
        </p:nvSpPr>
        <p:spPr>
          <a:xfrm rot="0">
            <a:off x="9486156" y="4801492"/>
            <a:ext cx="7857084" cy="512415"/>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Protocol:</a:t>
            </a:r>
            <a:r>
              <a:rPr lang="en-US" sz="2125">
                <a:solidFill>
                  <a:srgbClr val="504C49"/>
                </a:solidFill>
                <a:latin typeface="Source Serif Pro"/>
                <a:ea typeface="Source Serif Pro"/>
                <a:cs typeface="Source Serif Pro"/>
                <a:sym typeface="Source Serif Pro"/>
              </a:rPr>
              <a:t> A strict, XML-based messaging protocol.</a:t>
            </a:r>
          </a:p>
        </p:txBody>
      </p:sp>
      <p:sp>
        <p:nvSpPr>
          <p:cNvPr name="TextBox 17" id="17"/>
          <p:cNvSpPr txBox="true"/>
          <p:nvPr/>
        </p:nvSpPr>
        <p:spPr>
          <a:xfrm rot="0">
            <a:off x="9486156" y="5333108"/>
            <a:ext cx="7857084" cy="948630"/>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Communication:</a:t>
            </a:r>
            <a:r>
              <a:rPr lang="en-US" sz="2125">
                <a:solidFill>
                  <a:srgbClr val="504C49"/>
                </a:solidFill>
                <a:latin typeface="Source Serif Pro"/>
                <a:ea typeface="Source Serif Pro"/>
                <a:cs typeface="Source Serif Pro"/>
                <a:sym typeface="Source Serif Pro"/>
              </a:rPr>
              <a:t> Can use various transport protocols (HTTP, SMTP, TCP, JMS).</a:t>
            </a:r>
          </a:p>
        </p:txBody>
      </p:sp>
      <p:sp>
        <p:nvSpPr>
          <p:cNvPr name="TextBox 18" id="18"/>
          <p:cNvSpPr txBox="true"/>
          <p:nvPr/>
        </p:nvSpPr>
        <p:spPr>
          <a:xfrm rot="0">
            <a:off x="9486156" y="6300936"/>
            <a:ext cx="7857084" cy="512415"/>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Data Format:</a:t>
            </a:r>
            <a:r>
              <a:rPr lang="en-US" sz="2125">
                <a:solidFill>
                  <a:srgbClr val="504C49"/>
                </a:solidFill>
                <a:latin typeface="Source Serif Pro"/>
                <a:ea typeface="Source Serif Pro"/>
                <a:cs typeface="Source Serif Pro"/>
                <a:sym typeface="Source Serif Pro"/>
              </a:rPr>
              <a:t> Primarily uses XML for all messaging.</a:t>
            </a:r>
          </a:p>
        </p:txBody>
      </p:sp>
      <p:sp>
        <p:nvSpPr>
          <p:cNvPr name="TextBox 19" id="19"/>
          <p:cNvSpPr txBox="true"/>
          <p:nvPr/>
        </p:nvSpPr>
        <p:spPr>
          <a:xfrm rot="0">
            <a:off x="9486156" y="6832550"/>
            <a:ext cx="7857084" cy="512415"/>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Statefulness:</a:t>
            </a:r>
            <a:r>
              <a:rPr lang="en-US" sz="2125">
                <a:solidFill>
                  <a:srgbClr val="504C49"/>
                </a:solidFill>
                <a:latin typeface="Source Serif Pro"/>
                <a:ea typeface="Source Serif Pro"/>
                <a:cs typeface="Source Serif Pro"/>
                <a:sym typeface="Source Serif Pro"/>
              </a:rPr>
              <a:t> Can be stateful or stateless.</a:t>
            </a:r>
          </a:p>
        </p:txBody>
      </p:sp>
      <p:sp>
        <p:nvSpPr>
          <p:cNvPr name="TextBox 20" id="20"/>
          <p:cNvSpPr txBox="true"/>
          <p:nvPr/>
        </p:nvSpPr>
        <p:spPr>
          <a:xfrm rot="0">
            <a:off x="9486156" y="7364165"/>
            <a:ext cx="7857084" cy="948630"/>
          </a:xfrm>
          <a:prstGeom prst="rect">
            <a:avLst/>
          </a:prstGeom>
        </p:spPr>
        <p:txBody>
          <a:bodyPr anchor="t" rtlCol="false" tIns="0" lIns="0" bIns="0" rIns="0">
            <a:spAutoFit/>
          </a:bodyPr>
          <a:lstStyle/>
          <a:p>
            <a:pPr algn="l" marL="320477" indent="-160238" lvl="1">
              <a:lnSpc>
                <a:spcPts val="3374"/>
              </a:lnSpc>
              <a:buFont typeface="Arial"/>
              <a:buChar char="•"/>
            </a:pPr>
            <a:r>
              <a:rPr lang="en-US" b="true" sz="2125">
                <a:solidFill>
                  <a:srgbClr val="504C49"/>
                </a:solidFill>
                <a:latin typeface="Source Serif Pro Bold"/>
                <a:ea typeface="Source Serif Pro Bold"/>
                <a:cs typeface="Source Serif Pro Bold"/>
                <a:sym typeface="Source Serif Pro Bold"/>
              </a:rPr>
              <a:t>Complexity:</a:t>
            </a:r>
            <a:r>
              <a:rPr lang="en-US" sz="2125">
                <a:solidFill>
                  <a:srgbClr val="504C49"/>
                </a:solidFill>
                <a:latin typeface="Source Serif Pro"/>
                <a:ea typeface="Source Serif Pro"/>
                <a:cs typeface="Source Serif Pro"/>
                <a:sym typeface="Source Serif Pro"/>
              </a:rPr>
              <a:t> More complex due to its rigid structure and WSDL.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DAG4Nl7_j4Q</dc:identifier>
  <dcterms:modified xsi:type="dcterms:W3CDTF">2011-08-01T06:04:30Z</dcterms:modified>
  <cp:revision>1</cp:revision>
  <dc:title>API-Application-Programming.pptx</dc:title>
</cp:coreProperties>
</file>