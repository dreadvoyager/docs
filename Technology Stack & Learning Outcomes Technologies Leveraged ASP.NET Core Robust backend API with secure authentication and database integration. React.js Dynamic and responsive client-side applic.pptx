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ans Bold" charset="1" panose="00000000000000000000"/>
      <p:regular r:id="rId19"/>
    </p:embeddedFont>
    <p:embeddedFont>
      <p:font typeface="Inter Medium" charset="1" panose="02000503000000020004"/>
      <p:regular r:id="rId20"/>
    </p:embeddedFont>
    <p:embeddedFont>
      <p:font typeface="Inter Bold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312270" y="2034424"/>
            <a:ext cx="7354804" cy="6218153"/>
          </a:xfrm>
          <a:custGeom>
            <a:avLst/>
            <a:gdLst/>
            <a:ahLst/>
            <a:cxnLst/>
            <a:rect r="r" b="b" t="t" l="l"/>
            <a:pathLst>
              <a:path h="6218153" w="7354804">
                <a:moveTo>
                  <a:pt x="0" y="0"/>
                </a:moveTo>
                <a:lnTo>
                  <a:pt x="7354804" y="0"/>
                </a:lnTo>
                <a:lnTo>
                  <a:pt x="7354804" y="6218152"/>
                </a:lnTo>
                <a:lnTo>
                  <a:pt x="0" y="6218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798986"/>
            <a:ext cx="9445526" cy="17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Insurance Premium Payment &amp; Claims Portal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929461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Full-Stack Capstone Project Using React &amp; ASP.NET Core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48841"/>
            <a:ext cx="10091440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Team &amp; Contributions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2916139"/>
            <a:ext cx="16313051" cy="5907584"/>
            <a:chOff x="0" y="0"/>
            <a:chExt cx="21750735" cy="78767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781" cy="7876668"/>
            </a:xfrm>
            <a:custGeom>
              <a:avLst/>
              <a:gdLst/>
              <a:ahLst/>
              <a:cxnLst/>
              <a:rect r="r" b="b" t="t" l="l"/>
              <a:pathLst>
                <a:path h="7876668" w="21750781">
                  <a:moveTo>
                    <a:pt x="0" y="62992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2992"/>
                  </a:cubicBezTo>
                  <a:lnTo>
                    <a:pt x="21744431" y="62992"/>
                  </a:lnTo>
                  <a:lnTo>
                    <a:pt x="21750781" y="62992"/>
                  </a:lnTo>
                  <a:lnTo>
                    <a:pt x="21750781" y="7813675"/>
                  </a:lnTo>
                  <a:lnTo>
                    <a:pt x="21744431" y="7813675"/>
                  </a:lnTo>
                  <a:lnTo>
                    <a:pt x="21750781" y="7813675"/>
                  </a:lnTo>
                  <a:cubicBezTo>
                    <a:pt x="21750781" y="7848473"/>
                    <a:pt x="21722460" y="7876667"/>
                    <a:pt x="21687662" y="7876667"/>
                  </a:cubicBezTo>
                  <a:lnTo>
                    <a:pt x="21687662" y="7870317"/>
                  </a:lnTo>
                  <a:lnTo>
                    <a:pt x="21687662" y="7876667"/>
                  </a:lnTo>
                  <a:lnTo>
                    <a:pt x="63119" y="7876667"/>
                  </a:lnTo>
                  <a:lnTo>
                    <a:pt x="63119" y="7870317"/>
                  </a:lnTo>
                  <a:lnTo>
                    <a:pt x="63119" y="7876667"/>
                  </a:lnTo>
                  <a:cubicBezTo>
                    <a:pt x="28321" y="7876794"/>
                    <a:pt x="0" y="7848600"/>
                    <a:pt x="0" y="7813675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7813675"/>
                  </a:lnTo>
                  <a:lnTo>
                    <a:pt x="6350" y="7813675"/>
                  </a:lnTo>
                  <a:lnTo>
                    <a:pt x="12700" y="7813675"/>
                  </a:lnTo>
                  <a:cubicBezTo>
                    <a:pt x="12700" y="7841488"/>
                    <a:pt x="35306" y="7863967"/>
                    <a:pt x="63119" y="7863967"/>
                  </a:cubicBezTo>
                  <a:lnTo>
                    <a:pt x="21687662" y="7863967"/>
                  </a:lnTo>
                  <a:cubicBezTo>
                    <a:pt x="21715476" y="7863967"/>
                    <a:pt x="21738081" y="7841361"/>
                    <a:pt x="21738081" y="7813675"/>
                  </a:cubicBezTo>
                  <a:lnTo>
                    <a:pt x="21738081" y="62992"/>
                  </a:lnTo>
                  <a:cubicBezTo>
                    <a:pt x="21738081" y="35179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1762" y="2930426"/>
            <a:ext cx="16284476" cy="812899"/>
            <a:chOff x="0" y="0"/>
            <a:chExt cx="21712635" cy="1083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429" y="3024336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Team Member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61235" y="3024336"/>
            <a:ext cx="11641485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Responsibilities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1762" y="3743325"/>
            <a:ext cx="16284476" cy="1266527"/>
            <a:chOff x="0" y="0"/>
            <a:chExt cx="21712635" cy="16887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429" y="3837235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Krishi Y Antad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61235" y="3837235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Designed and implemented ASP.NET Core Web API with Repository-Service-Controller pattern, JWT authentication, and Entity Framework Core integration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2" y="5009852"/>
            <a:ext cx="16284476" cy="1266527"/>
            <a:chOff x="0" y="0"/>
            <a:chExt cx="21712635" cy="1688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429" y="5103762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Adeeb Ahmed Khan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1235" y="5103762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Built React components with React Router, implemented state management, created responsive UI with form validation and API integration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2" y="6276380"/>
            <a:ext cx="16284476" cy="1266528"/>
            <a:chOff x="0" y="0"/>
            <a:chExt cx="21712635" cy="16887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429" y="6370290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 Ranjitha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1235" y="6370290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Designed relational database schema, wrote xUnit tests with Moq for service layer, implemented data validation and error handling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1762" y="7542908"/>
            <a:ext cx="16284476" cy="1266528"/>
            <a:chOff x="0" y="0"/>
            <a:chExt cx="21712635" cy="16887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85429" y="7636817"/>
            <a:ext cx="349924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Lekhana 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61235" y="7636817"/>
            <a:ext cx="1164148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Containerized application with Docker, configured Docker Compose for multi-container orchestration, managed deployment pipeline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10207" y="557956"/>
            <a:ext cx="11284892" cy="8234809"/>
            <a:chOff x="0" y="0"/>
            <a:chExt cx="15046523" cy="1097974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5046579" cy="10979785"/>
            </a:xfrm>
            <a:custGeom>
              <a:avLst/>
              <a:gdLst/>
              <a:ahLst/>
              <a:cxnLst/>
              <a:rect r="r" b="b" t="t" l="l"/>
              <a:pathLst>
                <a:path h="10979785" w="15046579">
                  <a:moveTo>
                    <a:pt x="0" y="0"/>
                  </a:moveTo>
                  <a:lnTo>
                    <a:pt x="15046579" y="0"/>
                  </a:lnTo>
                  <a:lnTo>
                    <a:pt x="15046579" y="10979785"/>
                  </a:lnTo>
                  <a:lnTo>
                    <a:pt x="0" y="109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5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357833" y="2255607"/>
            <a:ext cx="7553653" cy="7829446"/>
          </a:xfrm>
          <a:custGeom>
            <a:avLst/>
            <a:gdLst/>
            <a:ahLst/>
            <a:cxnLst/>
            <a:rect r="r" b="b" t="t" l="l"/>
            <a:pathLst>
              <a:path h="7829446" w="7553653">
                <a:moveTo>
                  <a:pt x="0" y="0"/>
                </a:moveTo>
                <a:lnTo>
                  <a:pt x="7553653" y="0"/>
                </a:lnTo>
                <a:lnTo>
                  <a:pt x="7553653" y="7829446"/>
                </a:lnTo>
                <a:lnTo>
                  <a:pt x="0" y="7829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5990" y="0"/>
            <a:ext cx="6892131" cy="10411550"/>
          </a:xfrm>
          <a:custGeom>
            <a:avLst/>
            <a:gdLst/>
            <a:ahLst/>
            <a:cxnLst/>
            <a:rect r="r" b="b" t="t" l="l"/>
            <a:pathLst>
              <a:path h="10411550" w="6892131">
                <a:moveTo>
                  <a:pt x="0" y="0"/>
                </a:moveTo>
                <a:lnTo>
                  <a:pt x="6892131" y="0"/>
                </a:lnTo>
                <a:lnTo>
                  <a:pt x="6892131" y="10411550"/>
                </a:lnTo>
                <a:lnTo>
                  <a:pt x="0" y="1041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66762" y="583406"/>
            <a:ext cx="5476875" cy="70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The Challenge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762" y="1825229"/>
            <a:ext cx="3286125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762" y="2397919"/>
            <a:ext cx="7245549" cy="111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Insurance brokers manage multiple clients across different insurance providers, but clients struggle to access their policy and claim information efficiently.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6762" y="3646437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Key Pain Points: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762" y="4193976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No centralized platform for policy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762" y="4621114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broker contact required for updates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762" y="5048250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Delayed claim processing and 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762" y="5475386"/>
            <a:ext cx="7245549" cy="4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Poor user experience and accessibility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56129" y="1862137"/>
            <a:ext cx="8974485" cy="8974485"/>
            <a:chOff x="0" y="0"/>
            <a:chExt cx="11965980" cy="119659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1965940" cy="11965940"/>
            </a:xfrm>
            <a:custGeom>
              <a:avLst/>
              <a:gdLst/>
              <a:ahLst/>
              <a:cxnLst/>
              <a:rect r="r" b="b" t="t" l="l"/>
              <a:pathLst>
                <a:path h="11965940" w="11965940">
                  <a:moveTo>
                    <a:pt x="0" y="0"/>
                  </a:moveTo>
                  <a:lnTo>
                    <a:pt x="11965940" y="0"/>
                  </a:lnTo>
                  <a:lnTo>
                    <a:pt x="11965940" y="11965940"/>
                  </a:lnTo>
                  <a:lnTo>
                    <a:pt x="0" y="11965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1961" y="1963639"/>
            <a:ext cx="4649837" cy="4302919"/>
            <a:chOff x="0" y="0"/>
            <a:chExt cx="6199783" cy="5737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99759" cy="5737225"/>
            </a:xfrm>
            <a:custGeom>
              <a:avLst/>
              <a:gdLst/>
              <a:ahLst/>
              <a:cxnLst/>
              <a:rect r="r" b="b" t="t" l="l"/>
              <a:pathLst>
                <a:path h="5737225" w="6199759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6146546" y="0"/>
                  </a:lnTo>
                  <a:cubicBezTo>
                    <a:pt x="6176010" y="0"/>
                    <a:pt x="6199759" y="23876"/>
                    <a:pt x="6199759" y="53213"/>
                  </a:cubicBezTo>
                  <a:lnTo>
                    <a:pt x="6199759" y="5684012"/>
                  </a:lnTo>
                  <a:cubicBezTo>
                    <a:pt x="6199759" y="5713476"/>
                    <a:pt x="6175883" y="5737225"/>
                    <a:pt x="6146546" y="5737225"/>
                  </a:cubicBezTo>
                  <a:lnTo>
                    <a:pt x="53213" y="5737225"/>
                  </a:lnTo>
                  <a:cubicBezTo>
                    <a:pt x="23749" y="5737225"/>
                    <a:pt x="0" y="5713349"/>
                    <a:pt x="0" y="5684012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8215" y="2229891"/>
            <a:ext cx="798760" cy="798760"/>
            <a:chOff x="0" y="0"/>
            <a:chExt cx="1065013" cy="10650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417885" y="2449562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26" r="0" b="-10526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848052" y="1963639"/>
            <a:ext cx="4649986" cy="4302919"/>
            <a:chOff x="0" y="0"/>
            <a:chExt cx="6199982" cy="57372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00013" cy="5737225"/>
            </a:xfrm>
            <a:custGeom>
              <a:avLst/>
              <a:gdLst/>
              <a:ahLst/>
              <a:cxnLst/>
              <a:rect r="r" b="b" t="t" l="l"/>
              <a:pathLst>
                <a:path h="5737225" w="6200013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6146800" y="0"/>
                  </a:lnTo>
                  <a:cubicBezTo>
                    <a:pt x="6176264" y="0"/>
                    <a:pt x="6200013" y="23876"/>
                    <a:pt x="6200013" y="53213"/>
                  </a:cubicBezTo>
                  <a:lnTo>
                    <a:pt x="6200013" y="5684012"/>
                  </a:lnTo>
                  <a:cubicBezTo>
                    <a:pt x="6200013" y="5713476"/>
                    <a:pt x="6176137" y="5737225"/>
                    <a:pt x="6146800" y="5737225"/>
                  </a:cubicBezTo>
                  <a:lnTo>
                    <a:pt x="53213" y="5737225"/>
                  </a:lnTo>
                  <a:cubicBezTo>
                    <a:pt x="23749" y="5737225"/>
                    <a:pt x="0" y="5713349"/>
                    <a:pt x="0" y="5684012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114306" y="2229891"/>
            <a:ext cx="798760" cy="798760"/>
            <a:chOff x="0" y="0"/>
            <a:chExt cx="1065013" cy="10650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6333976" y="2449562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31961" y="6532810"/>
            <a:ext cx="9566076" cy="3025080"/>
            <a:chOff x="0" y="0"/>
            <a:chExt cx="12754768" cy="403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54737" cy="4033393"/>
            </a:xfrm>
            <a:custGeom>
              <a:avLst/>
              <a:gdLst/>
              <a:ahLst/>
              <a:cxnLst/>
              <a:rect r="r" b="b" t="t" l="l"/>
              <a:pathLst>
                <a:path h="4033393" w="12754737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2701524" y="0"/>
                  </a:lnTo>
                  <a:cubicBezTo>
                    <a:pt x="12730988" y="0"/>
                    <a:pt x="12754737" y="23876"/>
                    <a:pt x="12754737" y="53213"/>
                  </a:cubicBezTo>
                  <a:lnTo>
                    <a:pt x="12754737" y="3980180"/>
                  </a:lnTo>
                  <a:cubicBezTo>
                    <a:pt x="12754737" y="4009644"/>
                    <a:pt x="12730861" y="4033393"/>
                    <a:pt x="12701524" y="4033393"/>
                  </a:cubicBezTo>
                  <a:lnTo>
                    <a:pt x="53213" y="4033393"/>
                  </a:lnTo>
                  <a:cubicBezTo>
                    <a:pt x="23749" y="4033393"/>
                    <a:pt x="0" y="4009517"/>
                    <a:pt x="0" y="3980180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98215" y="6799064"/>
            <a:ext cx="798760" cy="798760"/>
            <a:chOff x="0" y="0"/>
            <a:chExt cx="1065013" cy="10650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5022" cy="1065022"/>
            </a:xfrm>
            <a:custGeom>
              <a:avLst/>
              <a:gdLst/>
              <a:ahLst/>
              <a:cxnLst/>
              <a:rect r="r" b="b" t="t" l="l"/>
              <a:pathLst>
                <a:path h="1065022" w="1065022">
                  <a:moveTo>
                    <a:pt x="0" y="532511"/>
                  </a:moveTo>
                  <a:cubicBezTo>
                    <a:pt x="0" y="238379"/>
                    <a:pt x="238379" y="0"/>
                    <a:pt x="532511" y="0"/>
                  </a:cubicBezTo>
                  <a:cubicBezTo>
                    <a:pt x="826643" y="0"/>
                    <a:pt x="1065022" y="238379"/>
                    <a:pt x="1065022" y="532511"/>
                  </a:cubicBezTo>
                  <a:cubicBezTo>
                    <a:pt x="1065022" y="826643"/>
                    <a:pt x="826643" y="1065022"/>
                    <a:pt x="532511" y="1065022"/>
                  </a:cubicBezTo>
                  <a:cubicBezTo>
                    <a:pt x="238379" y="1065022"/>
                    <a:pt x="0" y="826643"/>
                    <a:pt x="0" y="532511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417885" y="7018735"/>
            <a:ext cx="359420" cy="359420"/>
          </a:xfrm>
          <a:custGeom>
            <a:avLst/>
            <a:gdLst/>
            <a:ahLst/>
            <a:cxnLst/>
            <a:rect r="r" b="b" t="t" l="l"/>
            <a:pathLst>
              <a:path h="359420" w="359420">
                <a:moveTo>
                  <a:pt x="0" y="0"/>
                </a:moveTo>
                <a:lnTo>
                  <a:pt x="359420" y="0"/>
                </a:lnTo>
                <a:lnTo>
                  <a:pt x="359420" y="359420"/>
                </a:lnTo>
                <a:lnTo>
                  <a:pt x="0" y="3594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31" r="0" b="-263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98239" y="2449562"/>
            <a:ext cx="5416079" cy="5416079"/>
          </a:xfrm>
          <a:custGeom>
            <a:avLst/>
            <a:gdLst/>
            <a:ahLst/>
            <a:cxnLst/>
            <a:rect r="r" b="b" t="t" l="l"/>
            <a:pathLst>
              <a:path h="5416079" w="5416079">
                <a:moveTo>
                  <a:pt x="0" y="0"/>
                </a:moveTo>
                <a:lnTo>
                  <a:pt x="5416078" y="0"/>
                </a:lnTo>
                <a:lnTo>
                  <a:pt x="5416078" y="5416079"/>
                </a:lnTo>
                <a:lnTo>
                  <a:pt x="0" y="5416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1961" y="703660"/>
            <a:ext cx="6656785" cy="86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Our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8215" y="3275856"/>
            <a:ext cx="3539877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Client Servicing Portal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8215" y="3775322"/>
            <a:ext cx="4117330" cy="222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modern, full-stack web application that provides clients with seamless self-service access to their insurance portfolio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306" y="3275856"/>
            <a:ext cx="3328393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Experience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306" y="3775322"/>
            <a:ext cx="4117479" cy="137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Secure login, real-time policy viewing, and claim submission - all in one intuitive interface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8215" y="7845029"/>
            <a:ext cx="3328393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Brokerage Efficiency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215" y="8344495"/>
            <a:ext cx="9033570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Reduces manual workload for brokers while empowering clients with instant access to critical information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15530"/>
            <a:ext cx="7088237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Core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561583"/>
            <a:ext cx="3810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Authentication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541317"/>
            <a:ext cx="381000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JWT-based user registration and login with role-based access control for protected endpoints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56598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Policy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56598" y="5098405"/>
            <a:ext cx="3810149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View, add, update, and renew insurance policies with complete details including insurer, premium, and expiry dates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21105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Claim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5" y="5098405"/>
            <a:ext cx="381014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Submit new claims, track status in real-time, and manage claim history with edit and delete capabilities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85614" y="4561583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Input 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5614" y="5098405"/>
            <a:ext cx="381014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client-side and server-side validation ensuring data integrity and proper error handling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39365" y="492770"/>
            <a:ext cx="4811762" cy="5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365" y="1520279"/>
            <a:ext cx="2941736" cy="35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ASP.NET Core Web API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9365" y="2077641"/>
            <a:ext cx="913359" cy="1125290"/>
            <a:chOff x="0" y="0"/>
            <a:chExt cx="1217812" cy="150038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6" t="0" r="-1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35336" y="2260252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Repository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5336" y="2671019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Entity Framework Core with relational database schema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9365" y="3202930"/>
            <a:ext cx="913359" cy="1125290"/>
            <a:chOff x="0" y="0"/>
            <a:chExt cx="1217812" cy="150038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6" t="0" r="-11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35336" y="3385542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5336" y="3796307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logic for policies and claims with validation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9365" y="4328220"/>
            <a:ext cx="913359" cy="1125290"/>
            <a:chOff x="0" y="0"/>
            <a:chExt cx="1217812" cy="150038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217803" cy="1500378"/>
            </a:xfrm>
            <a:custGeom>
              <a:avLst/>
              <a:gdLst/>
              <a:ahLst/>
              <a:cxnLst/>
              <a:rect r="r" b="b" t="t" l="l"/>
              <a:pathLst>
                <a:path h="1500378" w="1217803">
                  <a:moveTo>
                    <a:pt x="0" y="0"/>
                  </a:moveTo>
                  <a:lnTo>
                    <a:pt x="1217803" y="0"/>
                  </a:lnTo>
                  <a:lnTo>
                    <a:pt x="1217803" y="1500378"/>
                  </a:lnTo>
                  <a:lnTo>
                    <a:pt x="0" y="1500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" t="0" r="-11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35336" y="4510831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Controller Layer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5336" y="4921597"/>
            <a:ext cx="80585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RESTful endpoints with JWT authorization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49049" y="1529804"/>
            <a:ext cx="2283470" cy="28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Technologies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9049" y="1940570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Authentication: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JWT token-based security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9049" y="2296566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ORM: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Entity Framework 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49049" y="2652564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Validation: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Data annotations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9049" y="3008560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Error Handling: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Centralized middleware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9049" y="3364557"/>
            <a:ext cx="7408961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249"/>
              </a:lnSpc>
              <a:buFont typeface="Arial"/>
              <a:buChar char="•"/>
            </a:pPr>
            <a:r>
              <a:rPr lang="en-US" b="true" sz="1437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Testing:</a:t>
            </a:r>
            <a:r>
              <a:rPr lang="en-US" b="true" sz="143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xUnit with Moq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511802" y="1100881"/>
            <a:ext cx="5174010" cy="60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Development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11802" y="2263825"/>
            <a:ext cx="10122396" cy="1375619"/>
            <a:chOff x="0" y="0"/>
            <a:chExt cx="13496528" cy="1834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511802" y="2244775"/>
            <a:ext cx="10122396" cy="76200"/>
            <a:chOff x="0" y="0"/>
            <a:chExt cx="13496528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292831" y="1983730"/>
            <a:ext cx="560337" cy="560338"/>
            <a:chOff x="0" y="0"/>
            <a:chExt cx="747117" cy="747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460857" y="2057103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7631" y="2721323"/>
            <a:ext cx="2704207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React Router Navigation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7631" y="3068091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Implemented seamless routing for Login, Dashboard, Policies, and Claims pages with protected routes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11802" y="4106316"/>
            <a:ext cx="10122396" cy="1375619"/>
            <a:chOff x="0" y="0"/>
            <a:chExt cx="13496528" cy="1834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11802" y="4087266"/>
            <a:ext cx="10122396" cy="76200"/>
            <a:chOff x="0" y="0"/>
            <a:chExt cx="13496528" cy="10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292831" y="3826222"/>
            <a:ext cx="560337" cy="560337"/>
            <a:chOff x="0" y="0"/>
            <a:chExt cx="747117" cy="7471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460857" y="3899595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17631" y="4563815"/>
            <a:ext cx="2335114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State Management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7631" y="4910584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Utilized React hooks (useState, useEffect) for efficient component state and lifecycle management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11802" y="5948809"/>
            <a:ext cx="10122396" cy="1375619"/>
            <a:chOff x="0" y="0"/>
            <a:chExt cx="13496528" cy="18341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511802" y="5929759"/>
            <a:ext cx="10122396" cy="76200"/>
            <a:chOff x="0" y="0"/>
            <a:chExt cx="13496528" cy="10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292831" y="5668715"/>
            <a:ext cx="560337" cy="560338"/>
            <a:chOff x="0" y="0"/>
            <a:chExt cx="747117" cy="7471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460857" y="5742086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17631" y="6406306"/>
            <a:ext cx="2335114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API Integration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17631" y="6753076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Axios for all CRUD operations with JWT tokens in headers, handling authentication and authorization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511802" y="7791301"/>
            <a:ext cx="10122396" cy="1375619"/>
            <a:chOff x="0" y="0"/>
            <a:chExt cx="13496528" cy="183415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96544" cy="1834134"/>
            </a:xfrm>
            <a:custGeom>
              <a:avLst/>
              <a:gdLst/>
              <a:ahLst/>
              <a:cxnLst/>
              <a:rect r="r" b="b" t="t" l="l"/>
              <a:pathLst>
                <a:path h="1834134" w="13496544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624" y="0"/>
                  </a:lnTo>
                  <a:cubicBezTo>
                    <a:pt x="13441935" y="0"/>
                    <a:pt x="13496544" y="54610"/>
                    <a:pt x="13496544" y="121920"/>
                  </a:cubicBezTo>
                  <a:lnTo>
                    <a:pt x="13496544" y="1712214"/>
                  </a:lnTo>
                  <a:cubicBezTo>
                    <a:pt x="13496544" y="1779524"/>
                    <a:pt x="13441935" y="1834134"/>
                    <a:pt x="13374624" y="1834134"/>
                  </a:cubicBezTo>
                  <a:lnTo>
                    <a:pt x="121920" y="1834134"/>
                  </a:lnTo>
                  <a:cubicBezTo>
                    <a:pt x="54610" y="1834134"/>
                    <a:pt x="0" y="1779524"/>
                    <a:pt x="0" y="171221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511802" y="7772251"/>
            <a:ext cx="10122396" cy="76200"/>
            <a:chOff x="0" y="0"/>
            <a:chExt cx="13496528" cy="10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96544" cy="101600"/>
            </a:xfrm>
            <a:custGeom>
              <a:avLst/>
              <a:gdLst/>
              <a:ahLst/>
              <a:cxnLst/>
              <a:rect r="r" b="b" t="t" l="l"/>
              <a:pathLst>
                <a:path h="101600" w="13496544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9206" y="0"/>
                  </a:lnTo>
                  <a:cubicBezTo>
                    <a:pt x="13479780" y="0"/>
                    <a:pt x="13496544" y="16764"/>
                    <a:pt x="13496544" y="37338"/>
                  </a:cubicBezTo>
                  <a:lnTo>
                    <a:pt x="13496544" y="64262"/>
                  </a:lnTo>
                  <a:cubicBezTo>
                    <a:pt x="13496544" y="84836"/>
                    <a:pt x="13479780" y="101600"/>
                    <a:pt x="13459206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292831" y="7511206"/>
            <a:ext cx="560337" cy="560338"/>
            <a:chOff x="0" y="0"/>
            <a:chExt cx="747117" cy="74711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7141" cy="747141"/>
            </a:xfrm>
            <a:custGeom>
              <a:avLst/>
              <a:gdLst/>
              <a:ahLst/>
              <a:cxnLst/>
              <a:rect r="r" b="b" t="t" l="l"/>
              <a:pathLst>
                <a:path h="747141" w="747141">
                  <a:moveTo>
                    <a:pt x="0" y="373507"/>
                  </a:moveTo>
                  <a:cubicBezTo>
                    <a:pt x="0" y="167259"/>
                    <a:pt x="167259" y="0"/>
                    <a:pt x="373507" y="0"/>
                  </a:cubicBezTo>
                  <a:cubicBezTo>
                    <a:pt x="579755" y="0"/>
                    <a:pt x="747141" y="167259"/>
                    <a:pt x="747141" y="373507"/>
                  </a:cubicBezTo>
                  <a:cubicBezTo>
                    <a:pt x="747141" y="579755"/>
                    <a:pt x="579882" y="747141"/>
                    <a:pt x="373507" y="747141"/>
                  </a:cubicBezTo>
                  <a:cubicBezTo>
                    <a:pt x="167132" y="747141"/>
                    <a:pt x="0" y="579882"/>
                    <a:pt x="0" y="3735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2460857" y="7584579"/>
            <a:ext cx="224135" cy="34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17631" y="8248799"/>
            <a:ext cx="3013472" cy="3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Form Controls &amp; Validation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17631" y="8595569"/>
            <a:ext cx="9710738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Controlled components with client-side validation for policy creation and claim submission forms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92051" y="534292"/>
            <a:ext cx="4943772" cy="6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359200" y="1557189"/>
            <a:ext cx="11569601" cy="9184184"/>
            <a:chOff x="0" y="0"/>
            <a:chExt cx="15426135" cy="122455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426182" cy="12245594"/>
            </a:xfrm>
            <a:custGeom>
              <a:avLst/>
              <a:gdLst/>
              <a:ahLst/>
              <a:cxnLst/>
              <a:rect r="r" b="b" t="t" l="l"/>
              <a:pathLst>
                <a:path h="12245594" w="15426182">
                  <a:moveTo>
                    <a:pt x="0" y="0"/>
                  </a:moveTo>
                  <a:lnTo>
                    <a:pt x="15426182" y="0"/>
                  </a:lnTo>
                  <a:lnTo>
                    <a:pt x="15426182" y="12245594"/>
                  </a:lnTo>
                  <a:lnTo>
                    <a:pt x="0" y="12245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0" r="-2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089190" y="5632662"/>
            <a:ext cx="2079152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4535" y="2200951"/>
            <a:ext cx="3093109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Registration / Login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4535" y="3277487"/>
            <a:ext cx="3093109" cy="7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Secure user authentication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78912" y="2391117"/>
            <a:ext cx="3093109" cy="95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Track Claim Status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8912" y="3467654"/>
            <a:ext cx="3093109" cy="38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Monitor progress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8912" y="8425730"/>
            <a:ext cx="3093109" cy="9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Update / Renew Policy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78912" y="9502267"/>
            <a:ext cx="3093109" cy="38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Edit details or renew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4535" y="8663439"/>
            <a:ext cx="3093109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Add New Policy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34535" y="9264559"/>
            <a:ext cx="3093109" cy="38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Enroll in a plan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50178" y="5413706"/>
            <a:ext cx="3160724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View All Policies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50178" y="6014827"/>
            <a:ext cx="3160724" cy="77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Browse existing coverage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46366" y="5620776"/>
            <a:ext cx="3160724" cy="4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Submit Claim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46366" y="6221897"/>
            <a:ext cx="3160724" cy="38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Report an incident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2051" y="10897046"/>
            <a:ext cx="1690389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Users authenticate securely, access their personalized dashboard, and seamlessly navigate between policy management and claim tracking features.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67929" y="427136"/>
            <a:ext cx="8199239" cy="5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Architecture &amp; Containerization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7929" y="1349276"/>
            <a:ext cx="2798117" cy="31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Three-Tier Architecture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0151" y="2088951"/>
            <a:ext cx="162223" cy="756345"/>
            <a:chOff x="0" y="0"/>
            <a:chExt cx="216297" cy="1008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67929" y="1982540"/>
            <a:ext cx="486816" cy="486816"/>
            <a:chOff x="0" y="0"/>
            <a:chExt cx="649088" cy="649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689670" y="210428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23" t="0" r="-192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6968" y="199831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968" y="2375893"/>
            <a:ext cx="7729091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React frontend with Nginx in Docker container (port 3000)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3485" y="3251001"/>
            <a:ext cx="162223" cy="756345"/>
            <a:chOff x="0" y="0"/>
            <a:chExt cx="216297" cy="1008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11262" y="3144590"/>
            <a:ext cx="486816" cy="486816"/>
            <a:chOff x="0" y="0"/>
            <a:chExt cx="649088" cy="6490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33004" y="326633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615" r="0" b="-961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60301" y="316036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0301" y="3537942"/>
            <a:ext cx="7485758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ASP.NET Core Web API in Docker container (port 5000)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6968" y="4413051"/>
            <a:ext cx="162222" cy="756345"/>
            <a:chOff x="0" y="0"/>
            <a:chExt cx="216297" cy="10084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408" cy="1008507"/>
            </a:xfrm>
            <a:custGeom>
              <a:avLst/>
              <a:gdLst/>
              <a:ahLst/>
              <a:cxnLst/>
              <a:rect r="r" b="b" t="t" l="l"/>
              <a:pathLst>
                <a:path h="1008507" w="216408">
                  <a:moveTo>
                    <a:pt x="0" y="32512"/>
                  </a:moveTo>
                  <a:cubicBezTo>
                    <a:pt x="0" y="14478"/>
                    <a:pt x="14478" y="0"/>
                    <a:pt x="32512" y="0"/>
                  </a:cubicBezTo>
                  <a:lnTo>
                    <a:pt x="183896" y="0"/>
                  </a:lnTo>
                  <a:cubicBezTo>
                    <a:pt x="201803" y="0"/>
                    <a:pt x="216408" y="14478"/>
                    <a:pt x="216408" y="32512"/>
                  </a:cubicBezTo>
                  <a:lnTo>
                    <a:pt x="216408" y="975995"/>
                  </a:lnTo>
                  <a:cubicBezTo>
                    <a:pt x="216408" y="993902"/>
                    <a:pt x="201930" y="1008507"/>
                    <a:pt x="183896" y="1008507"/>
                  </a:cubicBezTo>
                  <a:lnTo>
                    <a:pt x="32512" y="1008507"/>
                  </a:lnTo>
                  <a:cubicBezTo>
                    <a:pt x="14478" y="1008507"/>
                    <a:pt x="0" y="993902"/>
                    <a:pt x="0" y="97599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4745" y="4306640"/>
            <a:ext cx="486816" cy="486816"/>
            <a:chOff x="0" y="0"/>
            <a:chExt cx="649088" cy="6490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097" cy="649097"/>
            </a:xfrm>
            <a:custGeom>
              <a:avLst/>
              <a:gdLst/>
              <a:ahLst/>
              <a:cxnLst/>
              <a:rect r="r" b="b" t="t" l="l"/>
              <a:pathLst>
                <a:path h="649097" w="649097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cubicBezTo>
                    <a:pt x="503682" y="0"/>
                    <a:pt x="649097" y="145288"/>
                    <a:pt x="649097" y="324485"/>
                  </a:cubicBezTo>
                  <a:cubicBezTo>
                    <a:pt x="649097" y="503682"/>
                    <a:pt x="503809" y="649097"/>
                    <a:pt x="324485" y="649097"/>
                  </a:cubicBezTo>
                  <a:cubicBezTo>
                    <a:pt x="145161" y="649097"/>
                    <a:pt x="0" y="503809"/>
                    <a:pt x="0" y="32448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176486" y="4428381"/>
            <a:ext cx="243334" cy="243334"/>
          </a:xfrm>
          <a:custGeom>
            <a:avLst/>
            <a:gdLst/>
            <a:ahLst/>
            <a:cxnLst/>
            <a:rect r="r" b="b" t="t" l="l"/>
            <a:pathLst>
              <a:path h="243334" w="243334">
                <a:moveTo>
                  <a:pt x="0" y="0"/>
                </a:moveTo>
                <a:lnTo>
                  <a:pt x="243334" y="0"/>
                </a:lnTo>
                <a:lnTo>
                  <a:pt x="243334" y="243334"/>
                </a:lnTo>
                <a:lnTo>
                  <a:pt x="0" y="2433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769" t="0" r="-5769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03785" y="4322415"/>
            <a:ext cx="2028676" cy="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3785" y="4699993"/>
            <a:ext cx="7242274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Entity Framework Core with Oracle database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51466" y="1349276"/>
            <a:ext cx="2434381" cy="31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Docker Deployment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51466" y="1777752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Backend Container: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insurance-api with environment variables for database connection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51466" y="2094160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Frontend Container: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insurance-frontend serving built React app via Nginx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51466" y="2410569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Docker Compose: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Orchestrates multi-container setup for local testing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51466" y="2726977"/>
            <a:ext cx="8378130" cy="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516" indent="-94258" lvl="1">
              <a:lnSpc>
                <a:spcPts val="2000"/>
              </a:lnSpc>
              <a:buFont typeface="Arial"/>
              <a:buChar char="•"/>
            </a:pPr>
            <a:r>
              <a:rPr lang="en-US" b="true" sz="124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Networking:</a:t>
            </a:r>
            <a:r>
              <a:rPr lang="en-US" b="true" sz="1249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Containers communicate through Docker bridge network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13047" y="630734"/>
            <a:ext cx="8690670" cy="73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Summary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047" y="2051447"/>
            <a:ext cx="5360342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1178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REST API Endpoints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3047" y="3438971"/>
            <a:ext cx="5360342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CRUD operations for authentication, policies, and claims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63754" y="2051447"/>
            <a:ext cx="5360342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91884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Tables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3754" y="3438971"/>
            <a:ext cx="5360342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Users, Policies, and Claims with proper relational mapping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14460" y="2051447"/>
            <a:ext cx="5360491" cy="661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15+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2739" y="2984450"/>
            <a:ext cx="2903935" cy="38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Unit Tests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14460" y="3438971"/>
            <a:ext cx="5360491" cy="80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xUnit tests covering service layer operations with Moq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3047" y="4626359"/>
            <a:ext cx="16661904" cy="38546"/>
            <a:chOff x="0" y="0"/>
            <a:chExt cx="22215872" cy="513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15856" cy="51435"/>
            </a:xfrm>
            <a:custGeom>
              <a:avLst/>
              <a:gdLst/>
              <a:ahLst/>
              <a:cxnLst/>
              <a:rect r="r" b="b" t="t" l="l"/>
              <a:pathLst>
                <a:path h="51435" w="22215856">
                  <a:moveTo>
                    <a:pt x="0" y="0"/>
                  </a:moveTo>
                  <a:lnTo>
                    <a:pt x="22215856" y="0"/>
                  </a:lnTo>
                  <a:lnTo>
                    <a:pt x="22215856" y="51435"/>
                  </a:lnTo>
                  <a:lnTo>
                    <a:pt x="0" y="51435"/>
                  </a:lnTo>
                  <a:close/>
                </a:path>
              </a:pathLst>
            </a:custGeom>
            <a:solidFill>
              <a:srgbClr val="464646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13047" y="5003750"/>
            <a:ext cx="3484661" cy="44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3047" y="5939433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Built a production-ready full-stack application with modern tech stack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047" y="6520011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Implemented secure JWT authentication and authorization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3047" y="7100590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Created intuitive UI with comprehensive form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36894" y="5939433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Containerized application using Docker for seamless 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6894" y="6520011"/>
            <a:ext cx="8047584" cy="4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Followed industry best practices with testing and error handling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6894" y="7100590"/>
            <a:ext cx="8047584" cy="8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1C9770"/>
                </a:solidFill>
                <a:latin typeface="Inter Bold"/>
                <a:ea typeface="Inter Bold"/>
                <a:cs typeface="Inter Bold"/>
                <a:sym typeface="Inter Bold"/>
              </a:rPr>
              <a:t>✓</a:t>
            </a: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Delivered a solution that empowers clients and reduces broker workload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1455" y="8575476"/>
            <a:ext cx="16313498" cy="8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This capstone project successfully demonstrates our ability to design, develop, test, and deploy enterprise-grade web applications that solve real-world business problems.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047" y="8380810"/>
            <a:ext cx="28575" cy="1265932"/>
            <a:chOff x="0" y="0"/>
            <a:chExt cx="38100" cy="16879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1687957"/>
            </a:xfrm>
            <a:custGeom>
              <a:avLst/>
              <a:gdLst/>
              <a:ahLst/>
              <a:cxnLst/>
              <a:rect r="r" b="b" t="t" l="l"/>
              <a:pathLst>
                <a:path h="1687957" w="38100">
                  <a:moveTo>
                    <a:pt x="0" y="0"/>
                  </a:moveTo>
                  <a:lnTo>
                    <a:pt x="38100" y="0"/>
                  </a:lnTo>
                  <a:lnTo>
                    <a:pt x="38100" y="1687957"/>
                  </a:lnTo>
                  <a:lnTo>
                    <a:pt x="0" y="1687957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DAG6TGAwV1Y</dc:identifier>
  <dcterms:modified xsi:type="dcterms:W3CDTF">2011-08-01T06:04:30Z</dcterms:modified>
  <cp:revision>1</cp:revision>
  <dc:title>Technology Stack &amp; Learning Outcomes Technologies Leveraged ASP.NET Core Robust backend API with secure authentication and database integration. React.js Dynamic and responsive client-side application for intuitive user experience. Docker Containerization</dc:title>
</cp:coreProperties>
</file>